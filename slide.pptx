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f2bc96c0-a3b4-2765-a1b8-03cd8724f12b}">
          <p14:sldIdLst>
            <p14:sldId id="256"/>
            <p14:sldId id="257"/>
            <p14:sldId id="258"/>
            <p14:sldId id="259"/>
            <p14:sldId id="260"/>
          </p14:sldIdLst>
        </p14:section>
        <p14:section name="A. Trần Tuấn Thành" id="{4e32d062-6bea-c2a8-ad18-2eb046e01455}">
          <p14:sldIdLst>
            <p14:sldId id="261"/>
            <p14:sldId id="262"/>
            <p14:sldId id="263"/>
            <p14:sldId id="264"/>
          </p14:sldIdLst>
        </p14:section>
        <p14:section name="B. Vũ Tuyết Phương Vy" id="{90500ff0-b4e9-33d8-c32c-bbd9f5f78259}">
          <p14:sldIdLst>
            <p14:sldId id="265"/>
            <p14:sldId id="266"/>
            <p14:sldId id="267"/>
            <p14:sldId id="268"/>
          </p14:sldIdLst>
        </p14:section>
        <p14:section name="C. Trần Quốc Hồng Danh" id="{b6881b94-fada-49dc-cd67-4b593e25a44d}">
          <p14:sldIdLst>
            <p14:sldId id="269"/>
            <p14:sldId id="270"/>
            <p14:sldId id="271"/>
            <p14:sldId id="272"/>
          </p14:sldIdLst>
        </p14:section>
        <p14:section name="D. Lê Nguyễn Trung Kiên" id="{73181394-1fdb-3eb7-e73f-4b6afaaa13d7}">
          <p14:sldIdLst>
            <p14:sldId id="273"/>
            <p14:sldId id="274"/>
            <p14:sldId id="275"/>
            <p14:sldId id="276"/>
            <p14:sldId id="277"/>
          </p14:sldIdLst>
        </p14:section>
        <p14:section name="E. Hoàng Thái Phong (NT)" id="{c02e7e6c-b7a6-b3f3-713e-b4af3dd4aac8}">
          <p14:sldIdLst>
            <p14:sldId id="278"/>
            <p14:sldId id="279"/>
            <p14:sldId id="280"/>
            <p14:sldId id="281"/>
          </p14:sldIdLst>
        </p14:section>
        <p14:section name="F. Nguyễn Vũ Trọng Nhân" id="{8b377935-7aee-2ca0-7101-a42ae6f0fd70}">
          <p14:sldIdLst>
            <p14:sldId id="282"/>
            <p14:sldId id="283"/>
            <p14:sldId id="284"/>
            <p14:sldId id="285"/>
          </p14:sldIdLst>
        </p14:section>
        <p14:section name="Tổng hợp" id="{c67cefd0-c3f3-9adb-d29a-63f0e00a53b3}">
          <p14:sldIdLst>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Trần Tuấn Thành trình bày phân hệ A. Ý chính:
- Liên kết đệ quy DuongBay (LK01) là *:* có thuộc tính: một sân bay vừa là điểm đi vừa là điểm đến của nhiều đường bay.
- CHUYEN_BAY và SAN_BAY có hai liên kết khác nhau (LK03 cất cánh, LK04 hạ cánh), sinh hai khóa ngoại đặt tên theo vai trò.
- Khóa ứng viên (SoHieuCB, NgayBay) vì số hiệu lặp lại mỗi ngày.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Vũ Tuyết Phương Vy trình bày phân hệ B. Ý chính:
- GHE_NGOI là thực thể yếu của MAY_BAY: ghế 12A có ở mọi máy bay.
- Multiplicity 1..9 ở LK06 là giới hạn cụ thể, kiểm tra bằng trigger.
- LK09 tùy chọn ở đầu GHE_NGOI (0..1) nên khóa ngoại ghép được NULL.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Trần Quốc Hồng Danh trình bày phân hệ C. Ý chính:
- LK10 là liên kết 1:1 bắt buộc một đầu: khóa ngoại đặt ở THE_HOI_VIEN.
- LICH_SU_TICH_DIEM là thực thể yếu; LK12 là 1:1 tùy chọn cả hai đầu.
- SoDienThoai đa trị [1..3] tách thành quan hệ SDT_KHACH_HANG; HoTen phức hợp; /Tuoi suy dẫn.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Nguyễn Trung Kiên trình bày phân hệ D. Ý chính:
- Cấu trúc lớp cha/lớp con NHAN_VIEN {Optional, Or} và lý do chọn cách chuyển.
- Liên kết đệ quy NguoiQuanLy (LK15) và liên kết 1:1 Trưởng phòng (LK14).
- Hai liên kết *:* có thuộc tính LK17, LK18 nối từ lớp con sang CHUYEN_BAY (phân hệ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Hoàng Thái Phong (NT) trình bày phân hệ E. Ý chính:
- CHI_TIET_DICH_VU là thực thể có mã riêng (không phải lớp liên kết) vì một vé mua cùng dịch vụ nhiều lần, mỗi lần tính vào một hóa đơn.
- KichThuoc phức hợp tách thành Dai, Rong, Cao; /ThanhTien suy dẫn không lưu.
- Ba liên kết nối sang phân hệ khác: LK19, LK20 (B) và LK22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Nguyễn Vũ Trọng Nhân trình bày phân hệ F. Ý chính:
- Hóa đơn lập theo đặt chỗ (LK23); một đặt chỗ có nhiều hóa đơn.
- Ba liên kết tùy chọn ở đầu một (LK22, LK25, LK26) sinh khóa ngoại cho phép NULL.
- Thuộc tính suy dẫn /TienTruocThue, /TongThanhToan, /SoLuotDaDung không lưu, tính bằng truy vấn.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IA">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F5FAD"/>
          </a:solidFill>
          <a:ln/>
        </p:spPr>
      </p:sp>
      <p:sp>
        <p:nvSpPr>
          <p:cNvPr id="3" name="Text 1"/>
          <p:cNvSpPr/>
          <p:nvPr/>
        </p:nvSpPr>
        <p:spPr>
          <a:xfrm>
            <a:off x="457200" y="0"/>
            <a:ext cx="54864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Cơ sở dữ liệu [010151100201]</a:t>
            </a:r>
            <a:endParaRPr lang="en-US" sz="1300" dirty="0"/>
          </a:p>
        </p:txBody>
      </p:sp>
      <p:pic>
        <p:nvPicPr>
          <p:cNvPr id="4" name="Image 0" descr="/home/claude/vna/img/logo_vaa.png">    </p:cNvPr>
          <p:cNvPicPr>
            <a:picLocks noChangeAspect="1"/>
          </p:cNvPicPr>
          <p:nvPr/>
        </p:nvPicPr>
        <p:blipFill>
          <a:blip r:embed="rId1"/>
          <a:stretch>
            <a:fillRect/>
          </a:stretch>
        </p:blipFill>
        <p:spPr>
          <a:xfrm>
            <a:off x="10911535" y="54864"/>
            <a:ext cx="822960" cy="46268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UN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F5FAD"/>
          </a:solidFill>
          <a:ln/>
        </p:spPr>
      </p:sp>
      <p:sp>
        <p:nvSpPr>
          <p:cNvPr id="3" name="Text 1"/>
          <p:cNvSpPr/>
          <p:nvPr/>
        </p:nvSpPr>
        <p:spPr>
          <a:xfrm>
            <a:off x="457200" y="0"/>
            <a:ext cx="54864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Cơ sở dữ liệu [010151100201]</a:t>
            </a:r>
            <a:endParaRPr lang="en-US" sz="1300" dirty="0"/>
          </a:p>
        </p:txBody>
      </p:sp>
      <p:pic>
        <p:nvPicPr>
          <p:cNvPr id="4" name="Image 0" descr="/home/claude/vna/img/logo_vaa.png">    </p:cNvPr>
          <p:cNvPicPr>
            <a:picLocks noChangeAspect="1"/>
          </p:cNvPicPr>
          <p:nvPr/>
        </p:nvPicPr>
        <p:blipFill>
          <a:blip r:embed="rId1"/>
          <a:stretch>
            <a:fillRect/>
          </a:stretch>
        </p:blipFill>
        <p:spPr>
          <a:xfrm>
            <a:off x="10911535" y="54864"/>
            <a:ext cx="822960" cy="462686"/>
          </a:xfrm>
          <a:prstGeom prst="rect">
            <a:avLst/>
          </a:prstGeom>
        </p:spPr>
      </p:pic>
      <p:sp>
        <p:nvSpPr>
          <p:cNvPr id="5" name="Shape 2"/>
          <p:cNvSpPr/>
          <p:nvPr/>
        </p:nvSpPr>
        <p:spPr>
          <a:xfrm>
            <a:off x="457200" y="6473952"/>
            <a:ext cx="11277295" cy="0"/>
          </a:xfrm>
          <a:prstGeom prst="line">
            <a:avLst/>
          </a:prstGeom>
          <a:noFill/>
          <a:ln w="9525">
            <a:solidFill>
              <a:srgbClr val="C9D3DF"/>
            </a:solidFill>
            <a:prstDash val="solid"/>
          </a:ln>
        </p:spPr>
      </p:sp>
      <p:sp>
        <p:nvSpPr>
          <p:cNvPr id="6" name="Text 3"/>
          <p:cNvSpPr/>
          <p:nvPr/>
        </p:nvSpPr>
        <p:spPr>
          <a:xfrm>
            <a:off x="6248095" y="6492240"/>
            <a:ext cx="5486400" cy="292608"/>
          </a:xfrm>
          <a:prstGeom prst="rect">
            <a:avLst/>
          </a:prstGeom>
          <a:noFill/>
          <a:ln/>
        </p:spPr>
        <p:txBody>
          <a:bodyPr wrap="square" lIns="0" tIns="0" rIns="0" bIns="0" rtlCol="0" anchor="ctr"/>
          <a:lstStyle/>
          <a:p>
            <a:pPr algn="r" indent="0" marL="0">
              <a:buNone/>
            </a:pPr>
            <a:r>
              <a:rPr lang="en-US" sz="1100" b="1" dirty="0">
                <a:solidFill>
                  <a:srgbClr val="8A6A2F"/>
                </a:solidFill>
                <a:latin typeface="Arial" pitchFamily="34" charset="0"/>
                <a:ea typeface="Arial" pitchFamily="34" charset="-122"/>
                <a:cs typeface="Arial" pitchFamily="34" charset="-120"/>
              </a:rPr>
              <a:t>Nhóm 2</a:t>
            </a:r>
            <a:endParaRPr lang="en-US" sz="1100" dirty="0"/>
          </a:p>
        </p:txBody>
      </p:sp>
      <p:sp>
        <p:nvSpPr>
          <p:cNvPr id="7" name="Text 4"/>
          <p:cNvSpPr/>
          <p:nvPr/>
        </p:nvSpPr>
        <p:spPr>
          <a:xfrm>
            <a:off x="457200" y="6492240"/>
            <a:ext cx="5486400" cy="292608"/>
          </a:xfrm>
          <a:prstGeom prst="rect">
            <a:avLst/>
          </a:prstGeom>
          <a:noFill/>
          <a:ln/>
        </p:spPr>
        <p:txBody>
          <a:bodyPr wrap="square" lIns="0" tIns="0" rIns="0" bIns="0" rtlCol="0" anchor="ctr"/>
          <a:lstStyle/>
          <a:p>
            <a:pPr indent="0" marL="0">
              <a:buNone/>
            </a:pPr>
            <a:r>
              <a:rPr lang="en-US" sz="1000" dirty="0">
                <a:solidFill>
                  <a:srgbClr val="5F6B7A"/>
                </a:solidFill>
                <a:latin typeface="Arial" pitchFamily="34" charset="0"/>
                <a:ea typeface="Arial" pitchFamily="34" charset="-122"/>
                <a:cs typeface="Arial" pitchFamily="34" charset="-120"/>
              </a:rPr>
              <a:t>Hệ thống quản lý bán vé và đặt chỗ chuyến bay</a:t>
            </a:r>
            <a:endParaRPr lang="en-US" sz="1000" dirty="0"/>
          </a:p>
        </p:txBody>
      </p:sp>
      <p:sp>
        <p:nvSpPr>
          <p:cNvPr id="8" name="Text 5"/>
          <p:cNvSpPr/>
          <p:nvPr>
            <p:ph idx="106" type="title" hasCustomPrompt="1"/>
          </p:nvPr>
        </p:nvSpPr>
        <p:spPr>
          <a:xfrm>
            <a:off x="457200" y="731520"/>
            <a:ext cx="11277295" cy="640080"/>
          </a:xfrm>
          <a:prstGeom prst="rect">
            <a:avLst/>
          </a:prstGeom>
          <a:noFill/>
          <a:ln/>
        </p:spPr>
        <p:txBody>
          <a:bodyPr wrap="square" rtlCol="0"/>
          <a:lstStyle>
            <a:lvl1pPr algn="l" indent="0" marL="0">
              <a:buNone/>
              <a:defRPr lang="en-US" sz="2600" b="1" dirty="0">
                <a:solidFill>
                  <a:srgbClr val="163F73"/>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H_A">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F5FAD"/>
          </a:solidFill>
          <a:ln/>
        </p:spPr>
      </p:sp>
      <p:sp>
        <p:nvSpPr>
          <p:cNvPr id="3" name="Text 1"/>
          <p:cNvSpPr/>
          <p:nvPr/>
        </p:nvSpPr>
        <p:spPr>
          <a:xfrm>
            <a:off x="457200" y="0"/>
            <a:ext cx="54864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Cơ sở dữ liệu [010151100201]</a:t>
            </a:r>
            <a:endParaRPr lang="en-US" sz="1300" dirty="0"/>
          </a:p>
        </p:txBody>
      </p:sp>
      <p:pic>
        <p:nvPicPr>
          <p:cNvPr id="4" name="Image 0" descr="/home/claude/vna/img/logo_vaa.png">    </p:cNvPr>
          <p:cNvPicPr>
            <a:picLocks noChangeAspect="1"/>
          </p:cNvPicPr>
          <p:nvPr/>
        </p:nvPicPr>
        <p:blipFill>
          <a:blip r:embed="rId1"/>
          <a:stretch>
            <a:fillRect/>
          </a:stretch>
        </p:blipFill>
        <p:spPr>
          <a:xfrm>
            <a:off x="10911535" y="54864"/>
            <a:ext cx="822960" cy="462686"/>
          </a:xfrm>
          <a:prstGeom prst="rect">
            <a:avLst/>
          </a:prstGeom>
        </p:spPr>
      </p:pic>
      <p:sp>
        <p:nvSpPr>
          <p:cNvPr id="5" name="Shape 2"/>
          <p:cNvSpPr/>
          <p:nvPr/>
        </p:nvSpPr>
        <p:spPr>
          <a:xfrm>
            <a:off x="457200" y="6473952"/>
            <a:ext cx="11277295" cy="0"/>
          </a:xfrm>
          <a:prstGeom prst="line">
            <a:avLst/>
          </a:prstGeom>
          <a:noFill/>
          <a:ln w="9525">
            <a:solidFill>
              <a:srgbClr val="C9D3DF"/>
            </a:solidFill>
            <a:prstDash val="solid"/>
          </a:ln>
        </p:spPr>
      </p:sp>
      <p:sp>
        <p:nvSpPr>
          <p:cNvPr id="6" name="Text 3"/>
          <p:cNvSpPr/>
          <p:nvPr/>
        </p:nvSpPr>
        <p:spPr>
          <a:xfrm>
            <a:off x="6248095" y="6492240"/>
            <a:ext cx="5486400" cy="292608"/>
          </a:xfrm>
          <a:prstGeom prst="rect">
            <a:avLst/>
          </a:prstGeom>
          <a:noFill/>
          <a:ln/>
        </p:spPr>
        <p:txBody>
          <a:bodyPr wrap="square" lIns="0" tIns="0" rIns="0" bIns="0" rtlCol="0" anchor="ctr"/>
          <a:lstStyle/>
          <a:p>
            <a:pPr algn="r" indent="0" marL="0">
              <a:buNone/>
            </a:pPr>
            <a:r>
              <a:rPr lang="en-US" sz="1100" b="1" dirty="0">
                <a:solidFill>
                  <a:srgbClr val="8A6A2F"/>
                </a:solidFill>
                <a:latin typeface="Arial" pitchFamily="34" charset="0"/>
                <a:ea typeface="Arial" pitchFamily="34" charset="-122"/>
                <a:cs typeface="Arial" pitchFamily="34" charset="-120"/>
              </a:rPr>
              <a:t>Phụ trách: Trần Tuấn Thành</a:t>
            </a:r>
            <a:endParaRPr lang="en-US" sz="1100" dirty="0"/>
          </a:p>
        </p:txBody>
      </p:sp>
      <p:sp>
        <p:nvSpPr>
          <p:cNvPr id="7" name="Text 4"/>
          <p:cNvSpPr/>
          <p:nvPr/>
        </p:nvSpPr>
        <p:spPr>
          <a:xfrm>
            <a:off x="457200" y="6492240"/>
            <a:ext cx="5486400" cy="292608"/>
          </a:xfrm>
          <a:prstGeom prst="rect">
            <a:avLst/>
          </a:prstGeom>
          <a:noFill/>
          <a:ln/>
        </p:spPr>
        <p:txBody>
          <a:bodyPr wrap="square" lIns="0" tIns="0" rIns="0" bIns="0" rtlCol="0" anchor="ctr"/>
          <a:lstStyle/>
          <a:p>
            <a:pPr indent="0" marL="0">
              <a:buNone/>
            </a:pPr>
            <a:r>
              <a:rPr lang="en-US" sz="1000" dirty="0">
                <a:solidFill>
                  <a:srgbClr val="5F6B7A"/>
                </a:solidFill>
                <a:latin typeface="Arial" pitchFamily="34" charset="0"/>
                <a:ea typeface="Arial" pitchFamily="34" charset="-122"/>
                <a:cs typeface="Arial" pitchFamily="34" charset="-120"/>
              </a:rPr>
              <a:t>Hệ thống quản lý bán vé và đặt chỗ chuyến bay</a:t>
            </a:r>
            <a:endParaRPr lang="en-US" sz="1000" dirty="0"/>
          </a:p>
        </p:txBody>
      </p:sp>
      <p:sp>
        <p:nvSpPr>
          <p:cNvPr id="8" name="Text 5"/>
          <p:cNvSpPr/>
          <p:nvPr>
            <p:ph idx="106" type="title" hasCustomPrompt="1"/>
          </p:nvPr>
        </p:nvSpPr>
        <p:spPr>
          <a:xfrm>
            <a:off x="457200" y="731520"/>
            <a:ext cx="11277295" cy="640080"/>
          </a:xfrm>
          <a:prstGeom prst="rect">
            <a:avLst/>
          </a:prstGeom>
          <a:noFill/>
          <a:ln/>
        </p:spPr>
        <p:txBody>
          <a:bodyPr wrap="square" rtlCol="0"/>
          <a:lstStyle>
            <a:lvl1pPr algn="l" indent="0" marL="0">
              <a:buNone/>
              <a:defRPr lang="en-US" sz="2600" b="1" dirty="0">
                <a:solidFill>
                  <a:srgbClr val="163F73"/>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H_B">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F5FAD"/>
          </a:solidFill>
          <a:ln/>
        </p:spPr>
      </p:sp>
      <p:sp>
        <p:nvSpPr>
          <p:cNvPr id="3" name="Text 1"/>
          <p:cNvSpPr/>
          <p:nvPr/>
        </p:nvSpPr>
        <p:spPr>
          <a:xfrm>
            <a:off x="457200" y="0"/>
            <a:ext cx="54864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Cơ sở dữ liệu [010151100201]</a:t>
            </a:r>
            <a:endParaRPr lang="en-US" sz="1300" dirty="0"/>
          </a:p>
        </p:txBody>
      </p:sp>
      <p:pic>
        <p:nvPicPr>
          <p:cNvPr id="4" name="Image 0" descr="/home/claude/vna/img/logo_vaa.png">    </p:cNvPr>
          <p:cNvPicPr>
            <a:picLocks noChangeAspect="1"/>
          </p:cNvPicPr>
          <p:nvPr/>
        </p:nvPicPr>
        <p:blipFill>
          <a:blip r:embed="rId1"/>
          <a:stretch>
            <a:fillRect/>
          </a:stretch>
        </p:blipFill>
        <p:spPr>
          <a:xfrm>
            <a:off x="10911535" y="54864"/>
            <a:ext cx="822960" cy="462686"/>
          </a:xfrm>
          <a:prstGeom prst="rect">
            <a:avLst/>
          </a:prstGeom>
        </p:spPr>
      </p:pic>
      <p:sp>
        <p:nvSpPr>
          <p:cNvPr id="5" name="Shape 2"/>
          <p:cNvSpPr/>
          <p:nvPr/>
        </p:nvSpPr>
        <p:spPr>
          <a:xfrm>
            <a:off x="457200" y="6473952"/>
            <a:ext cx="11277295" cy="0"/>
          </a:xfrm>
          <a:prstGeom prst="line">
            <a:avLst/>
          </a:prstGeom>
          <a:noFill/>
          <a:ln w="9525">
            <a:solidFill>
              <a:srgbClr val="C9D3DF"/>
            </a:solidFill>
            <a:prstDash val="solid"/>
          </a:ln>
        </p:spPr>
      </p:sp>
      <p:sp>
        <p:nvSpPr>
          <p:cNvPr id="6" name="Text 3"/>
          <p:cNvSpPr/>
          <p:nvPr/>
        </p:nvSpPr>
        <p:spPr>
          <a:xfrm>
            <a:off x="6248095" y="6492240"/>
            <a:ext cx="5486400" cy="292608"/>
          </a:xfrm>
          <a:prstGeom prst="rect">
            <a:avLst/>
          </a:prstGeom>
          <a:noFill/>
          <a:ln/>
        </p:spPr>
        <p:txBody>
          <a:bodyPr wrap="square" lIns="0" tIns="0" rIns="0" bIns="0" rtlCol="0" anchor="ctr"/>
          <a:lstStyle/>
          <a:p>
            <a:pPr algn="r" indent="0" marL="0">
              <a:buNone/>
            </a:pPr>
            <a:r>
              <a:rPr lang="en-US" sz="1100" b="1" dirty="0">
                <a:solidFill>
                  <a:srgbClr val="8A6A2F"/>
                </a:solidFill>
                <a:latin typeface="Arial" pitchFamily="34" charset="0"/>
                <a:ea typeface="Arial" pitchFamily="34" charset="-122"/>
                <a:cs typeface="Arial" pitchFamily="34" charset="-120"/>
              </a:rPr>
              <a:t>Phụ trách: Vũ Tuyết Phương Vy</a:t>
            </a:r>
            <a:endParaRPr lang="en-US" sz="1100" dirty="0"/>
          </a:p>
        </p:txBody>
      </p:sp>
      <p:sp>
        <p:nvSpPr>
          <p:cNvPr id="7" name="Text 4"/>
          <p:cNvSpPr/>
          <p:nvPr/>
        </p:nvSpPr>
        <p:spPr>
          <a:xfrm>
            <a:off x="457200" y="6492240"/>
            <a:ext cx="5486400" cy="292608"/>
          </a:xfrm>
          <a:prstGeom prst="rect">
            <a:avLst/>
          </a:prstGeom>
          <a:noFill/>
          <a:ln/>
        </p:spPr>
        <p:txBody>
          <a:bodyPr wrap="square" lIns="0" tIns="0" rIns="0" bIns="0" rtlCol="0" anchor="ctr"/>
          <a:lstStyle/>
          <a:p>
            <a:pPr indent="0" marL="0">
              <a:buNone/>
            </a:pPr>
            <a:r>
              <a:rPr lang="en-US" sz="1000" dirty="0">
                <a:solidFill>
                  <a:srgbClr val="5F6B7A"/>
                </a:solidFill>
                <a:latin typeface="Arial" pitchFamily="34" charset="0"/>
                <a:ea typeface="Arial" pitchFamily="34" charset="-122"/>
                <a:cs typeface="Arial" pitchFamily="34" charset="-120"/>
              </a:rPr>
              <a:t>Hệ thống quản lý bán vé và đặt chỗ chuyến bay</a:t>
            </a:r>
            <a:endParaRPr lang="en-US" sz="1000" dirty="0"/>
          </a:p>
        </p:txBody>
      </p:sp>
      <p:sp>
        <p:nvSpPr>
          <p:cNvPr id="8" name="Text 5"/>
          <p:cNvSpPr/>
          <p:nvPr>
            <p:ph idx="106" type="title" hasCustomPrompt="1"/>
          </p:nvPr>
        </p:nvSpPr>
        <p:spPr>
          <a:xfrm>
            <a:off x="457200" y="731520"/>
            <a:ext cx="11277295" cy="640080"/>
          </a:xfrm>
          <a:prstGeom prst="rect">
            <a:avLst/>
          </a:prstGeom>
          <a:noFill/>
          <a:ln/>
        </p:spPr>
        <p:txBody>
          <a:bodyPr wrap="square" rtlCol="0"/>
          <a:lstStyle>
            <a:lvl1pPr algn="l" indent="0" marL="0">
              <a:buNone/>
              <a:defRPr lang="en-US" sz="2600" b="1" dirty="0">
                <a:solidFill>
                  <a:srgbClr val="163F73"/>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_C">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F5FAD"/>
          </a:solidFill>
          <a:ln/>
        </p:spPr>
      </p:sp>
      <p:sp>
        <p:nvSpPr>
          <p:cNvPr id="3" name="Text 1"/>
          <p:cNvSpPr/>
          <p:nvPr/>
        </p:nvSpPr>
        <p:spPr>
          <a:xfrm>
            <a:off x="457200" y="0"/>
            <a:ext cx="54864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Cơ sở dữ liệu [010151100201]</a:t>
            </a:r>
            <a:endParaRPr lang="en-US" sz="1300" dirty="0"/>
          </a:p>
        </p:txBody>
      </p:sp>
      <p:pic>
        <p:nvPicPr>
          <p:cNvPr id="4" name="Image 0" descr="/home/claude/vna/img/logo_vaa.png">    </p:cNvPr>
          <p:cNvPicPr>
            <a:picLocks noChangeAspect="1"/>
          </p:cNvPicPr>
          <p:nvPr/>
        </p:nvPicPr>
        <p:blipFill>
          <a:blip r:embed="rId1"/>
          <a:stretch>
            <a:fillRect/>
          </a:stretch>
        </p:blipFill>
        <p:spPr>
          <a:xfrm>
            <a:off x="10911535" y="54864"/>
            <a:ext cx="822960" cy="462686"/>
          </a:xfrm>
          <a:prstGeom prst="rect">
            <a:avLst/>
          </a:prstGeom>
        </p:spPr>
      </p:pic>
      <p:sp>
        <p:nvSpPr>
          <p:cNvPr id="5" name="Shape 2"/>
          <p:cNvSpPr/>
          <p:nvPr/>
        </p:nvSpPr>
        <p:spPr>
          <a:xfrm>
            <a:off x="457200" y="6473952"/>
            <a:ext cx="11277295" cy="0"/>
          </a:xfrm>
          <a:prstGeom prst="line">
            <a:avLst/>
          </a:prstGeom>
          <a:noFill/>
          <a:ln w="9525">
            <a:solidFill>
              <a:srgbClr val="C9D3DF"/>
            </a:solidFill>
            <a:prstDash val="solid"/>
          </a:ln>
        </p:spPr>
      </p:sp>
      <p:sp>
        <p:nvSpPr>
          <p:cNvPr id="6" name="Text 3"/>
          <p:cNvSpPr/>
          <p:nvPr/>
        </p:nvSpPr>
        <p:spPr>
          <a:xfrm>
            <a:off x="6248095" y="6492240"/>
            <a:ext cx="5486400" cy="292608"/>
          </a:xfrm>
          <a:prstGeom prst="rect">
            <a:avLst/>
          </a:prstGeom>
          <a:noFill/>
          <a:ln/>
        </p:spPr>
        <p:txBody>
          <a:bodyPr wrap="square" lIns="0" tIns="0" rIns="0" bIns="0" rtlCol="0" anchor="ctr"/>
          <a:lstStyle/>
          <a:p>
            <a:pPr algn="r" indent="0" marL="0">
              <a:buNone/>
            </a:pPr>
            <a:r>
              <a:rPr lang="en-US" sz="1100" b="1" dirty="0">
                <a:solidFill>
                  <a:srgbClr val="8A6A2F"/>
                </a:solidFill>
                <a:latin typeface="Arial" pitchFamily="34" charset="0"/>
                <a:ea typeface="Arial" pitchFamily="34" charset="-122"/>
                <a:cs typeface="Arial" pitchFamily="34" charset="-120"/>
              </a:rPr>
              <a:t>Phụ trách: Trần Quốc Hồng Danh</a:t>
            </a:r>
            <a:endParaRPr lang="en-US" sz="1100" dirty="0"/>
          </a:p>
        </p:txBody>
      </p:sp>
      <p:sp>
        <p:nvSpPr>
          <p:cNvPr id="7" name="Text 4"/>
          <p:cNvSpPr/>
          <p:nvPr/>
        </p:nvSpPr>
        <p:spPr>
          <a:xfrm>
            <a:off x="457200" y="6492240"/>
            <a:ext cx="5486400" cy="292608"/>
          </a:xfrm>
          <a:prstGeom prst="rect">
            <a:avLst/>
          </a:prstGeom>
          <a:noFill/>
          <a:ln/>
        </p:spPr>
        <p:txBody>
          <a:bodyPr wrap="square" lIns="0" tIns="0" rIns="0" bIns="0" rtlCol="0" anchor="ctr"/>
          <a:lstStyle/>
          <a:p>
            <a:pPr indent="0" marL="0">
              <a:buNone/>
            </a:pPr>
            <a:r>
              <a:rPr lang="en-US" sz="1000" dirty="0">
                <a:solidFill>
                  <a:srgbClr val="5F6B7A"/>
                </a:solidFill>
                <a:latin typeface="Arial" pitchFamily="34" charset="0"/>
                <a:ea typeface="Arial" pitchFamily="34" charset="-122"/>
                <a:cs typeface="Arial" pitchFamily="34" charset="-120"/>
              </a:rPr>
              <a:t>Hệ thống quản lý bán vé và đặt chỗ chuyến bay</a:t>
            </a:r>
            <a:endParaRPr lang="en-US" sz="1000" dirty="0"/>
          </a:p>
        </p:txBody>
      </p:sp>
      <p:sp>
        <p:nvSpPr>
          <p:cNvPr id="8" name="Text 5"/>
          <p:cNvSpPr/>
          <p:nvPr>
            <p:ph idx="106" type="title" hasCustomPrompt="1"/>
          </p:nvPr>
        </p:nvSpPr>
        <p:spPr>
          <a:xfrm>
            <a:off x="457200" y="731520"/>
            <a:ext cx="11277295" cy="640080"/>
          </a:xfrm>
          <a:prstGeom prst="rect">
            <a:avLst/>
          </a:prstGeom>
          <a:noFill/>
          <a:ln/>
        </p:spPr>
        <p:txBody>
          <a:bodyPr wrap="square" rtlCol="0"/>
          <a:lstStyle>
            <a:lvl1pPr algn="l" indent="0" marL="0">
              <a:buNone/>
              <a:defRPr lang="en-US" sz="2600" b="1" dirty="0">
                <a:solidFill>
                  <a:srgbClr val="163F73"/>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PH_D">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F5FAD"/>
          </a:solidFill>
          <a:ln/>
        </p:spPr>
      </p:sp>
      <p:sp>
        <p:nvSpPr>
          <p:cNvPr id="3" name="Text 1"/>
          <p:cNvSpPr/>
          <p:nvPr/>
        </p:nvSpPr>
        <p:spPr>
          <a:xfrm>
            <a:off x="457200" y="0"/>
            <a:ext cx="54864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Cơ sở dữ liệu [010151100201]</a:t>
            </a:r>
            <a:endParaRPr lang="en-US" sz="1300" dirty="0"/>
          </a:p>
        </p:txBody>
      </p:sp>
      <p:pic>
        <p:nvPicPr>
          <p:cNvPr id="4" name="Image 0" descr="/home/claude/vna/img/logo_vaa.png">    </p:cNvPr>
          <p:cNvPicPr>
            <a:picLocks noChangeAspect="1"/>
          </p:cNvPicPr>
          <p:nvPr/>
        </p:nvPicPr>
        <p:blipFill>
          <a:blip r:embed="rId1"/>
          <a:stretch>
            <a:fillRect/>
          </a:stretch>
        </p:blipFill>
        <p:spPr>
          <a:xfrm>
            <a:off x="10911535" y="54864"/>
            <a:ext cx="822960" cy="462686"/>
          </a:xfrm>
          <a:prstGeom prst="rect">
            <a:avLst/>
          </a:prstGeom>
        </p:spPr>
      </p:pic>
      <p:sp>
        <p:nvSpPr>
          <p:cNvPr id="5" name="Shape 2"/>
          <p:cNvSpPr/>
          <p:nvPr/>
        </p:nvSpPr>
        <p:spPr>
          <a:xfrm>
            <a:off x="457200" y="6473952"/>
            <a:ext cx="11277295" cy="0"/>
          </a:xfrm>
          <a:prstGeom prst="line">
            <a:avLst/>
          </a:prstGeom>
          <a:noFill/>
          <a:ln w="9525">
            <a:solidFill>
              <a:srgbClr val="C9D3DF"/>
            </a:solidFill>
            <a:prstDash val="solid"/>
          </a:ln>
        </p:spPr>
      </p:sp>
      <p:sp>
        <p:nvSpPr>
          <p:cNvPr id="6" name="Text 3"/>
          <p:cNvSpPr/>
          <p:nvPr/>
        </p:nvSpPr>
        <p:spPr>
          <a:xfrm>
            <a:off x="6248095" y="6492240"/>
            <a:ext cx="5486400" cy="292608"/>
          </a:xfrm>
          <a:prstGeom prst="rect">
            <a:avLst/>
          </a:prstGeom>
          <a:noFill/>
          <a:ln/>
        </p:spPr>
        <p:txBody>
          <a:bodyPr wrap="square" lIns="0" tIns="0" rIns="0" bIns="0" rtlCol="0" anchor="ctr"/>
          <a:lstStyle/>
          <a:p>
            <a:pPr algn="r" indent="0" marL="0">
              <a:buNone/>
            </a:pPr>
            <a:r>
              <a:rPr lang="en-US" sz="1100" b="1" dirty="0">
                <a:solidFill>
                  <a:srgbClr val="8A6A2F"/>
                </a:solidFill>
                <a:latin typeface="Arial" pitchFamily="34" charset="0"/>
                <a:ea typeface="Arial" pitchFamily="34" charset="-122"/>
                <a:cs typeface="Arial" pitchFamily="34" charset="-120"/>
              </a:rPr>
              <a:t>Phụ trách: Lê Nguyễn Trung Kiên</a:t>
            </a:r>
            <a:endParaRPr lang="en-US" sz="1100" dirty="0"/>
          </a:p>
        </p:txBody>
      </p:sp>
      <p:sp>
        <p:nvSpPr>
          <p:cNvPr id="7" name="Text 4"/>
          <p:cNvSpPr/>
          <p:nvPr/>
        </p:nvSpPr>
        <p:spPr>
          <a:xfrm>
            <a:off x="457200" y="6492240"/>
            <a:ext cx="5486400" cy="292608"/>
          </a:xfrm>
          <a:prstGeom prst="rect">
            <a:avLst/>
          </a:prstGeom>
          <a:noFill/>
          <a:ln/>
        </p:spPr>
        <p:txBody>
          <a:bodyPr wrap="square" lIns="0" tIns="0" rIns="0" bIns="0" rtlCol="0" anchor="ctr"/>
          <a:lstStyle/>
          <a:p>
            <a:pPr indent="0" marL="0">
              <a:buNone/>
            </a:pPr>
            <a:r>
              <a:rPr lang="en-US" sz="1000" dirty="0">
                <a:solidFill>
                  <a:srgbClr val="5F6B7A"/>
                </a:solidFill>
                <a:latin typeface="Arial" pitchFamily="34" charset="0"/>
                <a:ea typeface="Arial" pitchFamily="34" charset="-122"/>
                <a:cs typeface="Arial" pitchFamily="34" charset="-120"/>
              </a:rPr>
              <a:t>Hệ thống quản lý bán vé và đặt chỗ chuyến bay</a:t>
            </a:r>
            <a:endParaRPr lang="en-US" sz="1000" dirty="0"/>
          </a:p>
        </p:txBody>
      </p:sp>
      <p:sp>
        <p:nvSpPr>
          <p:cNvPr id="8" name="Text 5"/>
          <p:cNvSpPr/>
          <p:nvPr>
            <p:ph idx="106" type="title" hasCustomPrompt="1"/>
          </p:nvPr>
        </p:nvSpPr>
        <p:spPr>
          <a:xfrm>
            <a:off x="457200" y="731520"/>
            <a:ext cx="11277295" cy="640080"/>
          </a:xfrm>
          <a:prstGeom prst="rect">
            <a:avLst/>
          </a:prstGeom>
          <a:noFill/>
          <a:ln/>
        </p:spPr>
        <p:txBody>
          <a:bodyPr wrap="square" rtlCol="0"/>
          <a:lstStyle>
            <a:lvl1pPr algn="l" indent="0" marL="0">
              <a:buNone/>
              <a:defRPr lang="en-US" sz="2600" b="1" dirty="0">
                <a:solidFill>
                  <a:srgbClr val="163F73"/>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H_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F5FAD"/>
          </a:solidFill>
          <a:ln/>
        </p:spPr>
      </p:sp>
      <p:sp>
        <p:nvSpPr>
          <p:cNvPr id="3" name="Text 1"/>
          <p:cNvSpPr/>
          <p:nvPr/>
        </p:nvSpPr>
        <p:spPr>
          <a:xfrm>
            <a:off x="457200" y="0"/>
            <a:ext cx="54864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Cơ sở dữ liệu [010151100201]</a:t>
            </a:r>
            <a:endParaRPr lang="en-US" sz="1300" dirty="0"/>
          </a:p>
        </p:txBody>
      </p:sp>
      <p:pic>
        <p:nvPicPr>
          <p:cNvPr id="4" name="Image 0" descr="/home/claude/vna/img/logo_vaa.png">    </p:cNvPr>
          <p:cNvPicPr>
            <a:picLocks noChangeAspect="1"/>
          </p:cNvPicPr>
          <p:nvPr/>
        </p:nvPicPr>
        <p:blipFill>
          <a:blip r:embed="rId1"/>
          <a:stretch>
            <a:fillRect/>
          </a:stretch>
        </p:blipFill>
        <p:spPr>
          <a:xfrm>
            <a:off x="10911535" y="54864"/>
            <a:ext cx="822960" cy="462686"/>
          </a:xfrm>
          <a:prstGeom prst="rect">
            <a:avLst/>
          </a:prstGeom>
        </p:spPr>
      </p:pic>
      <p:sp>
        <p:nvSpPr>
          <p:cNvPr id="5" name="Shape 2"/>
          <p:cNvSpPr/>
          <p:nvPr/>
        </p:nvSpPr>
        <p:spPr>
          <a:xfrm>
            <a:off x="457200" y="6473952"/>
            <a:ext cx="11277295" cy="0"/>
          </a:xfrm>
          <a:prstGeom prst="line">
            <a:avLst/>
          </a:prstGeom>
          <a:noFill/>
          <a:ln w="9525">
            <a:solidFill>
              <a:srgbClr val="C9D3DF"/>
            </a:solidFill>
            <a:prstDash val="solid"/>
          </a:ln>
        </p:spPr>
      </p:sp>
      <p:sp>
        <p:nvSpPr>
          <p:cNvPr id="6" name="Text 3"/>
          <p:cNvSpPr/>
          <p:nvPr/>
        </p:nvSpPr>
        <p:spPr>
          <a:xfrm>
            <a:off x="6248095" y="6492240"/>
            <a:ext cx="5486400" cy="292608"/>
          </a:xfrm>
          <a:prstGeom prst="rect">
            <a:avLst/>
          </a:prstGeom>
          <a:noFill/>
          <a:ln/>
        </p:spPr>
        <p:txBody>
          <a:bodyPr wrap="square" lIns="0" tIns="0" rIns="0" bIns="0" rtlCol="0" anchor="ctr"/>
          <a:lstStyle/>
          <a:p>
            <a:pPr algn="r" indent="0" marL="0">
              <a:buNone/>
            </a:pPr>
            <a:r>
              <a:rPr lang="en-US" sz="1100" b="1" dirty="0">
                <a:solidFill>
                  <a:srgbClr val="8A6A2F"/>
                </a:solidFill>
                <a:latin typeface="Arial" pitchFamily="34" charset="0"/>
                <a:ea typeface="Arial" pitchFamily="34" charset="-122"/>
                <a:cs typeface="Arial" pitchFamily="34" charset="-120"/>
              </a:rPr>
              <a:t>Phụ trách: Hoàng Thái Phong (NT)</a:t>
            </a:r>
            <a:endParaRPr lang="en-US" sz="1100" dirty="0"/>
          </a:p>
        </p:txBody>
      </p:sp>
      <p:sp>
        <p:nvSpPr>
          <p:cNvPr id="7" name="Text 4"/>
          <p:cNvSpPr/>
          <p:nvPr/>
        </p:nvSpPr>
        <p:spPr>
          <a:xfrm>
            <a:off x="457200" y="6492240"/>
            <a:ext cx="5486400" cy="292608"/>
          </a:xfrm>
          <a:prstGeom prst="rect">
            <a:avLst/>
          </a:prstGeom>
          <a:noFill/>
          <a:ln/>
        </p:spPr>
        <p:txBody>
          <a:bodyPr wrap="square" lIns="0" tIns="0" rIns="0" bIns="0" rtlCol="0" anchor="ctr"/>
          <a:lstStyle/>
          <a:p>
            <a:pPr indent="0" marL="0">
              <a:buNone/>
            </a:pPr>
            <a:r>
              <a:rPr lang="en-US" sz="1000" dirty="0">
                <a:solidFill>
                  <a:srgbClr val="5F6B7A"/>
                </a:solidFill>
                <a:latin typeface="Arial" pitchFamily="34" charset="0"/>
                <a:ea typeface="Arial" pitchFamily="34" charset="-122"/>
                <a:cs typeface="Arial" pitchFamily="34" charset="-120"/>
              </a:rPr>
              <a:t>Hệ thống quản lý bán vé và đặt chỗ chuyến bay</a:t>
            </a:r>
            <a:endParaRPr lang="en-US" sz="1000" dirty="0"/>
          </a:p>
        </p:txBody>
      </p:sp>
      <p:sp>
        <p:nvSpPr>
          <p:cNvPr id="8" name="Text 5"/>
          <p:cNvSpPr/>
          <p:nvPr>
            <p:ph idx="106" type="title" hasCustomPrompt="1"/>
          </p:nvPr>
        </p:nvSpPr>
        <p:spPr>
          <a:xfrm>
            <a:off x="457200" y="731520"/>
            <a:ext cx="11277295" cy="640080"/>
          </a:xfrm>
          <a:prstGeom prst="rect">
            <a:avLst/>
          </a:prstGeom>
          <a:noFill/>
          <a:ln/>
        </p:spPr>
        <p:txBody>
          <a:bodyPr wrap="square" rtlCol="0"/>
          <a:lstStyle>
            <a:lvl1pPr algn="l" indent="0" marL="0">
              <a:buNone/>
              <a:defRPr lang="en-US" sz="2600" b="1" dirty="0">
                <a:solidFill>
                  <a:srgbClr val="163F73"/>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H_F">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F5FAD"/>
          </a:solidFill>
          <a:ln/>
        </p:spPr>
      </p:sp>
      <p:sp>
        <p:nvSpPr>
          <p:cNvPr id="3" name="Text 1"/>
          <p:cNvSpPr/>
          <p:nvPr/>
        </p:nvSpPr>
        <p:spPr>
          <a:xfrm>
            <a:off x="457200" y="0"/>
            <a:ext cx="54864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Cơ sở dữ liệu [010151100201]</a:t>
            </a:r>
            <a:endParaRPr lang="en-US" sz="1300" dirty="0"/>
          </a:p>
        </p:txBody>
      </p:sp>
      <p:pic>
        <p:nvPicPr>
          <p:cNvPr id="4" name="Image 0" descr="/home/claude/vna/img/logo_vaa.png">    </p:cNvPr>
          <p:cNvPicPr>
            <a:picLocks noChangeAspect="1"/>
          </p:cNvPicPr>
          <p:nvPr/>
        </p:nvPicPr>
        <p:blipFill>
          <a:blip r:embed="rId1"/>
          <a:stretch>
            <a:fillRect/>
          </a:stretch>
        </p:blipFill>
        <p:spPr>
          <a:xfrm>
            <a:off x="10911535" y="54864"/>
            <a:ext cx="822960" cy="462686"/>
          </a:xfrm>
          <a:prstGeom prst="rect">
            <a:avLst/>
          </a:prstGeom>
        </p:spPr>
      </p:pic>
      <p:sp>
        <p:nvSpPr>
          <p:cNvPr id="5" name="Shape 2"/>
          <p:cNvSpPr/>
          <p:nvPr/>
        </p:nvSpPr>
        <p:spPr>
          <a:xfrm>
            <a:off x="457200" y="6473952"/>
            <a:ext cx="11277295" cy="0"/>
          </a:xfrm>
          <a:prstGeom prst="line">
            <a:avLst/>
          </a:prstGeom>
          <a:noFill/>
          <a:ln w="9525">
            <a:solidFill>
              <a:srgbClr val="C9D3DF"/>
            </a:solidFill>
            <a:prstDash val="solid"/>
          </a:ln>
        </p:spPr>
      </p:sp>
      <p:sp>
        <p:nvSpPr>
          <p:cNvPr id="6" name="Text 3"/>
          <p:cNvSpPr/>
          <p:nvPr/>
        </p:nvSpPr>
        <p:spPr>
          <a:xfrm>
            <a:off x="6248095" y="6492240"/>
            <a:ext cx="5486400" cy="292608"/>
          </a:xfrm>
          <a:prstGeom prst="rect">
            <a:avLst/>
          </a:prstGeom>
          <a:noFill/>
          <a:ln/>
        </p:spPr>
        <p:txBody>
          <a:bodyPr wrap="square" lIns="0" tIns="0" rIns="0" bIns="0" rtlCol="0" anchor="ctr"/>
          <a:lstStyle/>
          <a:p>
            <a:pPr algn="r" indent="0" marL="0">
              <a:buNone/>
            </a:pPr>
            <a:r>
              <a:rPr lang="en-US" sz="1100" b="1" dirty="0">
                <a:solidFill>
                  <a:srgbClr val="8A6A2F"/>
                </a:solidFill>
                <a:latin typeface="Arial" pitchFamily="34" charset="0"/>
                <a:ea typeface="Arial" pitchFamily="34" charset="-122"/>
                <a:cs typeface="Arial" pitchFamily="34" charset="-120"/>
              </a:rPr>
              <a:t>Phụ trách: Nguyễn Vũ Trọng Nhân</a:t>
            </a:r>
            <a:endParaRPr lang="en-US" sz="1100" dirty="0"/>
          </a:p>
        </p:txBody>
      </p:sp>
      <p:sp>
        <p:nvSpPr>
          <p:cNvPr id="7" name="Text 4"/>
          <p:cNvSpPr/>
          <p:nvPr/>
        </p:nvSpPr>
        <p:spPr>
          <a:xfrm>
            <a:off x="457200" y="6492240"/>
            <a:ext cx="5486400" cy="292608"/>
          </a:xfrm>
          <a:prstGeom prst="rect">
            <a:avLst/>
          </a:prstGeom>
          <a:noFill/>
          <a:ln/>
        </p:spPr>
        <p:txBody>
          <a:bodyPr wrap="square" lIns="0" tIns="0" rIns="0" bIns="0" rtlCol="0" anchor="ctr"/>
          <a:lstStyle/>
          <a:p>
            <a:pPr indent="0" marL="0">
              <a:buNone/>
            </a:pPr>
            <a:r>
              <a:rPr lang="en-US" sz="1000" dirty="0">
                <a:solidFill>
                  <a:srgbClr val="5F6B7A"/>
                </a:solidFill>
                <a:latin typeface="Arial" pitchFamily="34" charset="0"/>
                <a:ea typeface="Arial" pitchFamily="34" charset="-122"/>
                <a:cs typeface="Arial" pitchFamily="34" charset="-120"/>
              </a:rPr>
              <a:t>Hệ thống quản lý bán vé và đặt chỗ chuyến bay</a:t>
            </a:r>
            <a:endParaRPr lang="en-US" sz="1000" dirty="0"/>
          </a:p>
        </p:txBody>
      </p:sp>
      <p:sp>
        <p:nvSpPr>
          <p:cNvPr id="8" name="Text 5"/>
          <p:cNvSpPr/>
          <p:nvPr>
            <p:ph idx="106" type="title" hasCustomPrompt="1"/>
          </p:nvPr>
        </p:nvSpPr>
        <p:spPr>
          <a:xfrm>
            <a:off x="457200" y="731520"/>
            <a:ext cx="11277295" cy="640080"/>
          </a:xfrm>
          <a:prstGeom prst="rect">
            <a:avLst/>
          </a:prstGeom>
          <a:noFill/>
          <a:ln/>
        </p:spPr>
        <p:txBody>
          <a:bodyPr wrap="square" rtlCol="0"/>
          <a:lstStyle>
            <a:lvl1pPr algn="l" indent="0" marL="0">
              <a:buNone/>
              <a:defRPr lang="en-US" sz="2600" b="1" dirty="0">
                <a:solidFill>
                  <a:srgbClr val="163F73"/>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1009</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7.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8.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9.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xt1"/>
          <p:cNvSpPr txBox="1"/>
          <p:nvPr/>
        </p:nvSpPr>
        <p:spPr>
          <a:xfrm>
            <a:off x="457200" y="960120"/>
            <a:ext cx="7315200" cy="365760"/>
          </a:xfrm>
          <a:prstGeom prst="rect">
            <a:avLst/>
          </a:prstGeom>
          <a:noFill/>
          <a:ln/>
        </p:spPr>
        <p:txBody>
          <a:bodyPr wrap="square" lIns="0" tIns="0" rIns="0" bIns="0" rtlCol="0" anchor="ctr"/>
          <a:lstStyle/>
          <a:p>
            <a:pPr indent="0" marL="0">
              <a:buNone/>
            </a:pPr>
            <a:r>
              <a:rPr lang="en-US" sz="1400" b="1" spc="100" kern="0" dirty="0">
                <a:solidFill>
                  <a:srgbClr val="8A6A2F"/>
                </a:solidFill>
                <a:latin typeface="Arial" pitchFamily="34" charset="0"/>
                <a:ea typeface="Arial" pitchFamily="34" charset="-122"/>
                <a:cs typeface="Arial" pitchFamily="34" charset="-120"/>
              </a:rPr>
              <a:t>BÁO CÁO LẦN 1  ·  CƠ SỞ DỮ LIỆU (511002)</a:t>
            </a:r>
            <a:endParaRPr lang="en-US" sz="1400" dirty="0"/>
          </a:p>
        </p:txBody>
      </p:sp>
      <p:sp>
        <p:nvSpPr>
          <p:cNvPr id="3" name="txt2"/>
          <p:cNvSpPr txBox="1"/>
          <p:nvPr/>
        </p:nvSpPr>
        <p:spPr>
          <a:xfrm>
            <a:off x="457200" y="1371600"/>
            <a:ext cx="7498080" cy="1554480"/>
          </a:xfrm>
          <a:prstGeom prst="rect">
            <a:avLst/>
          </a:prstGeom>
          <a:noFill/>
          <a:ln/>
        </p:spPr>
        <p:txBody>
          <a:bodyPr wrap="square" lIns="0" tIns="0" rIns="0" bIns="0" rtlCol="0" anchor="t"/>
          <a:lstStyle/>
          <a:p>
            <a:pPr indent="0" marL="0">
              <a:buNone/>
            </a:pPr>
            <a:r>
              <a:rPr lang="en-US" sz="3800" b="1" dirty="0">
                <a:solidFill>
                  <a:srgbClr val="163F73"/>
                </a:solidFill>
                <a:latin typeface="Arial" pitchFamily="34" charset="0"/>
                <a:ea typeface="Arial" pitchFamily="34" charset="-122"/>
                <a:cs typeface="Arial" pitchFamily="34" charset="-120"/>
              </a:rPr>
              <a:t>Hệ thống quản lý bán vé</a:t>
            </a:r>
            <a:endParaRPr lang="en-US" sz="3800" dirty="0"/>
          </a:p>
          <a:p>
            <a:pPr indent="0" marL="0">
              <a:buNone/>
            </a:pPr>
            <a:r>
              <a:rPr lang="en-US" sz="3800" b="1" dirty="0">
                <a:solidFill>
                  <a:srgbClr val="163F73"/>
                </a:solidFill>
                <a:latin typeface="Arial" pitchFamily="34" charset="0"/>
                <a:ea typeface="Arial" pitchFamily="34" charset="-122"/>
                <a:cs typeface="Arial" pitchFamily="34" charset="-120"/>
              </a:rPr>
              <a:t>và đặt chỗ chuyến bay</a:t>
            </a:r>
            <a:endParaRPr lang="en-US" sz="3800" dirty="0"/>
          </a:p>
        </p:txBody>
      </p:sp>
      <p:sp>
        <p:nvSpPr>
          <p:cNvPr id="4" name="txt3"/>
          <p:cNvSpPr txBox="1"/>
          <p:nvPr/>
        </p:nvSpPr>
        <p:spPr>
          <a:xfrm>
            <a:off x="457200" y="2926080"/>
            <a:ext cx="7315200" cy="411480"/>
          </a:xfrm>
          <a:prstGeom prst="rect">
            <a:avLst/>
          </a:prstGeom>
          <a:noFill/>
          <a:ln/>
        </p:spPr>
        <p:txBody>
          <a:bodyPr wrap="square" lIns="0" tIns="0" rIns="0" bIns="0" rtlCol="0" anchor="ctr"/>
          <a:lstStyle/>
          <a:p>
            <a:pPr indent="0" marL="0">
              <a:buNone/>
            </a:pPr>
            <a:r>
              <a:rPr lang="en-US" sz="1800" i="1" dirty="0">
                <a:solidFill>
                  <a:srgbClr val="5F6B7A"/>
                </a:solidFill>
                <a:latin typeface="Arial" pitchFamily="34" charset="0"/>
                <a:ea typeface="Arial" pitchFamily="34" charset="-122"/>
                <a:cs typeface="Arial" pitchFamily="34" charset="-120"/>
              </a:rPr>
              <a:t>Vietnam Airline System</a:t>
            </a:r>
            <a:endParaRPr lang="en-US" sz="1800" dirty="0"/>
          </a:p>
        </p:txBody>
      </p:sp>
      <p:sp>
        <p:nvSpPr>
          <p:cNvPr id="5" name="txt4"/>
          <p:cNvSpPr txBox="1"/>
          <p:nvPr/>
        </p:nvSpPr>
        <p:spPr>
          <a:xfrm>
            <a:off x="457200" y="3566160"/>
            <a:ext cx="7315200" cy="365760"/>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Nhóm 2  ·  Nhóm trưởng: Hoàng Thái Phong</a:t>
            </a:r>
            <a:endParaRPr lang="en-US" sz="1500" dirty="0"/>
          </a:p>
        </p:txBody>
      </p:sp>
      <p:sp>
        <p:nvSpPr>
          <p:cNvPr id="6" name="txt5"/>
          <p:cNvSpPr txBox="1"/>
          <p:nvPr/>
        </p:nvSpPr>
        <p:spPr>
          <a:xfrm>
            <a:off x="457200" y="3977640"/>
            <a:ext cx="7315200" cy="365760"/>
          </a:xfrm>
          <a:prstGeom prst="rect">
            <a:avLst/>
          </a:prstGeom>
          <a:noFill/>
          <a:ln/>
        </p:spPr>
        <p:txBody>
          <a:bodyPr wrap="square" lIns="0" tIns="0" rIns="0" bIns="0" rtlCol="0" anchor="ctr"/>
          <a:lstStyle/>
          <a:p>
            <a:pPr indent="0" marL="0">
              <a:buNone/>
            </a:pPr>
            <a:r>
              <a:rPr lang="en-US" sz="1500" dirty="0">
                <a:solidFill>
                  <a:srgbClr val="1F2933"/>
                </a:solidFill>
                <a:latin typeface="Arial" pitchFamily="34" charset="0"/>
                <a:ea typeface="Arial" pitchFamily="34" charset="-122"/>
                <a:cs typeface="Arial" pitchFamily="34" charset="-120"/>
              </a:rPr>
              <a:t>Giảng viên: Nguyễn Thị Ngọc Ẩn</a:t>
            </a:r>
            <a:endParaRPr lang="en-US" sz="1500" dirty="0"/>
          </a:p>
        </p:txBody>
      </p:sp>
      <p:sp>
        <p:nvSpPr>
          <p:cNvPr id="7" name="khung_thanh_vien"/>
          <p:cNvSpPr/>
          <p:nvPr/>
        </p:nvSpPr>
        <p:spPr>
          <a:xfrm>
            <a:off x="8001000" y="960120"/>
            <a:ext cx="3730752" cy="5120640"/>
          </a:xfrm>
          <a:prstGeom prst="rect">
            <a:avLst/>
          </a:prstGeom>
          <a:solidFill>
            <a:srgbClr val="F7F0E1"/>
          </a:solidFill>
          <a:ln w="12700">
            <a:solidFill>
              <a:srgbClr val="E6D3AA"/>
            </a:solidFill>
            <a:prstDash val="solid"/>
          </a:ln>
        </p:spPr>
      </p:sp>
      <p:sp>
        <p:nvSpPr>
          <p:cNvPr id="8" name="txt6"/>
          <p:cNvSpPr txBox="1"/>
          <p:nvPr/>
        </p:nvSpPr>
        <p:spPr>
          <a:xfrm>
            <a:off x="8229600" y="1143000"/>
            <a:ext cx="3291840" cy="365760"/>
          </a:xfrm>
          <a:prstGeom prst="rect">
            <a:avLst/>
          </a:prstGeom>
          <a:noFill/>
          <a:ln/>
        </p:spPr>
        <p:txBody>
          <a:bodyPr wrap="square" lIns="0" tIns="0" rIns="0" bIns="0" rtlCol="0" anchor="ctr"/>
          <a:lstStyle/>
          <a:p>
            <a:pPr indent="0" marL="0">
              <a:buNone/>
            </a:pPr>
            <a:r>
              <a:rPr lang="en-US" sz="1400" b="1" dirty="0">
                <a:solidFill>
                  <a:srgbClr val="8A6A2F"/>
                </a:solidFill>
                <a:latin typeface="Arial" pitchFamily="34" charset="0"/>
                <a:ea typeface="Arial" pitchFamily="34" charset="-122"/>
                <a:cs typeface="Arial" pitchFamily="34" charset="-120"/>
              </a:rPr>
              <a:t>Thành viên</a:t>
            </a:r>
            <a:endParaRPr lang="en-US" sz="1400" dirty="0"/>
          </a:p>
        </p:txBody>
      </p:sp>
      <p:sp>
        <p:nvSpPr>
          <p:cNvPr id="9" name="txt7"/>
          <p:cNvSpPr txBox="1"/>
          <p:nvPr/>
        </p:nvSpPr>
        <p:spPr>
          <a:xfrm>
            <a:off x="8229600" y="1600200"/>
            <a:ext cx="3291840" cy="29260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Trần Tuấn Thành</a:t>
            </a:r>
            <a:endParaRPr lang="en-US" sz="1500" dirty="0"/>
          </a:p>
        </p:txBody>
      </p:sp>
      <p:sp>
        <p:nvSpPr>
          <p:cNvPr id="10" name="txt8"/>
          <p:cNvSpPr txBox="1"/>
          <p:nvPr/>
        </p:nvSpPr>
        <p:spPr>
          <a:xfrm>
            <a:off x="8229600" y="1892808"/>
            <a:ext cx="3291840" cy="256032"/>
          </a:xfrm>
          <a:prstGeom prst="rect">
            <a:avLst/>
          </a:prstGeom>
          <a:noFill/>
          <a:ln/>
        </p:spPr>
        <p:txBody>
          <a:bodyPr wrap="square" lIns="0" tIns="0" rIns="0" bIns="0" rtlCol="0" anchor="ctr"/>
          <a:lstStyle/>
          <a:p>
            <a:pPr indent="0" marL="0">
              <a:buNone/>
            </a:pPr>
            <a:r>
              <a:rPr lang="en-US" sz="1100" dirty="0">
                <a:solidFill>
                  <a:srgbClr val="5F6B7A"/>
                </a:solidFill>
                <a:latin typeface="Arial" pitchFamily="34" charset="0"/>
                <a:ea typeface="Arial" pitchFamily="34" charset="-122"/>
                <a:cs typeface="Arial" pitchFamily="34" charset="-120"/>
              </a:rPr>
              <a:t>MSSV: 2671540156   ·   Phân hệ A</a:t>
            </a:r>
            <a:endParaRPr lang="en-US" sz="1100" dirty="0"/>
          </a:p>
        </p:txBody>
      </p:sp>
      <p:sp>
        <p:nvSpPr>
          <p:cNvPr id="11" name="txt9"/>
          <p:cNvSpPr txBox="1"/>
          <p:nvPr/>
        </p:nvSpPr>
        <p:spPr>
          <a:xfrm>
            <a:off x="8229600" y="2331720"/>
            <a:ext cx="3291840" cy="29260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Vũ Tuyết Phương Vy</a:t>
            </a:r>
            <a:endParaRPr lang="en-US" sz="1500" dirty="0"/>
          </a:p>
        </p:txBody>
      </p:sp>
      <p:sp>
        <p:nvSpPr>
          <p:cNvPr id="12" name="txt10"/>
          <p:cNvSpPr txBox="1"/>
          <p:nvPr/>
        </p:nvSpPr>
        <p:spPr>
          <a:xfrm>
            <a:off x="8229600" y="2624328"/>
            <a:ext cx="3291840" cy="256032"/>
          </a:xfrm>
          <a:prstGeom prst="rect">
            <a:avLst/>
          </a:prstGeom>
          <a:noFill/>
          <a:ln/>
        </p:spPr>
        <p:txBody>
          <a:bodyPr wrap="square" lIns="0" tIns="0" rIns="0" bIns="0" rtlCol="0" anchor="ctr"/>
          <a:lstStyle/>
          <a:p>
            <a:pPr indent="0" marL="0">
              <a:buNone/>
            </a:pPr>
            <a:r>
              <a:rPr lang="en-US" sz="1100" dirty="0">
                <a:solidFill>
                  <a:srgbClr val="5F6B7A"/>
                </a:solidFill>
                <a:latin typeface="Arial" pitchFamily="34" charset="0"/>
                <a:ea typeface="Arial" pitchFamily="34" charset="-122"/>
                <a:cs typeface="Arial" pitchFamily="34" charset="-120"/>
              </a:rPr>
              <a:t>MSSV: 2671540033   ·   Phân hệ B</a:t>
            </a:r>
            <a:endParaRPr lang="en-US" sz="1100" dirty="0"/>
          </a:p>
        </p:txBody>
      </p:sp>
      <p:sp>
        <p:nvSpPr>
          <p:cNvPr id="13" name="txt11"/>
          <p:cNvSpPr txBox="1"/>
          <p:nvPr/>
        </p:nvSpPr>
        <p:spPr>
          <a:xfrm>
            <a:off x="8229600" y="3063240"/>
            <a:ext cx="3291840" cy="29260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Trần Quốc Hồng Danh</a:t>
            </a:r>
            <a:endParaRPr lang="en-US" sz="1500" dirty="0"/>
          </a:p>
        </p:txBody>
      </p:sp>
      <p:sp>
        <p:nvSpPr>
          <p:cNvPr id="14" name="txt12"/>
          <p:cNvSpPr txBox="1"/>
          <p:nvPr/>
        </p:nvSpPr>
        <p:spPr>
          <a:xfrm>
            <a:off x="8229600" y="3355848"/>
            <a:ext cx="3291840" cy="256032"/>
          </a:xfrm>
          <a:prstGeom prst="rect">
            <a:avLst/>
          </a:prstGeom>
          <a:noFill/>
          <a:ln/>
        </p:spPr>
        <p:txBody>
          <a:bodyPr wrap="square" lIns="0" tIns="0" rIns="0" bIns="0" rtlCol="0" anchor="ctr"/>
          <a:lstStyle/>
          <a:p>
            <a:pPr indent="0" marL="0">
              <a:buNone/>
            </a:pPr>
            <a:r>
              <a:rPr lang="en-US" sz="1100" dirty="0">
                <a:solidFill>
                  <a:srgbClr val="5F6B7A"/>
                </a:solidFill>
                <a:latin typeface="Arial" pitchFamily="34" charset="0"/>
                <a:ea typeface="Arial" pitchFamily="34" charset="-122"/>
                <a:cs typeface="Arial" pitchFamily="34" charset="-120"/>
              </a:rPr>
              <a:t>MSSV: 2671540483   ·   Phân hệ C</a:t>
            </a:r>
            <a:endParaRPr lang="en-US" sz="1100" dirty="0"/>
          </a:p>
        </p:txBody>
      </p:sp>
      <p:sp>
        <p:nvSpPr>
          <p:cNvPr id="15" name="txt13"/>
          <p:cNvSpPr txBox="1"/>
          <p:nvPr/>
        </p:nvSpPr>
        <p:spPr>
          <a:xfrm>
            <a:off x="8229600" y="3794760"/>
            <a:ext cx="3291840" cy="29260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Lê Nguyễn Trung Kiên</a:t>
            </a:r>
            <a:endParaRPr lang="en-US" sz="1500" dirty="0"/>
          </a:p>
        </p:txBody>
      </p:sp>
      <p:sp>
        <p:nvSpPr>
          <p:cNvPr id="16" name="txt14"/>
          <p:cNvSpPr txBox="1"/>
          <p:nvPr/>
        </p:nvSpPr>
        <p:spPr>
          <a:xfrm>
            <a:off x="8229600" y="4087368"/>
            <a:ext cx="3291840" cy="256032"/>
          </a:xfrm>
          <a:prstGeom prst="rect">
            <a:avLst/>
          </a:prstGeom>
          <a:noFill/>
          <a:ln/>
        </p:spPr>
        <p:txBody>
          <a:bodyPr wrap="square" lIns="0" tIns="0" rIns="0" bIns="0" rtlCol="0" anchor="ctr"/>
          <a:lstStyle/>
          <a:p>
            <a:pPr indent="0" marL="0">
              <a:buNone/>
            </a:pPr>
            <a:r>
              <a:rPr lang="en-US" sz="1100" dirty="0">
                <a:solidFill>
                  <a:srgbClr val="5F6B7A"/>
                </a:solidFill>
                <a:latin typeface="Arial" pitchFamily="34" charset="0"/>
                <a:ea typeface="Arial" pitchFamily="34" charset="-122"/>
                <a:cs typeface="Arial" pitchFamily="34" charset="-120"/>
              </a:rPr>
              <a:t>MSSV: 2671540153   ·   Phân hệ D</a:t>
            </a:r>
            <a:endParaRPr lang="en-US" sz="1100" dirty="0"/>
          </a:p>
        </p:txBody>
      </p:sp>
      <p:sp>
        <p:nvSpPr>
          <p:cNvPr id="17" name="txt15"/>
          <p:cNvSpPr txBox="1"/>
          <p:nvPr/>
        </p:nvSpPr>
        <p:spPr>
          <a:xfrm>
            <a:off x="8229600" y="4526280"/>
            <a:ext cx="3291840" cy="29260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Hoàng Thái Phong (NT)</a:t>
            </a:r>
            <a:endParaRPr lang="en-US" sz="1500" dirty="0"/>
          </a:p>
        </p:txBody>
      </p:sp>
      <p:sp>
        <p:nvSpPr>
          <p:cNvPr id="18" name="txt16"/>
          <p:cNvSpPr txBox="1"/>
          <p:nvPr/>
        </p:nvSpPr>
        <p:spPr>
          <a:xfrm>
            <a:off x="8229600" y="4818888"/>
            <a:ext cx="3291840" cy="256032"/>
          </a:xfrm>
          <a:prstGeom prst="rect">
            <a:avLst/>
          </a:prstGeom>
          <a:noFill/>
          <a:ln/>
        </p:spPr>
        <p:txBody>
          <a:bodyPr wrap="square" lIns="0" tIns="0" rIns="0" bIns="0" rtlCol="0" anchor="ctr"/>
          <a:lstStyle/>
          <a:p>
            <a:pPr indent="0" marL="0">
              <a:buNone/>
            </a:pPr>
            <a:r>
              <a:rPr lang="en-US" sz="1100" dirty="0">
                <a:solidFill>
                  <a:srgbClr val="5F6B7A"/>
                </a:solidFill>
                <a:latin typeface="Arial" pitchFamily="34" charset="0"/>
                <a:ea typeface="Arial" pitchFamily="34" charset="-122"/>
                <a:cs typeface="Arial" pitchFamily="34" charset="-120"/>
              </a:rPr>
              <a:t>MSSV: 2671540115   ·   Phân hệ E</a:t>
            </a:r>
            <a:endParaRPr lang="en-US" sz="1100" dirty="0"/>
          </a:p>
        </p:txBody>
      </p:sp>
      <p:sp>
        <p:nvSpPr>
          <p:cNvPr id="19" name="txt17"/>
          <p:cNvSpPr txBox="1"/>
          <p:nvPr/>
        </p:nvSpPr>
        <p:spPr>
          <a:xfrm>
            <a:off x="8229600" y="5257800"/>
            <a:ext cx="3291840" cy="29260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Nguyễn Vũ Trọng Nhân</a:t>
            </a:r>
            <a:endParaRPr lang="en-US" sz="1500" dirty="0"/>
          </a:p>
        </p:txBody>
      </p:sp>
      <p:sp>
        <p:nvSpPr>
          <p:cNvPr id="20" name="txt18"/>
          <p:cNvSpPr txBox="1"/>
          <p:nvPr/>
        </p:nvSpPr>
        <p:spPr>
          <a:xfrm>
            <a:off x="8229600" y="5550408"/>
            <a:ext cx="3291840" cy="256032"/>
          </a:xfrm>
          <a:prstGeom prst="rect">
            <a:avLst/>
          </a:prstGeom>
          <a:noFill/>
          <a:ln/>
        </p:spPr>
        <p:txBody>
          <a:bodyPr wrap="square" lIns="0" tIns="0" rIns="0" bIns="0" rtlCol="0" anchor="ctr"/>
          <a:lstStyle/>
          <a:p>
            <a:pPr indent="0" marL="0">
              <a:buNone/>
            </a:pPr>
            <a:r>
              <a:rPr lang="en-US" sz="1100" dirty="0">
                <a:solidFill>
                  <a:srgbClr val="5F6B7A"/>
                </a:solidFill>
                <a:latin typeface="Arial" pitchFamily="34" charset="0"/>
                <a:ea typeface="Arial" pitchFamily="34" charset="-122"/>
                <a:cs typeface="Arial" pitchFamily="34" charset="-120"/>
              </a:rPr>
              <a:t>MSSV: 2671540040   ·   Phân hệ F</a:t>
            </a:r>
            <a:endParaRPr lang="en-US" sz="1100" dirty="0"/>
          </a:p>
        </p:txBody>
      </p:sp>
      <p:sp>
        <p:nvSpPr>
          <p:cNvPr id="21" name="txt19"/>
          <p:cNvSpPr txBox="1"/>
          <p:nvPr/>
        </p:nvSpPr>
        <p:spPr>
          <a:xfrm>
            <a:off x="457200" y="6035040"/>
            <a:ext cx="7315200" cy="320040"/>
          </a:xfrm>
          <a:prstGeom prst="rect">
            <a:avLst/>
          </a:prstGeom>
          <a:noFill/>
          <a:ln/>
        </p:spPr>
        <p:txBody>
          <a:bodyPr wrap="square" lIns="0" tIns="0" rIns="0" bIns="0" rtlCol="0" anchor="ctr"/>
          <a:lstStyle/>
          <a:p>
            <a:pPr indent="0" marL="0">
              <a:buNone/>
            </a:pPr>
            <a:r>
              <a:rPr lang="en-US" sz="1200" dirty="0">
                <a:solidFill>
                  <a:srgbClr val="5F6B7A"/>
                </a:solidFill>
                <a:latin typeface="Arial" pitchFamily="34" charset="0"/>
                <a:ea typeface="Arial" pitchFamily="34" charset="-122"/>
                <a:cs typeface="Arial" pitchFamily="34" charset="-120"/>
              </a:rPr>
              <a:t>Học viện Hàng không Việt Nam  ·  Khoa Công nghệ thông tin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Bảng phân chia công việc</a:t>
            </a:r>
            <a:endParaRPr lang="en-US" sz="2600" dirty="0"/>
          </a:p>
        </p:txBody>
      </p:sp>
      <p:sp>
        <p:nvSpPr>
          <p:cNvPr id="3" name="bang20_o0_0"/>
          <p:cNvSpPr/>
          <p:nvPr/>
        </p:nvSpPr>
        <p:spPr>
          <a:xfrm>
            <a:off x="457200" y="1481328"/>
            <a:ext cx="548640" cy="481584"/>
          </a:xfrm>
          <a:prstGeom prst="rect">
            <a:avLst/>
          </a:prstGeom>
          <a:solidFill>
            <a:srgbClr val="E6D3AA"/>
          </a:solidFill>
          <a:ln w="9525">
            <a:solidFill>
              <a:srgbClr val="C9D3DF"/>
            </a:solidFill>
            <a:prstDash val="solid"/>
          </a:ln>
        </p:spPr>
      </p:sp>
      <p:sp>
        <p:nvSpPr>
          <p:cNvPr id="4" name="bang20_t0_0"/>
          <p:cNvSpPr txBox="1"/>
          <p:nvPr/>
        </p:nvSpPr>
        <p:spPr>
          <a:xfrm>
            <a:off x="512064" y="1527048"/>
            <a:ext cx="438912" cy="390144"/>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STT</a:t>
            </a:r>
            <a:endParaRPr lang="en-US" sz="1200" dirty="0"/>
          </a:p>
        </p:txBody>
      </p:sp>
      <p:sp>
        <p:nvSpPr>
          <p:cNvPr id="5" name="bang20_o0_1"/>
          <p:cNvSpPr/>
          <p:nvPr/>
        </p:nvSpPr>
        <p:spPr>
          <a:xfrm>
            <a:off x="1005840" y="1481328"/>
            <a:ext cx="1828800" cy="481584"/>
          </a:xfrm>
          <a:prstGeom prst="rect">
            <a:avLst/>
          </a:prstGeom>
          <a:solidFill>
            <a:srgbClr val="E6D3AA"/>
          </a:solidFill>
          <a:ln w="9525">
            <a:solidFill>
              <a:srgbClr val="C9D3DF"/>
            </a:solidFill>
            <a:prstDash val="solid"/>
          </a:ln>
        </p:spPr>
      </p:sp>
      <p:sp>
        <p:nvSpPr>
          <p:cNvPr id="6" name="bang20_t0_1"/>
          <p:cNvSpPr txBox="1"/>
          <p:nvPr/>
        </p:nvSpPr>
        <p:spPr>
          <a:xfrm>
            <a:off x="1060704" y="1527048"/>
            <a:ext cx="1719072" cy="390144"/>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Họ và tên</a:t>
            </a:r>
            <a:endParaRPr lang="en-US" sz="1200" dirty="0"/>
          </a:p>
        </p:txBody>
      </p:sp>
      <p:sp>
        <p:nvSpPr>
          <p:cNvPr id="7" name="bang20_o0_2"/>
          <p:cNvSpPr/>
          <p:nvPr/>
        </p:nvSpPr>
        <p:spPr>
          <a:xfrm>
            <a:off x="2834640" y="1481328"/>
            <a:ext cx="1463040" cy="481584"/>
          </a:xfrm>
          <a:prstGeom prst="rect">
            <a:avLst/>
          </a:prstGeom>
          <a:solidFill>
            <a:srgbClr val="E6D3AA"/>
          </a:solidFill>
          <a:ln w="9525">
            <a:solidFill>
              <a:srgbClr val="C9D3DF"/>
            </a:solidFill>
            <a:prstDash val="solid"/>
          </a:ln>
        </p:spPr>
      </p:sp>
      <p:sp>
        <p:nvSpPr>
          <p:cNvPr id="8" name="bang20_t0_2"/>
          <p:cNvSpPr txBox="1"/>
          <p:nvPr/>
        </p:nvSpPr>
        <p:spPr>
          <a:xfrm>
            <a:off x="2889504" y="1527048"/>
            <a:ext cx="1353312" cy="390144"/>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MSSV</a:t>
            </a:r>
            <a:endParaRPr lang="en-US" sz="1200" dirty="0"/>
          </a:p>
        </p:txBody>
      </p:sp>
      <p:sp>
        <p:nvSpPr>
          <p:cNvPr id="9" name="bang20_o0_3"/>
          <p:cNvSpPr/>
          <p:nvPr/>
        </p:nvSpPr>
        <p:spPr>
          <a:xfrm>
            <a:off x="4297680" y="1481328"/>
            <a:ext cx="2651760" cy="481584"/>
          </a:xfrm>
          <a:prstGeom prst="rect">
            <a:avLst/>
          </a:prstGeom>
          <a:solidFill>
            <a:srgbClr val="E6D3AA"/>
          </a:solidFill>
          <a:ln w="9525">
            <a:solidFill>
              <a:srgbClr val="C9D3DF"/>
            </a:solidFill>
            <a:prstDash val="solid"/>
          </a:ln>
        </p:spPr>
      </p:sp>
      <p:sp>
        <p:nvSpPr>
          <p:cNvPr id="10" name="bang20_t0_3"/>
          <p:cNvSpPr txBox="1"/>
          <p:nvPr/>
        </p:nvSpPr>
        <p:spPr>
          <a:xfrm>
            <a:off x="4352544" y="1527048"/>
            <a:ext cx="2542032" cy="390144"/>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Phân hệ phụ trách</a:t>
            </a:r>
            <a:endParaRPr lang="en-US" sz="1200" dirty="0"/>
          </a:p>
        </p:txBody>
      </p:sp>
      <p:sp>
        <p:nvSpPr>
          <p:cNvPr id="11" name="bang20_o0_4"/>
          <p:cNvSpPr/>
          <p:nvPr/>
        </p:nvSpPr>
        <p:spPr>
          <a:xfrm>
            <a:off x="6949440" y="1481328"/>
            <a:ext cx="3959352" cy="481584"/>
          </a:xfrm>
          <a:prstGeom prst="rect">
            <a:avLst/>
          </a:prstGeom>
          <a:solidFill>
            <a:srgbClr val="E6D3AA"/>
          </a:solidFill>
          <a:ln w="9525">
            <a:solidFill>
              <a:srgbClr val="C9D3DF"/>
            </a:solidFill>
            <a:prstDash val="solid"/>
          </a:ln>
        </p:spPr>
      </p:sp>
      <p:sp>
        <p:nvSpPr>
          <p:cNvPr id="12" name="bang20_t0_4"/>
          <p:cNvSpPr txBox="1"/>
          <p:nvPr/>
        </p:nvSpPr>
        <p:spPr>
          <a:xfrm>
            <a:off x="7004304" y="1527048"/>
            <a:ext cx="3849624" cy="390144"/>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Thực thể phụ trách</a:t>
            </a:r>
            <a:endParaRPr lang="en-US" sz="1200" dirty="0"/>
          </a:p>
        </p:txBody>
      </p:sp>
      <p:sp>
        <p:nvSpPr>
          <p:cNvPr id="13" name="bang20_o0_5"/>
          <p:cNvSpPr/>
          <p:nvPr/>
        </p:nvSpPr>
        <p:spPr>
          <a:xfrm>
            <a:off x="10908792" y="1481328"/>
            <a:ext cx="822960" cy="481584"/>
          </a:xfrm>
          <a:prstGeom prst="rect">
            <a:avLst/>
          </a:prstGeom>
          <a:solidFill>
            <a:srgbClr val="E6D3AA"/>
          </a:solidFill>
          <a:ln w="9525">
            <a:solidFill>
              <a:srgbClr val="C9D3DF"/>
            </a:solidFill>
            <a:prstDash val="solid"/>
          </a:ln>
        </p:spPr>
      </p:sp>
      <p:sp>
        <p:nvSpPr>
          <p:cNvPr id="14" name="bang20_t0_5"/>
          <p:cNvSpPr txBox="1"/>
          <p:nvPr/>
        </p:nvSpPr>
        <p:spPr>
          <a:xfrm>
            <a:off x="10963656" y="1527048"/>
            <a:ext cx="713232" cy="390144"/>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Tỷ lệ (%)</a:t>
            </a:r>
            <a:endParaRPr lang="en-US" sz="1200" dirty="0"/>
          </a:p>
        </p:txBody>
      </p:sp>
      <p:sp>
        <p:nvSpPr>
          <p:cNvPr id="15" name="bang20_o1_0"/>
          <p:cNvSpPr/>
          <p:nvPr/>
        </p:nvSpPr>
        <p:spPr>
          <a:xfrm>
            <a:off x="457200" y="1962912"/>
            <a:ext cx="548640" cy="295656"/>
          </a:xfrm>
          <a:prstGeom prst="rect">
            <a:avLst/>
          </a:prstGeom>
          <a:solidFill>
            <a:srgbClr val="FFFFFF"/>
          </a:solidFill>
          <a:ln w="9525">
            <a:solidFill>
              <a:srgbClr val="C9D3DF"/>
            </a:solidFill>
            <a:prstDash val="solid"/>
          </a:ln>
        </p:spPr>
      </p:sp>
      <p:sp>
        <p:nvSpPr>
          <p:cNvPr id="16" name="bang20_t1_0"/>
          <p:cNvSpPr txBox="1"/>
          <p:nvPr/>
        </p:nvSpPr>
        <p:spPr>
          <a:xfrm>
            <a:off x="512064" y="2008632"/>
            <a:ext cx="438912" cy="204216"/>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1</a:t>
            </a:r>
            <a:endParaRPr lang="en-US" sz="1200" dirty="0"/>
          </a:p>
        </p:txBody>
      </p:sp>
      <p:sp>
        <p:nvSpPr>
          <p:cNvPr id="17" name="bang20_o1_1"/>
          <p:cNvSpPr/>
          <p:nvPr/>
        </p:nvSpPr>
        <p:spPr>
          <a:xfrm>
            <a:off x="1005840" y="1962912"/>
            <a:ext cx="1828800" cy="295656"/>
          </a:xfrm>
          <a:prstGeom prst="rect">
            <a:avLst/>
          </a:prstGeom>
          <a:solidFill>
            <a:srgbClr val="FFFFFF"/>
          </a:solidFill>
          <a:ln w="9525">
            <a:solidFill>
              <a:srgbClr val="C9D3DF"/>
            </a:solidFill>
            <a:prstDash val="solid"/>
          </a:ln>
        </p:spPr>
      </p:sp>
      <p:sp>
        <p:nvSpPr>
          <p:cNvPr id="18" name="bang20_t1_1"/>
          <p:cNvSpPr txBox="1"/>
          <p:nvPr/>
        </p:nvSpPr>
        <p:spPr>
          <a:xfrm>
            <a:off x="1060704" y="2008632"/>
            <a:ext cx="1719072" cy="204216"/>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Trần Tuấn Thành</a:t>
            </a:r>
            <a:endParaRPr lang="en-US" sz="1200" dirty="0"/>
          </a:p>
        </p:txBody>
      </p:sp>
      <p:sp>
        <p:nvSpPr>
          <p:cNvPr id="19" name="bang20_o1_2"/>
          <p:cNvSpPr/>
          <p:nvPr/>
        </p:nvSpPr>
        <p:spPr>
          <a:xfrm>
            <a:off x="2834640" y="1962912"/>
            <a:ext cx="1463040" cy="295656"/>
          </a:xfrm>
          <a:prstGeom prst="rect">
            <a:avLst/>
          </a:prstGeom>
          <a:solidFill>
            <a:srgbClr val="FFFFFF"/>
          </a:solidFill>
          <a:ln w="9525">
            <a:solidFill>
              <a:srgbClr val="C9D3DF"/>
            </a:solidFill>
            <a:prstDash val="solid"/>
          </a:ln>
        </p:spPr>
      </p:sp>
      <p:sp>
        <p:nvSpPr>
          <p:cNvPr id="20" name="bang20_t1_2"/>
          <p:cNvSpPr txBox="1"/>
          <p:nvPr/>
        </p:nvSpPr>
        <p:spPr>
          <a:xfrm>
            <a:off x="2889504" y="2008632"/>
            <a:ext cx="1353312" cy="204216"/>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2671540156</a:t>
            </a:r>
            <a:endParaRPr lang="en-US" sz="1200" dirty="0"/>
          </a:p>
        </p:txBody>
      </p:sp>
      <p:sp>
        <p:nvSpPr>
          <p:cNvPr id="21" name="bang20_o1_3"/>
          <p:cNvSpPr/>
          <p:nvPr/>
        </p:nvSpPr>
        <p:spPr>
          <a:xfrm>
            <a:off x="4297680" y="1962912"/>
            <a:ext cx="2651760" cy="295656"/>
          </a:xfrm>
          <a:prstGeom prst="rect">
            <a:avLst/>
          </a:prstGeom>
          <a:solidFill>
            <a:srgbClr val="FFFFFF"/>
          </a:solidFill>
          <a:ln w="9525">
            <a:solidFill>
              <a:srgbClr val="C9D3DF"/>
            </a:solidFill>
            <a:prstDash val="solid"/>
          </a:ln>
        </p:spPr>
      </p:sp>
      <p:sp>
        <p:nvSpPr>
          <p:cNvPr id="22" name="bang20_t1_3"/>
          <p:cNvSpPr txBox="1"/>
          <p:nvPr/>
        </p:nvSpPr>
        <p:spPr>
          <a:xfrm>
            <a:off x="4352544" y="2008632"/>
            <a:ext cx="2542032" cy="204216"/>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A. Chuyến bay và lịch trình</a:t>
            </a:r>
            <a:endParaRPr lang="en-US" sz="1200" dirty="0"/>
          </a:p>
        </p:txBody>
      </p:sp>
      <p:sp>
        <p:nvSpPr>
          <p:cNvPr id="23" name="bang20_o1_4"/>
          <p:cNvSpPr/>
          <p:nvPr/>
        </p:nvSpPr>
        <p:spPr>
          <a:xfrm>
            <a:off x="6949440" y="1962912"/>
            <a:ext cx="3959352" cy="295656"/>
          </a:xfrm>
          <a:prstGeom prst="rect">
            <a:avLst/>
          </a:prstGeom>
          <a:solidFill>
            <a:srgbClr val="FFFFFF"/>
          </a:solidFill>
          <a:ln w="9525">
            <a:solidFill>
              <a:srgbClr val="C9D3DF"/>
            </a:solidFill>
            <a:prstDash val="solid"/>
          </a:ln>
        </p:spPr>
      </p:sp>
      <p:sp>
        <p:nvSpPr>
          <p:cNvPr id="24" name="bang20_t1_4"/>
          <p:cNvSpPr txBox="1"/>
          <p:nvPr/>
        </p:nvSpPr>
        <p:spPr>
          <a:xfrm>
            <a:off x="7004304" y="2008632"/>
            <a:ext cx="3849624" cy="204216"/>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SAN_BAY, MAY_BAY, CHUYEN_BAY</a:t>
            </a:r>
            <a:endParaRPr lang="en-US" sz="1200" dirty="0"/>
          </a:p>
        </p:txBody>
      </p:sp>
      <p:sp>
        <p:nvSpPr>
          <p:cNvPr id="25" name="bang20_o1_5"/>
          <p:cNvSpPr/>
          <p:nvPr/>
        </p:nvSpPr>
        <p:spPr>
          <a:xfrm>
            <a:off x="10908792" y="1962912"/>
            <a:ext cx="822960" cy="295656"/>
          </a:xfrm>
          <a:prstGeom prst="rect">
            <a:avLst/>
          </a:prstGeom>
          <a:solidFill>
            <a:srgbClr val="FFFFFF"/>
          </a:solidFill>
          <a:ln w="9525">
            <a:solidFill>
              <a:srgbClr val="C9D3DF"/>
            </a:solidFill>
            <a:prstDash val="solid"/>
          </a:ln>
        </p:spPr>
      </p:sp>
      <p:sp>
        <p:nvSpPr>
          <p:cNvPr id="26" name="bang20_o2_0"/>
          <p:cNvSpPr/>
          <p:nvPr/>
        </p:nvSpPr>
        <p:spPr>
          <a:xfrm>
            <a:off x="457200" y="2258568"/>
            <a:ext cx="548640" cy="295656"/>
          </a:xfrm>
          <a:prstGeom prst="rect">
            <a:avLst/>
          </a:prstGeom>
          <a:solidFill>
            <a:srgbClr val="F7F0E1"/>
          </a:solidFill>
          <a:ln w="9525">
            <a:solidFill>
              <a:srgbClr val="C9D3DF"/>
            </a:solidFill>
            <a:prstDash val="solid"/>
          </a:ln>
        </p:spPr>
      </p:sp>
      <p:sp>
        <p:nvSpPr>
          <p:cNvPr id="27" name="bang20_t2_0"/>
          <p:cNvSpPr txBox="1"/>
          <p:nvPr/>
        </p:nvSpPr>
        <p:spPr>
          <a:xfrm>
            <a:off x="512064" y="2304288"/>
            <a:ext cx="438912" cy="204216"/>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2</a:t>
            </a:r>
            <a:endParaRPr lang="en-US" sz="1200" dirty="0"/>
          </a:p>
        </p:txBody>
      </p:sp>
      <p:sp>
        <p:nvSpPr>
          <p:cNvPr id="28" name="bang20_o2_1"/>
          <p:cNvSpPr/>
          <p:nvPr/>
        </p:nvSpPr>
        <p:spPr>
          <a:xfrm>
            <a:off x="1005840" y="2258568"/>
            <a:ext cx="1828800" cy="295656"/>
          </a:xfrm>
          <a:prstGeom prst="rect">
            <a:avLst/>
          </a:prstGeom>
          <a:solidFill>
            <a:srgbClr val="F7F0E1"/>
          </a:solidFill>
          <a:ln w="9525">
            <a:solidFill>
              <a:srgbClr val="C9D3DF"/>
            </a:solidFill>
            <a:prstDash val="solid"/>
          </a:ln>
        </p:spPr>
      </p:sp>
      <p:sp>
        <p:nvSpPr>
          <p:cNvPr id="29" name="bang20_t2_1"/>
          <p:cNvSpPr txBox="1"/>
          <p:nvPr/>
        </p:nvSpPr>
        <p:spPr>
          <a:xfrm>
            <a:off x="1060704" y="2304288"/>
            <a:ext cx="1719072" cy="204216"/>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Vũ Tuyết Phương Vy</a:t>
            </a:r>
            <a:endParaRPr lang="en-US" sz="1200" dirty="0"/>
          </a:p>
        </p:txBody>
      </p:sp>
      <p:sp>
        <p:nvSpPr>
          <p:cNvPr id="30" name="bang20_o2_2"/>
          <p:cNvSpPr/>
          <p:nvPr/>
        </p:nvSpPr>
        <p:spPr>
          <a:xfrm>
            <a:off x="2834640" y="2258568"/>
            <a:ext cx="1463040" cy="295656"/>
          </a:xfrm>
          <a:prstGeom prst="rect">
            <a:avLst/>
          </a:prstGeom>
          <a:solidFill>
            <a:srgbClr val="F7F0E1"/>
          </a:solidFill>
          <a:ln w="9525">
            <a:solidFill>
              <a:srgbClr val="C9D3DF"/>
            </a:solidFill>
            <a:prstDash val="solid"/>
          </a:ln>
        </p:spPr>
      </p:sp>
      <p:sp>
        <p:nvSpPr>
          <p:cNvPr id="31" name="bang20_t2_2"/>
          <p:cNvSpPr txBox="1"/>
          <p:nvPr/>
        </p:nvSpPr>
        <p:spPr>
          <a:xfrm>
            <a:off x="2889504" y="2304288"/>
            <a:ext cx="1353312" cy="204216"/>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2671540033</a:t>
            </a:r>
            <a:endParaRPr lang="en-US" sz="1200" dirty="0"/>
          </a:p>
        </p:txBody>
      </p:sp>
      <p:sp>
        <p:nvSpPr>
          <p:cNvPr id="32" name="bang20_o2_3"/>
          <p:cNvSpPr/>
          <p:nvPr/>
        </p:nvSpPr>
        <p:spPr>
          <a:xfrm>
            <a:off x="4297680" y="2258568"/>
            <a:ext cx="2651760" cy="295656"/>
          </a:xfrm>
          <a:prstGeom prst="rect">
            <a:avLst/>
          </a:prstGeom>
          <a:solidFill>
            <a:srgbClr val="F7F0E1"/>
          </a:solidFill>
          <a:ln w="9525">
            <a:solidFill>
              <a:srgbClr val="C9D3DF"/>
            </a:solidFill>
            <a:prstDash val="solid"/>
          </a:ln>
        </p:spPr>
      </p:sp>
      <p:sp>
        <p:nvSpPr>
          <p:cNvPr id="33" name="bang20_t2_3"/>
          <p:cNvSpPr txBox="1"/>
          <p:nvPr/>
        </p:nvSpPr>
        <p:spPr>
          <a:xfrm>
            <a:off x="4352544" y="2304288"/>
            <a:ext cx="2542032" cy="204216"/>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B. Đặt chỗ và vé máy bay</a:t>
            </a:r>
            <a:endParaRPr lang="en-US" sz="1200" dirty="0"/>
          </a:p>
        </p:txBody>
      </p:sp>
      <p:sp>
        <p:nvSpPr>
          <p:cNvPr id="34" name="bang20_o2_4"/>
          <p:cNvSpPr/>
          <p:nvPr/>
        </p:nvSpPr>
        <p:spPr>
          <a:xfrm>
            <a:off x="6949440" y="2258568"/>
            <a:ext cx="3959352" cy="295656"/>
          </a:xfrm>
          <a:prstGeom prst="rect">
            <a:avLst/>
          </a:prstGeom>
          <a:solidFill>
            <a:srgbClr val="F7F0E1"/>
          </a:solidFill>
          <a:ln w="9525">
            <a:solidFill>
              <a:srgbClr val="C9D3DF"/>
            </a:solidFill>
            <a:prstDash val="solid"/>
          </a:ln>
        </p:spPr>
      </p:sp>
      <p:sp>
        <p:nvSpPr>
          <p:cNvPr id="35" name="bang20_t2_4"/>
          <p:cNvSpPr txBox="1"/>
          <p:nvPr/>
        </p:nvSpPr>
        <p:spPr>
          <a:xfrm>
            <a:off x="7004304" y="2304288"/>
            <a:ext cx="3849624" cy="204216"/>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DAT_CHO, GHE_NGOI, VE_MAY_BAY</a:t>
            </a:r>
            <a:endParaRPr lang="en-US" sz="1200" dirty="0"/>
          </a:p>
        </p:txBody>
      </p:sp>
      <p:sp>
        <p:nvSpPr>
          <p:cNvPr id="36" name="bang20_o2_5"/>
          <p:cNvSpPr/>
          <p:nvPr/>
        </p:nvSpPr>
        <p:spPr>
          <a:xfrm>
            <a:off x="10908792" y="2258568"/>
            <a:ext cx="822960" cy="295656"/>
          </a:xfrm>
          <a:prstGeom prst="rect">
            <a:avLst/>
          </a:prstGeom>
          <a:solidFill>
            <a:srgbClr val="F7F0E1"/>
          </a:solidFill>
          <a:ln w="9525">
            <a:solidFill>
              <a:srgbClr val="C9D3DF"/>
            </a:solidFill>
            <a:prstDash val="solid"/>
          </a:ln>
        </p:spPr>
      </p:sp>
      <p:sp>
        <p:nvSpPr>
          <p:cNvPr id="37" name="bang20_o3_0"/>
          <p:cNvSpPr/>
          <p:nvPr/>
        </p:nvSpPr>
        <p:spPr>
          <a:xfrm>
            <a:off x="457200" y="2554224"/>
            <a:ext cx="548640" cy="481584"/>
          </a:xfrm>
          <a:prstGeom prst="rect">
            <a:avLst/>
          </a:prstGeom>
          <a:solidFill>
            <a:srgbClr val="FFFFFF"/>
          </a:solidFill>
          <a:ln w="9525">
            <a:solidFill>
              <a:srgbClr val="C9D3DF"/>
            </a:solidFill>
            <a:prstDash val="solid"/>
          </a:ln>
        </p:spPr>
      </p:sp>
      <p:sp>
        <p:nvSpPr>
          <p:cNvPr id="38" name="bang20_t3_0"/>
          <p:cNvSpPr txBox="1"/>
          <p:nvPr/>
        </p:nvSpPr>
        <p:spPr>
          <a:xfrm>
            <a:off x="512064" y="2599944"/>
            <a:ext cx="43891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3</a:t>
            </a:r>
            <a:endParaRPr lang="en-US" sz="1200" dirty="0"/>
          </a:p>
        </p:txBody>
      </p:sp>
      <p:sp>
        <p:nvSpPr>
          <p:cNvPr id="39" name="bang20_o3_1"/>
          <p:cNvSpPr/>
          <p:nvPr/>
        </p:nvSpPr>
        <p:spPr>
          <a:xfrm>
            <a:off x="1005840" y="2554224"/>
            <a:ext cx="1828800" cy="481584"/>
          </a:xfrm>
          <a:prstGeom prst="rect">
            <a:avLst/>
          </a:prstGeom>
          <a:solidFill>
            <a:srgbClr val="FFFFFF"/>
          </a:solidFill>
          <a:ln w="9525">
            <a:solidFill>
              <a:srgbClr val="C9D3DF"/>
            </a:solidFill>
            <a:prstDash val="solid"/>
          </a:ln>
        </p:spPr>
      </p:sp>
      <p:sp>
        <p:nvSpPr>
          <p:cNvPr id="40" name="bang20_t3_1"/>
          <p:cNvSpPr txBox="1"/>
          <p:nvPr/>
        </p:nvSpPr>
        <p:spPr>
          <a:xfrm>
            <a:off x="1060704" y="2599944"/>
            <a:ext cx="171907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Trần Quốc Hồng Danh</a:t>
            </a:r>
            <a:endParaRPr lang="en-US" sz="1200" dirty="0"/>
          </a:p>
        </p:txBody>
      </p:sp>
      <p:sp>
        <p:nvSpPr>
          <p:cNvPr id="41" name="bang20_o3_2"/>
          <p:cNvSpPr/>
          <p:nvPr/>
        </p:nvSpPr>
        <p:spPr>
          <a:xfrm>
            <a:off x="2834640" y="2554224"/>
            <a:ext cx="1463040" cy="481584"/>
          </a:xfrm>
          <a:prstGeom prst="rect">
            <a:avLst/>
          </a:prstGeom>
          <a:solidFill>
            <a:srgbClr val="FFFFFF"/>
          </a:solidFill>
          <a:ln w="9525">
            <a:solidFill>
              <a:srgbClr val="C9D3DF"/>
            </a:solidFill>
            <a:prstDash val="solid"/>
          </a:ln>
        </p:spPr>
      </p:sp>
      <p:sp>
        <p:nvSpPr>
          <p:cNvPr id="42" name="bang20_t3_2"/>
          <p:cNvSpPr txBox="1"/>
          <p:nvPr/>
        </p:nvSpPr>
        <p:spPr>
          <a:xfrm>
            <a:off x="2889504" y="2599944"/>
            <a:ext cx="135331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2671540483</a:t>
            </a:r>
            <a:endParaRPr lang="en-US" sz="1200" dirty="0"/>
          </a:p>
        </p:txBody>
      </p:sp>
      <p:sp>
        <p:nvSpPr>
          <p:cNvPr id="43" name="bang20_o3_3"/>
          <p:cNvSpPr/>
          <p:nvPr/>
        </p:nvSpPr>
        <p:spPr>
          <a:xfrm>
            <a:off x="4297680" y="2554224"/>
            <a:ext cx="2651760" cy="481584"/>
          </a:xfrm>
          <a:prstGeom prst="rect">
            <a:avLst/>
          </a:prstGeom>
          <a:solidFill>
            <a:srgbClr val="FFFFFF"/>
          </a:solidFill>
          <a:ln w="9525">
            <a:solidFill>
              <a:srgbClr val="C9D3DF"/>
            </a:solidFill>
            <a:prstDash val="solid"/>
          </a:ln>
        </p:spPr>
      </p:sp>
      <p:sp>
        <p:nvSpPr>
          <p:cNvPr id="44" name="bang20_t3_3"/>
          <p:cNvSpPr txBox="1"/>
          <p:nvPr/>
        </p:nvSpPr>
        <p:spPr>
          <a:xfrm>
            <a:off x="4352544" y="2599944"/>
            <a:ext cx="254203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C. Khách hàng và hội viên</a:t>
            </a:r>
            <a:endParaRPr lang="en-US" sz="1200" dirty="0"/>
          </a:p>
        </p:txBody>
      </p:sp>
      <p:sp>
        <p:nvSpPr>
          <p:cNvPr id="45" name="bang20_o3_4"/>
          <p:cNvSpPr/>
          <p:nvPr/>
        </p:nvSpPr>
        <p:spPr>
          <a:xfrm>
            <a:off x="6949440" y="2554224"/>
            <a:ext cx="3959352" cy="481584"/>
          </a:xfrm>
          <a:prstGeom prst="rect">
            <a:avLst/>
          </a:prstGeom>
          <a:solidFill>
            <a:srgbClr val="FFFFFF"/>
          </a:solidFill>
          <a:ln w="9525">
            <a:solidFill>
              <a:srgbClr val="C9D3DF"/>
            </a:solidFill>
            <a:prstDash val="solid"/>
          </a:ln>
        </p:spPr>
      </p:sp>
      <p:sp>
        <p:nvSpPr>
          <p:cNvPr id="46" name="bang20_t3_4"/>
          <p:cNvSpPr txBox="1"/>
          <p:nvPr/>
        </p:nvSpPr>
        <p:spPr>
          <a:xfrm>
            <a:off x="7004304" y="2599944"/>
            <a:ext cx="3849624"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KHACH_HANG, THE_HOI_VIEN, LICH_SU_TICH_DIEM</a:t>
            </a:r>
            <a:endParaRPr lang="en-US" sz="1200" dirty="0"/>
          </a:p>
        </p:txBody>
      </p:sp>
      <p:sp>
        <p:nvSpPr>
          <p:cNvPr id="47" name="bang20_o3_5"/>
          <p:cNvSpPr/>
          <p:nvPr/>
        </p:nvSpPr>
        <p:spPr>
          <a:xfrm>
            <a:off x="10908792" y="2554224"/>
            <a:ext cx="822960" cy="481584"/>
          </a:xfrm>
          <a:prstGeom prst="rect">
            <a:avLst/>
          </a:prstGeom>
          <a:solidFill>
            <a:srgbClr val="FFFFFF"/>
          </a:solidFill>
          <a:ln w="9525">
            <a:solidFill>
              <a:srgbClr val="C9D3DF"/>
            </a:solidFill>
            <a:prstDash val="solid"/>
          </a:ln>
        </p:spPr>
      </p:sp>
      <p:sp>
        <p:nvSpPr>
          <p:cNvPr id="48" name="bang20_o4_0"/>
          <p:cNvSpPr/>
          <p:nvPr/>
        </p:nvSpPr>
        <p:spPr>
          <a:xfrm>
            <a:off x="457200" y="3035808"/>
            <a:ext cx="548640" cy="481584"/>
          </a:xfrm>
          <a:prstGeom prst="rect">
            <a:avLst/>
          </a:prstGeom>
          <a:solidFill>
            <a:srgbClr val="F7F0E1"/>
          </a:solidFill>
          <a:ln w="9525">
            <a:solidFill>
              <a:srgbClr val="C9D3DF"/>
            </a:solidFill>
            <a:prstDash val="solid"/>
          </a:ln>
        </p:spPr>
      </p:sp>
      <p:sp>
        <p:nvSpPr>
          <p:cNvPr id="49" name="bang20_t4_0"/>
          <p:cNvSpPr txBox="1"/>
          <p:nvPr/>
        </p:nvSpPr>
        <p:spPr>
          <a:xfrm>
            <a:off x="512064" y="3081528"/>
            <a:ext cx="43891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4</a:t>
            </a:r>
            <a:endParaRPr lang="en-US" sz="1200" dirty="0"/>
          </a:p>
        </p:txBody>
      </p:sp>
      <p:sp>
        <p:nvSpPr>
          <p:cNvPr id="50" name="bang20_o4_1"/>
          <p:cNvSpPr/>
          <p:nvPr/>
        </p:nvSpPr>
        <p:spPr>
          <a:xfrm>
            <a:off x="1005840" y="3035808"/>
            <a:ext cx="1828800" cy="481584"/>
          </a:xfrm>
          <a:prstGeom prst="rect">
            <a:avLst/>
          </a:prstGeom>
          <a:solidFill>
            <a:srgbClr val="F7F0E1"/>
          </a:solidFill>
          <a:ln w="9525">
            <a:solidFill>
              <a:srgbClr val="C9D3DF"/>
            </a:solidFill>
            <a:prstDash val="solid"/>
          </a:ln>
        </p:spPr>
      </p:sp>
      <p:sp>
        <p:nvSpPr>
          <p:cNvPr id="51" name="bang20_t4_1"/>
          <p:cNvSpPr txBox="1"/>
          <p:nvPr/>
        </p:nvSpPr>
        <p:spPr>
          <a:xfrm>
            <a:off x="1060704" y="3081528"/>
            <a:ext cx="171907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Lê Nguyễn Trung Kiên</a:t>
            </a:r>
            <a:endParaRPr lang="en-US" sz="1200" dirty="0"/>
          </a:p>
        </p:txBody>
      </p:sp>
      <p:sp>
        <p:nvSpPr>
          <p:cNvPr id="52" name="bang20_o4_2"/>
          <p:cNvSpPr/>
          <p:nvPr/>
        </p:nvSpPr>
        <p:spPr>
          <a:xfrm>
            <a:off x="2834640" y="3035808"/>
            <a:ext cx="1463040" cy="481584"/>
          </a:xfrm>
          <a:prstGeom prst="rect">
            <a:avLst/>
          </a:prstGeom>
          <a:solidFill>
            <a:srgbClr val="F7F0E1"/>
          </a:solidFill>
          <a:ln w="9525">
            <a:solidFill>
              <a:srgbClr val="C9D3DF"/>
            </a:solidFill>
            <a:prstDash val="solid"/>
          </a:ln>
        </p:spPr>
      </p:sp>
      <p:sp>
        <p:nvSpPr>
          <p:cNvPr id="53" name="bang20_t4_2"/>
          <p:cNvSpPr txBox="1"/>
          <p:nvPr/>
        </p:nvSpPr>
        <p:spPr>
          <a:xfrm>
            <a:off x="2889504" y="3081528"/>
            <a:ext cx="135331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2671540153</a:t>
            </a:r>
            <a:endParaRPr lang="en-US" sz="1200" dirty="0"/>
          </a:p>
        </p:txBody>
      </p:sp>
      <p:sp>
        <p:nvSpPr>
          <p:cNvPr id="54" name="bang20_o4_3"/>
          <p:cNvSpPr/>
          <p:nvPr/>
        </p:nvSpPr>
        <p:spPr>
          <a:xfrm>
            <a:off x="4297680" y="3035808"/>
            <a:ext cx="2651760" cy="481584"/>
          </a:xfrm>
          <a:prstGeom prst="rect">
            <a:avLst/>
          </a:prstGeom>
          <a:solidFill>
            <a:srgbClr val="F7F0E1"/>
          </a:solidFill>
          <a:ln w="9525">
            <a:solidFill>
              <a:srgbClr val="C9D3DF"/>
            </a:solidFill>
            <a:prstDash val="solid"/>
          </a:ln>
        </p:spPr>
      </p:sp>
      <p:sp>
        <p:nvSpPr>
          <p:cNvPr id="55" name="bang20_t4_3"/>
          <p:cNvSpPr txBox="1"/>
          <p:nvPr/>
        </p:nvSpPr>
        <p:spPr>
          <a:xfrm>
            <a:off x="4352544" y="3081528"/>
            <a:ext cx="254203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D. Nhân sự và phi hành đoàn</a:t>
            </a:r>
            <a:endParaRPr lang="en-US" sz="1200" dirty="0"/>
          </a:p>
        </p:txBody>
      </p:sp>
      <p:sp>
        <p:nvSpPr>
          <p:cNvPr id="56" name="bang20_o4_4"/>
          <p:cNvSpPr/>
          <p:nvPr/>
        </p:nvSpPr>
        <p:spPr>
          <a:xfrm>
            <a:off x="6949440" y="3035808"/>
            <a:ext cx="3959352" cy="481584"/>
          </a:xfrm>
          <a:prstGeom prst="rect">
            <a:avLst/>
          </a:prstGeom>
          <a:solidFill>
            <a:srgbClr val="F7F0E1"/>
          </a:solidFill>
          <a:ln w="9525">
            <a:solidFill>
              <a:srgbClr val="C9D3DF"/>
            </a:solidFill>
            <a:prstDash val="solid"/>
          </a:ln>
        </p:spPr>
      </p:sp>
      <p:sp>
        <p:nvSpPr>
          <p:cNvPr id="57" name="bang20_t4_4"/>
          <p:cNvSpPr txBox="1"/>
          <p:nvPr/>
        </p:nvSpPr>
        <p:spPr>
          <a:xfrm>
            <a:off x="7004304" y="3081528"/>
            <a:ext cx="3849624"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NHAN_VIEN, PHI_CONG, TIEP_VIEN, PHONG_BAN, GIAY_PHEP_BAY</a:t>
            </a:r>
            <a:endParaRPr lang="en-US" sz="1200" dirty="0"/>
          </a:p>
        </p:txBody>
      </p:sp>
      <p:sp>
        <p:nvSpPr>
          <p:cNvPr id="58" name="bang20_o4_5"/>
          <p:cNvSpPr/>
          <p:nvPr/>
        </p:nvSpPr>
        <p:spPr>
          <a:xfrm>
            <a:off x="10908792" y="3035808"/>
            <a:ext cx="822960" cy="481584"/>
          </a:xfrm>
          <a:prstGeom prst="rect">
            <a:avLst/>
          </a:prstGeom>
          <a:solidFill>
            <a:srgbClr val="F7F0E1"/>
          </a:solidFill>
          <a:ln w="9525">
            <a:solidFill>
              <a:srgbClr val="C9D3DF"/>
            </a:solidFill>
            <a:prstDash val="solid"/>
          </a:ln>
        </p:spPr>
      </p:sp>
      <p:sp>
        <p:nvSpPr>
          <p:cNvPr id="59" name="bang20_o5_0"/>
          <p:cNvSpPr/>
          <p:nvPr/>
        </p:nvSpPr>
        <p:spPr>
          <a:xfrm>
            <a:off x="457200" y="3517392"/>
            <a:ext cx="548640" cy="481584"/>
          </a:xfrm>
          <a:prstGeom prst="rect">
            <a:avLst/>
          </a:prstGeom>
          <a:solidFill>
            <a:srgbClr val="FFFFFF"/>
          </a:solidFill>
          <a:ln w="9525">
            <a:solidFill>
              <a:srgbClr val="C9D3DF"/>
            </a:solidFill>
            <a:prstDash val="solid"/>
          </a:ln>
        </p:spPr>
      </p:sp>
      <p:sp>
        <p:nvSpPr>
          <p:cNvPr id="60" name="bang20_t5_0"/>
          <p:cNvSpPr txBox="1"/>
          <p:nvPr/>
        </p:nvSpPr>
        <p:spPr>
          <a:xfrm>
            <a:off x="512064" y="3563112"/>
            <a:ext cx="43891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5</a:t>
            </a:r>
            <a:endParaRPr lang="en-US" sz="1200" dirty="0"/>
          </a:p>
        </p:txBody>
      </p:sp>
      <p:sp>
        <p:nvSpPr>
          <p:cNvPr id="61" name="bang20_o5_1"/>
          <p:cNvSpPr/>
          <p:nvPr/>
        </p:nvSpPr>
        <p:spPr>
          <a:xfrm>
            <a:off x="1005840" y="3517392"/>
            <a:ext cx="1828800" cy="481584"/>
          </a:xfrm>
          <a:prstGeom prst="rect">
            <a:avLst/>
          </a:prstGeom>
          <a:solidFill>
            <a:srgbClr val="FFFFFF"/>
          </a:solidFill>
          <a:ln w="9525">
            <a:solidFill>
              <a:srgbClr val="C9D3DF"/>
            </a:solidFill>
            <a:prstDash val="solid"/>
          </a:ln>
        </p:spPr>
      </p:sp>
      <p:sp>
        <p:nvSpPr>
          <p:cNvPr id="62" name="bang20_t5_1"/>
          <p:cNvSpPr txBox="1"/>
          <p:nvPr/>
        </p:nvSpPr>
        <p:spPr>
          <a:xfrm>
            <a:off x="1060704" y="3563112"/>
            <a:ext cx="171907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Hoàng Thái Phong (NT)</a:t>
            </a:r>
            <a:endParaRPr lang="en-US" sz="1200" dirty="0"/>
          </a:p>
        </p:txBody>
      </p:sp>
      <p:sp>
        <p:nvSpPr>
          <p:cNvPr id="63" name="bang20_o5_2"/>
          <p:cNvSpPr/>
          <p:nvPr/>
        </p:nvSpPr>
        <p:spPr>
          <a:xfrm>
            <a:off x="2834640" y="3517392"/>
            <a:ext cx="1463040" cy="481584"/>
          </a:xfrm>
          <a:prstGeom prst="rect">
            <a:avLst/>
          </a:prstGeom>
          <a:solidFill>
            <a:srgbClr val="FFFFFF"/>
          </a:solidFill>
          <a:ln w="9525">
            <a:solidFill>
              <a:srgbClr val="C9D3DF"/>
            </a:solidFill>
            <a:prstDash val="solid"/>
          </a:ln>
        </p:spPr>
      </p:sp>
      <p:sp>
        <p:nvSpPr>
          <p:cNvPr id="64" name="bang20_t5_2"/>
          <p:cNvSpPr txBox="1"/>
          <p:nvPr/>
        </p:nvSpPr>
        <p:spPr>
          <a:xfrm>
            <a:off x="2889504" y="3563112"/>
            <a:ext cx="135331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2671540115</a:t>
            </a:r>
            <a:endParaRPr lang="en-US" sz="1200" dirty="0"/>
          </a:p>
        </p:txBody>
      </p:sp>
      <p:sp>
        <p:nvSpPr>
          <p:cNvPr id="65" name="bang20_o5_3"/>
          <p:cNvSpPr/>
          <p:nvPr/>
        </p:nvSpPr>
        <p:spPr>
          <a:xfrm>
            <a:off x="4297680" y="3517392"/>
            <a:ext cx="2651760" cy="481584"/>
          </a:xfrm>
          <a:prstGeom prst="rect">
            <a:avLst/>
          </a:prstGeom>
          <a:solidFill>
            <a:srgbClr val="FFFFFF"/>
          </a:solidFill>
          <a:ln w="9525">
            <a:solidFill>
              <a:srgbClr val="C9D3DF"/>
            </a:solidFill>
            <a:prstDash val="solid"/>
          </a:ln>
        </p:spPr>
      </p:sp>
      <p:sp>
        <p:nvSpPr>
          <p:cNvPr id="66" name="bang20_t5_3"/>
          <p:cNvSpPr txBox="1"/>
          <p:nvPr/>
        </p:nvSpPr>
        <p:spPr>
          <a:xfrm>
            <a:off x="4352544" y="3563112"/>
            <a:ext cx="254203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E. Hành lý và dịch vụ bổ sung</a:t>
            </a:r>
            <a:endParaRPr lang="en-US" sz="1200" dirty="0"/>
          </a:p>
        </p:txBody>
      </p:sp>
      <p:sp>
        <p:nvSpPr>
          <p:cNvPr id="67" name="bang20_o5_4"/>
          <p:cNvSpPr/>
          <p:nvPr/>
        </p:nvSpPr>
        <p:spPr>
          <a:xfrm>
            <a:off x="6949440" y="3517392"/>
            <a:ext cx="3959352" cy="481584"/>
          </a:xfrm>
          <a:prstGeom prst="rect">
            <a:avLst/>
          </a:prstGeom>
          <a:solidFill>
            <a:srgbClr val="FFFFFF"/>
          </a:solidFill>
          <a:ln w="9525">
            <a:solidFill>
              <a:srgbClr val="C9D3DF"/>
            </a:solidFill>
            <a:prstDash val="solid"/>
          </a:ln>
        </p:spPr>
      </p:sp>
      <p:sp>
        <p:nvSpPr>
          <p:cNvPr id="68" name="bang20_t5_4"/>
          <p:cNvSpPr txBox="1"/>
          <p:nvPr/>
        </p:nvSpPr>
        <p:spPr>
          <a:xfrm>
            <a:off x="7004304" y="3563112"/>
            <a:ext cx="3849624"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HANH_LY, DICH_VU_BO_SUNG, CHI_TIET_DICH_VU</a:t>
            </a:r>
            <a:endParaRPr lang="en-US" sz="1200" dirty="0"/>
          </a:p>
        </p:txBody>
      </p:sp>
      <p:sp>
        <p:nvSpPr>
          <p:cNvPr id="69" name="bang20_o5_5"/>
          <p:cNvSpPr/>
          <p:nvPr/>
        </p:nvSpPr>
        <p:spPr>
          <a:xfrm>
            <a:off x="10908792" y="3517392"/>
            <a:ext cx="822960" cy="481584"/>
          </a:xfrm>
          <a:prstGeom prst="rect">
            <a:avLst/>
          </a:prstGeom>
          <a:solidFill>
            <a:srgbClr val="FFFFFF"/>
          </a:solidFill>
          <a:ln w="9525">
            <a:solidFill>
              <a:srgbClr val="C9D3DF"/>
            </a:solidFill>
            <a:prstDash val="solid"/>
          </a:ln>
        </p:spPr>
      </p:sp>
      <p:sp>
        <p:nvSpPr>
          <p:cNvPr id="70" name="bang20_o6_0"/>
          <p:cNvSpPr/>
          <p:nvPr/>
        </p:nvSpPr>
        <p:spPr>
          <a:xfrm>
            <a:off x="457200" y="3998976"/>
            <a:ext cx="548640" cy="481584"/>
          </a:xfrm>
          <a:prstGeom prst="rect">
            <a:avLst/>
          </a:prstGeom>
          <a:solidFill>
            <a:srgbClr val="F7F0E1"/>
          </a:solidFill>
          <a:ln w="9525">
            <a:solidFill>
              <a:srgbClr val="C9D3DF"/>
            </a:solidFill>
            <a:prstDash val="solid"/>
          </a:ln>
        </p:spPr>
      </p:sp>
      <p:sp>
        <p:nvSpPr>
          <p:cNvPr id="71" name="bang20_t6_0"/>
          <p:cNvSpPr txBox="1"/>
          <p:nvPr/>
        </p:nvSpPr>
        <p:spPr>
          <a:xfrm>
            <a:off x="512064" y="4044696"/>
            <a:ext cx="43891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6</a:t>
            </a:r>
            <a:endParaRPr lang="en-US" sz="1200" dirty="0"/>
          </a:p>
        </p:txBody>
      </p:sp>
      <p:sp>
        <p:nvSpPr>
          <p:cNvPr id="72" name="bang20_o6_1"/>
          <p:cNvSpPr/>
          <p:nvPr/>
        </p:nvSpPr>
        <p:spPr>
          <a:xfrm>
            <a:off x="1005840" y="3998976"/>
            <a:ext cx="1828800" cy="481584"/>
          </a:xfrm>
          <a:prstGeom prst="rect">
            <a:avLst/>
          </a:prstGeom>
          <a:solidFill>
            <a:srgbClr val="F7F0E1"/>
          </a:solidFill>
          <a:ln w="9525">
            <a:solidFill>
              <a:srgbClr val="C9D3DF"/>
            </a:solidFill>
            <a:prstDash val="solid"/>
          </a:ln>
        </p:spPr>
      </p:sp>
      <p:sp>
        <p:nvSpPr>
          <p:cNvPr id="73" name="bang20_t6_1"/>
          <p:cNvSpPr txBox="1"/>
          <p:nvPr/>
        </p:nvSpPr>
        <p:spPr>
          <a:xfrm>
            <a:off x="1060704" y="4044696"/>
            <a:ext cx="171907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Nguyễn Vũ Trọng Nhân</a:t>
            </a:r>
            <a:endParaRPr lang="en-US" sz="1200" dirty="0"/>
          </a:p>
        </p:txBody>
      </p:sp>
      <p:sp>
        <p:nvSpPr>
          <p:cNvPr id="74" name="bang20_o6_2"/>
          <p:cNvSpPr/>
          <p:nvPr/>
        </p:nvSpPr>
        <p:spPr>
          <a:xfrm>
            <a:off x="2834640" y="3998976"/>
            <a:ext cx="1463040" cy="481584"/>
          </a:xfrm>
          <a:prstGeom prst="rect">
            <a:avLst/>
          </a:prstGeom>
          <a:solidFill>
            <a:srgbClr val="F7F0E1"/>
          </a:solidFill>
          <a:ln w="9525">
            <a:solidFill>
              <a:srgbClr val="C9D3DF"/>
            </a:solidFill>
            <a:prstDash val="solid"/>
          </a:ln>
        </p:spPr>
      </p:sp>
      <p:sp>
        <p:nvSpPr>
          <p:cNvPr id="75" name="bang20_t6_2"/>
          <p:cNvSpPr txBox="1"/>
          <p:nvPr/>
        </p:nvSpPr>
        <p:spPr>
          <a:xfrm>
            <a:off x="2889504" y="4044696"/>
            <a:ext cx="135331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2671540040</a:t>
            </a:r>
            <a:endParaRPr lang="en-US" sz="1200" dirty="0"/>
          </a:p>
        </p:txBody>
      </p:sp>
      <p:sp>
        <p:nvSpPr>
          <p:cNvPr id="76" name="bang20_o6_3"/>
          <p:cNvSpPr/>
          <p:nvPr/>
        </p:nvSpPr>
        <p:spPr>
          <a:xfrm>
            <a:off x="4297680" y="3998976"/>
            <a:ext cx="2651760" cy="481584"/>
          </a:xfrm>
          <a:prstGeom prst="rect">
            <a:avLst/>
          </a:prstGeom>
          <a:solidFill>
            <a:srgbClr val="F7F0E1"/>
          </a:solidFill>
          <a:ln w="9525">
            <a:solidFill>
              <a:srgbClr val="C9D3DF"/>
            </a:solidFill>
            <a:prstDash val="solid"/>
          </a:ln>
        </p:spPr>
      </p:sp>
      <p:sp>
        <p:nvSpPr>
          <p:cNvPr id="77" name="bang20_t6_3"/>
          <p:cNvSpPr txBox="1"/>
          <p:nvPr/>
        </p:nvSpPr>
        <p:spPr>
          <a:xfrm>
            <a:off x="4352544" y="4044696"/>
            <a:ext cx="254203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F. Thanh toán và hóa đơn</a:t>
            </a:r>
            <a:endParaRPr lang="en-US" sz="1200" dirty="0"/>
          </a:p>
        </p:txBody>
      </p:sp>
      <p:sp>
        <p:nvSpPr>
          <p:cNvPr id="78" name="bang20_o6_4"/>
          <p:cNvSpPr/>
          <p:nvPr/>
        </p:nvSpPr>
        <p:spPr>
          <a:xfrm>
            <a:off x="6949440" y="3998976"/>
            <a:ext cx="3959352" cy="481584"/>
          </a:xfrm>
          <a:prstGeom prst="rect">
            <a:avLst/>
          </a:prstGeom>
          <a:solidFill>
            <a:srgbClr val="F7F0E1"/>
          </a:solidFill>
          <a:ln w="9525">
            <a:solidFill>
              <a:srgbClr val="C9D3DF"/>
            </a:solidFill>
            <a:prstDash val="solid"/>
          </a:ln>
        </p:spPr>
      </p:sp>
      <p:sp>
        <p:nvSpPr>
          <p:cNvPr id="79" name="bang20_t6_4"/>
          <p:cNvSpPr txBox="1"/>
          <p:nvPr/>
        </p:nvSpPr>
        <p:spPr>
          <a:xfrm>
            <a:off x="7004304" y="4044696"/>
            <a:ext cx="3849624"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HOA_DON, GIAO_DICH_THANH_TOAN, MA_KHUYEN_MAI</a:t>
            </a:r>
            <a:endParaRPr lang="en-US" sz="1200" dirty="0"/>
          </a:p>
        </p:txBody>
      </p:sp>
      <p:sp>
        <p:nvSpPr>
          <p:cNvPr id="80" name="bang20_o6_5"/>
          <p:cNvSpPr/>
          <p:nvPr/>
        </p:nvSpPr>
        <p:spPr>
          <a:xfrm>
            <a:off x="10908792" y="3998976"/>
            <a:ext cx="822960" cy="481584"/>
          </a:xfrm>
          <a:prstGeom prst="rect">
            <a:avLst/>
          </a:prstGeom>
          <a:solidFill>
            <a:srgbClr val="F7F0E1"/>
          </a:solidFill>
          <a:ln w="9525">
            <a:solidFill>
              <a:srgbClr val="C9D3DF"/>
            </a:solidFill>
            <a:prstDash val="solid"/>
          </a:ln>
        </p:spPr>
      </p:sp>
      <p:sp>
        <p:nvSpPr>
          <p:cNvPr id="81" name="bang20_o7_0"/>
          <p:cNvSpPr/>
          <p:nvPr/>
        </p:nvSpPr>
        <p:spPr>
          <a:xfrm>
            <a:off x="457200" y="4480560"/>
            <a:ext cx="548640" cy="295656"/>
          </a:xfrm>
          <a:prstGeom prst="rect">
            <a:avLst/>
          </a:prstGeom>
          <a:solidFill>
            <a:srgbClr val="FFFFFF"/>
          </a:solidFill>
          <a:ln w="9525">
            <a:solidFill>
              <a:srgbClr val="C9D3DF"/>
            </a:solidFill>
            <a:prstDash val="solid"/>
          </a:ln>
        </p:spPr>
      </p:sp>
      <p:sp>
        <p:nvSpPr>
          <p:cNvPr id="82" name="bang20_o7_1"/>
          <p:cNvSpPr/>
          <p:nvPr/>
        </p:nvSpPr>
        <p:spPr>
          <a:xfrm>
            <a:off x="1005840" y="4480560"/>
            <a:ext cx="1828800" cy="295656"/>
          </a:xfrm>
          <a:prstGeom prst="rect">
            <a:avLst/>
          </a:prstGeom>
          <a:solidFill>
            <a:srgbClr val="FFFFFF"/>
          </a:solidFill>
          <a:ln w="9525">
            <a:solidFill>
              <a:srgbClr val="C9D3DF"/>
            </a:solidFill>
            <a:prstDash val="solid"/>
          </a:ln>
        </p:spPr>
      </p:sp>
      <p:sp>
        <p:nvSpPr>
          <p:cNvPr id="83" name="bang20_t7_1"/>
          <p:cNvSpPr txBox="1"/>
          <p:nvPr/>
        </p:nvSpPr>
        <p:spPr>
          <a:xfrm>
            <a:off x="1060704" y="4526280"/>
            <a:ext cx="1719072" cy="204216"/>
          </a:xfrm>
          <a:prstGeom prst="rect">
            <a:avLst/>
          </a:prstGeom>
          <a:noFill/>
          <a:ln/>
        </p:spPr>
        <p:txBody>
          <a:bodyPr wrap="square" lIns="0" tIns="0" rIns="0" bIns="0" rtlCol="0" anchor="t"/>
          <a:lstStyle/>
          <a:p>
            <a:pPr indent="0" marL="0">
              <a:buNone/>
            </a:pPr>
            <a:r>
              <a:rPr lang="en-US" sz="1200" b="1" dirty="0">
                <a:solidFill>
                  <a:srgbClr val="1F2933"/>
                </a:solidFill>
                <a:latin typeface="Arial" pitchFamily="34" charset="0"/>
                <a:ea typeface="Arial" pitchFamily="34" charset="-122"/>
                <a:cs typeface="Arial" pitchFamily="34" charset="-120"/>
              </a:rPr>
              <a:t>Tổng</a:t>
            </a:r>
            <a:endParaRPr lang="en-US" sz="1200" dirty="0"/>
          </a:p>
        </p:txBody>
      </p:sp>
      <p:sp>
        <p:nvSpPr>
          <p:cNvPr id="84" name="bang20_o7_2"/>
          <p:cNvSpPr/>
          <p:nvPr/>
        </p:nvSpPr>
        <p:spPr>
          <a:xfrm>
            <a:off x="2834640" y="4480560"/>
            <a:ext cx="1463040" cy="295656"/>
          </a:xfrm>
          <a:prstGeom prst="rect">
            <a:avLst/>
          </a:prstGeom>
          <a:solidFill>
            <a:srgbClr val="FFFFFF"/>
          </a:solidFill>
          <a:ln w="9525">
            <a:solidFill>
              <a:srgbClr val="C9D3DF"/>
            </a:solidFill>
            <a:prstDash val="solid"/>
          </a:ln>
        </p:spPr>
      </p:sp>
      <p:sp>
        <p:nvSpPr>
          <p:cNvPr id="85" name="bang20_o7_3"/>
          <p:cNvSpPr/>
          <p:nvPr/>
        </p:nvSpPr>
        <p:spPr>
          <a:xfrm>
            <a:off x="4297680" y="4480560"/>
            <a:ext cx="2651760" cy="295656"/>
          </a:xfrm>
          <a:prstGeom prst="rect">
            <a:avLst/>
          </a:prstGeom>
          <a:solidFill>
            <a:srgbClr val="FFFFFF"/>
          </a:solidFill>
          <a:ln w="9525">
            <a:solidFill>
              <a:srgbClr val="C9D3DF"/>
            </a:solidFill>
            <a:prstDash val="solid"/>
          </a:ln>
        </p:spPr>
      </p:sp>
      <p:sp>
        <p:nvSpPr>
          <p:cNvPr id="86" name="bang20_o7_4"/>
          <p:cNvSpPr/>
          <p:nvPr/>
        </p:nvSpPr>
        <p:spPr>
          <a:xfrm>
            <a:off x="6949440" y="4480560"/>
            <a:ext cx="3959352" cy="295656"/>
          </a:xfrm>
          <a:prstGeom prst="rect">
            <a:avLst/>
          </a:prstGeom>
          <a:solidFill>
            <a:srgbClr val="FFFFFF"/>
          </a:solidFill>
          <a:ln w="9525">
            <a:solidFill>
              <a:srgbClr val="C9D3DF"/>
            </a:solidFill>
            <a:prstDash val="solid"/>
          </a:ln>
        </p:spPr>
      </p:sp>
      <p:sp>
        <p:nvSpPr>
          <p:cNvPr id="87" name="bang20_o7_5"/>
          <p:cNvSpPr/>
          <p:nvPr/>
        </p:nvSpPr>
        <p:spPr>
          <a:xfrm>
            <a:off x="10908792" y="4480560"/>
            <a:ext cx="822960" cy="295656"/>
          </a:xfrm>
          <a:prstGeom prst="rect">
            <a:avLst/>
          </a:prstGeom>
          <a:solidFill>
            <a:srgbClr val="FFFFFF"/>
          </a:solidFill>
          <a:ln w="9525">
            <a:solidFill>
              <a:srgbClr val="C9D3DF"/>
            </a:solidFill>
            <a:prstDash val="solid"/>
          </a:ln>
        </p:spPr>
      </p:sp>
      <p:sp>
        <p:nvSpPr>
          <p:cNvPr id="88" name="bang20_t7_5"/>
          <p:cNvSpPr txBox="1"/>
          <p:nvPr/>
        </p:nvSpPr>
        <p:spPr>
          <a:xfrm>
            <a:off x="10963656" y="4526280"/>
            <a:ext cx="713232" cy="204216"/>
          </a:xfrm>
          <a:prstGeom prst="rect">
            <a:avLst/>
          </a:prstGeom>
          <a:noFill/>
          <a:ln/>
        </p:spPr>
        <p:txBody>
          <a:bodyPr wrap="square" lIns="0" tIns="0" rIns="0" bIns="0" rtlCol="0" anchor="t"/>
          <a:lstStyle/>
          <a:p>
            <a:pPr indent="0" marL="0">
              <a:buNone/>
            </a:pPr>
            <a:r>
              <a:rPr lang="en-US" sz="1200" b="1" dirty="0">
                <a:solidFill>
                  <a:srgbClr val="1F2933"/>
                </a:solidFill>
                <a:latin typeface="Arial" pitchFamily="34" charset="0"/>
                <a:ea typeface="Arial" pitchFamily="34" charset="-122"/>
                <a:cs typeface="Arial" pitchFamily="34" charset="-120"/>
              </a:rPr>
              <a:t>100%</a:t>
            </a:r>
            <a:endParaRPr lang="en-US" sz="1200" dirty="0"/>
          </a:p>
        </p:txBody>
      </p:sp>
      <p:sp>
        <p:nvSpPr>
          <p:cNvPr id="89" name="txt21"/>
          <p:cNvSpPr txBox="1"/>
          <p:nvPr/>
        </p:nvSpPr>
        <p:spPr>
          <a:xfrm>
            <a:off x="457200" y="5989320"/>
            <a:ext cx="7315200" cy="274320"/>
          </a:xfrm>
          <a:prstGeom prst="rect">
            <a:avLst/>
          </a:prstGeom>
          <a:noFill/>
          <a:ln/>
        </p:spPr>
        <p:txBody>
          <a:bodyPr wrap="square" lIns="0" tIns="0" rIns="0" bIns="0" rtlCol="0" anchor="ctr"/>
          <a:lstStyle/>
          <a:p>
            <a:pPr indent="0" marL="0">
              <a:buNone/>
            </a:pPr>
            <a:r>
              <a:rPr lang="en-US" sz="1100" i="1" dirty="0">
                <a:solidFill>
                  <a:srgbClr val="5F6B7A"/>
                </a:solidFill>
                <a:latin typeface="Arial" pitchFamily="34" charset="0"/>
                <a:ea typeface="Arial" pitchFamily="34" charset="-122"/>
                <a:cs typeface="Arial" pitchFamily="34" charset="-120"/>
              </a:rPr>
              <a:t>(NT) là nhóm trưởng. Tỷ lệ đóng góp do cả nhóm thống nhất.</a:t>
            </a:r>
            <a:endParaRPr lang="en-US" sz="11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Giới thiệu đề tài</a:t>
            </a:r>
            <a:endParaRPr lang="en-US" sz="2600" dirty="0"/>
          </a:p>
        </p:txBody>
      </p:sp>
      <p:sp>
        <p:nvSpPr>
          <p:cNvPr id="3" name="the_Tổ chức"/>
          <p:cNvSpPr/>
          <p:nvPr/>
        </p:nvSpPr>
        <p:spPr>
          <a:xfrm>
            <a:off x="457200" y="1481328"/>
            <a:ext cx="5486400" cy="2103120"/>
          </a:xfrm>
          <a:prstGeom prst="rect">
            <a:avLst/>
          </a:prstGeom>
          <a:solidFill>
            <a:srgbClr val="F7F0E1"/>
          </a:solidFill>
          <a:ln w="12700">
            <a:solidFill>
              <a:srgbClr val="E6D3AA"/>
            </a:solidFill>
            <a:prstDash val="solid"/>
          </a:ln>
        </p:spPr>
      </p:sp>
      <p:sp>
        <p:nvSpPr>
          <p:cNvPr id="4" name="txt22"/>
          <p:cNvSpPr txBox="1"/>
          <p:nvPr/>
        </p:nvSpPr>
        <p:spPr>
          <a:xfrm>
            <a:off x="731520" y="1682496"/>
            <a:ext cx="4937760" cy="365760"/>
          </a:xfrm>
          <a:prstGeom prst="rect">
            <a:avLst/>
          </a:prstGeom>
          <a:noFill/>
          <a:ln/>
        </p:spPr>
        <p:txBody>
          <a:bodyPr wrap="square" lIns="0" tIns="0" rIns="0" bIns="0" rtlCol="0" anchor="ctr"/>
          <a:lstStyle/>
          <a:p>
            <a:pPr indent="0" marL="0">
              <a:buNone/>
            </a:pPr>
            <a:r>
              <a:rPr lang="en-US" sz="1600" b="1" dirty="0">
                <a:solidFill>
                  <a:srgbClr val="8A6A2F"/>
                </a:solidFill>
                <a:latin typeface="Arial" pitchFamily="34" charset="0"/>
                <a:ea typeface="Arial" pitchFamily="34" charset="-122"/>
                <a:cs typeface="Arial" pitchFamily="34" charset="-120"/>
              </a:rPr>
              <a:t>Tổ chức</a:t>
            </a:r>
            <a:endParaRPr lang="en-US" sz="1600" dirty="0"/>
          </a:p>
        </p:txBody>
      </p:sp>
      <p:sp>
        <p:nvSpPr>
          <p:cNvPr id="5" name="txt23"/>
          <p:cNvSpPr txBox="1"/>
          <p:nvPr/>
        </p:nvSpPr>
        <p:spPr>
          <a:xfrm>
            <a:off x="731520" y="2121408"/>
            <a:ext cx="4937760" cy="1325880"/>
          </a:xfrm>
          <a:prstGeom prst="rect">
            <a:avLst/>
          </a:prstGeom>
          <a:noFill/>
          <a:ln/>
        </p:spPr>
        <p:txBody>
          <a:bodyPr wrap="square" lIns="0" tIns="0" rIns="0" bIns="0" rtlCol="0" anchor="t"/>
          <a:lstStyle/>
          <a:p>
            <a:pPr indent="0" marL="0">
              <a:buNone/>
            </a:pPr>
            <a:r>
              <a:rPr lang="en-US" sz="1500" dirty="0">
                <a:solidFill>
                  <a:srgbClr val="1F2933"/>
                </a:solidFill>
                <a:latin typeface="Arial" pitchFamily="34" charset="0"/>
                <a:ea typeface="Arial" pitchFamily="34" charset="-122"/>
                <a:cs typeface="Arial" pitchFamily="34" charset="-120"/>
              </a:rPr>
              <a:t>Vietnam Airlines, hãng hàng không quốc gia, bán vé qua website, ứng dụng, phòng vé và đại lý. Quy tắc được đơn giản hóa từ quy trình công khai.</a:t>
            </a:r>
            <a:endParaRPr lang="en-US" sz="1500" dirty="0"/>
          </a:p>
        </p:txBody>
      </p:sp>
      <p:sp>
        <p:nvSpPr>
          <p:cNvPr id="6" name="the_Mục tiêu"/>
          <p:cNvSpPr/>
          <p:nvPr/>
        </p:nvSpPr>
        <p:spPr>
          <a:xfrm>
            <a:off x="6190488" y="1481328"/>
            <a:ext cx="5486400" cy="2103120"/>
          </a:xfrm>
          <a:prstGeom prst="rect">
            <a:avLst/>
          </a:prstGeom>
          <a:solidFill>
            <a:srgbClr val="FFFFFF"/>
          </a:solidFill>
          <a:ln w="12700">
            <a:solidFill>
              <a:srgbClr val="E6D3AA"/>
            </a:solidFill>
            <a:prstDash val="solid"/>
          </a:ln>
        </p:spPr>
      </p:sp>
      <p:sp>
        <p:nvSpPr>
          <p:cNvPr id="7" name="txt24"/>
          <p:cNvSpPr txBox="1"/>
          <p:nvPr/>
        </p:nvSpPr>
        <p:spPr>
          <a:xfrm>
            <a:off x="6464808" y="1682496"/>
            <a:ext cx="4937760" cy="365760"/>
          </a:xfrm>
          <a:prstGeom prst="rect">
            <a:avLst/>
          </a:prstGeom>
          <a:noFill/>
          <a:ln/>
        </p:spPr>
        <p:txBody>
          <a:bodyPr wrap="square" lIns="0" tIns="0" rIns="0" bIns="0" rtlCol="0" anchor="ctr"/>
          <a:lstStyle/>
          <a:p>
            <a:pPr indent="0" marL="0">
              <a:buNone/>
            </a:pPr>
            <a:r>
              <a:rPr lang="en-US" sz="1600" b="1" dirty="0">
                <a:solidFill>
                  <a:srgbClr val="8A6A2F"/>
                </a:solidFill>
                <a:latin typeface="Arial" pitchFamily="34" charset="0"/>
                <a:ea typeface="Arial" pitchFamily="34" charset="-122"/>
                <a:cs typeface="Arial" pitchFamily="34" charset="-120"/>
              </a:rPr>
              <a:t>Mục tiêu</a:t>
            </a:r>
            <a:endParaRPr lang="en-US" sz="1600" dirty="0"/>
          </a:p>
        </p:txBody>
      </p:sp>
      <p:sp>
        <p:nvSpPr>
          <p:cNvPr id="8" name="txt25"/>
          <p:cNvSpPr txBox="1"/>
          <p:nvPr/>
        </p:nvSpPr>
        <p:spPr>
          <a:xfrm>
            <a:off x="6464808" y="2121408"/>
            <a:ext cx="4937760" cy="1325880"/>
          </a:xfrm>
          <a:prstGeom prst="rect">
            <a:avLst/>
          </a:prstGeom>
          <a:noFill/>
          <a:ln/>
        </p:spPr>
        <p:txBody>
          <a:bodyPr wrap="square" lIns="0" tIns="0" rIns="0" bIns="0" rtlCol="0" anchor="t"/>
          <a:lstStyle/>
          <a:p>
            <a:pPr indent="0" marL="0">
              <a:buNone/>
            </a:pPr>
            <a:r>
              <a:rPr lang="en-US" sz="1500" dirty="0">
                <a:solidFill>
                  <a:srgbClr val="1F2933"/>
                </a:solidFill>
                <a:latin typeface="Arial" pitchFamily="34" charset="0"/>
                <a:ea typeface="Arial" pitchFamily="34" charset="-122"/>
                <a:cs typeface="Arial" pitchFamily="34" charset="-120"/>
              </a:rPr>
              <a:t>Quản lý vòng đời một tấm vé: lịch bay, đặt chỗ, xuất vé, chọn ghế, hành lý và dịch vụ, tích điểm, hóa đơn; quản lý tổ bay từng chuyến.</a:t>
            </a:r>
            <a:endParaRPr lang="en-US" sz="1500" dirty="0"/>
          </a:p>
        </p:txBody>
      </p:sp>
      <p:sp>
        <p:nvSpPr>
          <p:cNvPr id="9" name="the_Người dùng"/>
          <p:cNvSpPr/>
          <p:nvPr/>
        </p:nvSpPr>
        <p:spPr>
          <a:xfrm>
            <a:off x="457200" y="3813048"/>
            <a:ext cx="5486400" cy="2103120"/>
          </a:xfrm>
          <a:prstGeom prst="rect">
            <a:avLst/>
          </a:prstGeom>
          <a:solidFill>
            <a:srgbClr val="FFFFFF"/>
          </a:solidFill>
          <a:ln w="12700">
            <a:solidFill>
              <a:srgbClr val="E6D3AA"/>
            </a:solidFill>
            <a:prstDash val="solid"/>
          </a:ln>
        </p:spPr>
      </p:sp>
      <p:sp>
        <p:nvSpPr>
          <p:cNvPr id="10" name="txt26"/>
          <p:cNvSpPr txBox="1"/>
          <p:nvPr/>
        </p:nvSpPr>
        <p:spPr>
          <a:xfrm>
            <a:off x="731520" y="4014216"/>
            <a:ext cx="4937760" cy="365760"/>
          </a:xfrm>
          <a:prstGeom prst="rect">
            <a:avLst/>
          </a:prstGeom>
          <a:noFill/>
          <a:ln/>
        </p:spPr>
        <p:txBody>
          <a:bodyPr wrap="square" lIns="0" tIns="0" rIns="0" bIns="0" rtlCol="0" anchor="ctr"/>
          <a:lstStyle/>
          <a:p>
            <a:pPr indent="0" marL="0">
              <a:buNone/>
            </a:pPr>
            <a:r>
              <a:rPr lang="en-US" sz="1600" b="1" dirty="0">
                <a:solidFill>
                  <a:srgbClr val="8A6A2F"/>
                </a:solidFill>
                <a:latin typeface="Arial" pitchFamily="34" charset="0"/>
                <a:ea typeface="Arial" pitchFamily="34" charset="-122"/>
                <a:cs typeface="Arial" pitchFamily="34" charset="-120"/>
              </a:rPr>
              <a:t>Người dùng</a:t>
            </a:r>
            <a:endParaRPr lang="en-US" sz="1600" dirty="0"/>
          </a:p>
        </p:txBody>
      </p:sp>
      <p:sp>
        <p:nvSpPr>
          <p:cNvPr id="11" name="txt27"/>
          <p:cNvSpPr txBox="1"/>
          <p:nvPr/>
        </p:nvSpPr>
        <p:spPr>
          <a:xfrm>
            <a:off x="731520" y="4453128"/>
            <a:ext cx="4937760" cy="1325880"/>
          </a:xfrm>
          <a:prstGeom prst="rect">
            <a:avLst/>
          </a:prstGeom>
          <a:noFill/>
          <a:ln/>
        </p:spPr>
        <p:txBody>
          <a:bodyPr wrap="square" lIns="0" tIns="0" rIns="0" bIns="0" rtlCol="0" anchor="t"/>
          <a:lstStyle/>
          <a:p>
            <a:pPr indent="0" marL="0">
              <a:buNone/>
            </a:pPr>
            <a:r>
              <a:rPr lang="en-US" sz="1500" dirty="0">
                <a:solidFill>
                  <a:srgbClr val="1F2933"/>
                </a:solidFill>
                <a:latin typeface="Arial" pitchFamily="34" charset="0"/>
                <a:ea typeface="Arial" pitchFamily="34" charset="-122"/>
                <a:cs typeface="Arial" pitchFamily="34" charset="-120"/>
              </a:rPr>
              <a:t>Khách hàng, nhân viên phòng vé, khai thác bay, điều hành bay và nhân sự, quầy thủ tục, chăm sóc hội viên, kế toán.</a:t>
            </a:r>
            <a:endParaRPr lang="en-US" sz="1500" dirty="0"/>
          </a:p>
        </p:txBody>
      </p:sp>
      <p:sp>
        <p:nvSpPr>
          <p:cNvPr id="12" name="the_Phạm vi"/>
          <p:cNvSpPr/>
          <p:nvPr/>
        </p:nvSpPr>
        <p:spPr>
          <a:xfrm>
            <a:off x="6190488" y="3813048"/>
            <a:ext cx="5486400" cy="2103120"/>
          </a:xfrm>
          <a:prstGeom prst="rect">
            <a:avLst/>
          </a:prstGeom>
          <a:solidFill>
            <a:srgbClr val="FFFFFF"/>
          </a:solidFill>
          <a:ln w="12700">
            <a:solidFill>
              <a:srgbClr val="E6D3AA"/>
            </a:solidFill>
            <a:prstDash val="solid"/>
          </a:ln>
        </p:spPr>
      </p:sp>
      <p:sp>
        <p:nvSpPr>
          <p:cNvPr id="13" name="txt28"/>
          <p:cNvSpPr txBox="1"/>
          <p:nvPr/>
        </p:nvSpPr>
        <p:spPr>
          <a:xfrm>
            <a:off x="6464808" y="4014216"/>
            <a:ext cx="4937760" cy="365760"/>
          </a:xfrm>
          <a:prstGeom prst="rect">
            <a:avLst/>
          </a:prstGeom>
          <a:noFill/>
          <a:ln/>
        </p:spPr>
        <p:txBody>
          <a:bodyPr wrap="square" lIns="0" tIns="0" rIns="0" bIns="0" rtlCol="0" anchor="ctr"/>
          <a:lstStyle/>
          <a:p>
            <a:pPr indent="0" marL="0">
              <a:buNone/>
            </a:pPr>
            <a:r>
              <a:rPr lang="en-US" sz="1600" b="1" dirty="0">
                <a:solidFill>
                  <a:srgbClr val="8A6A2F"/>
                </a:solidFill>
                <a:latin typeface="Arial" pitchFamily="34" charset="0"/>
                <a:ea typeface="Arial" pitchFamily="34" charset="-122"/>
                <a:cs typeface="Arial" pitchFamily="34" charset="-120"/>
              </a:rPr>
              <a:t>Phạm vi</a:t>
            </a:r>
            <a:endParaRPr lang="en-US" sz="1600" dirty="0"/>
          </a:p>
        </p:txBody>
      </p:sp>
      <p:sp>
        <p:nvSpPr>
          <p:cNvPr id="14" name="txt29"/>
          <p:cNvSpPr txBox="1"/>
          <p:nvPr/>
        </p:nvSpPr>
        <p:spPr>
          <a:xfrm>
            <a:off x="6464808" y="4453128"/>
            <a:ext cx="4937760" cy="1325880"/>
          </a:xfrm>
          <a:prstGeom prst="rect">
            <a:avLst/>
          </a:prstGeom>
          <a:noFill/>
          <a:ln/>
        </p:spPr>
        <p:txBody>
          <a:bodyPr wrap="square" lIns="0" tIns="0" rIns="0" bIns="0" rtlCol="0" anchor="t"/>
          <a:lstStyle/>
          <a:p>
            <a:pPr indent="0" marL="0">
              <a:buNone/>
            </a:pPr>
            <a:r>
              <a:rPr lang="en-US" sz="1500" dirty="0">
                <a:solidFill>
                  <a:srgbClr val="1F2933"/>
                </a:solidFill>
                <a:latin typeface="Arial" pitchFamily="34" charset="0"/>
                <a:ea typeface="Arial" pitchFamily="34" charset="-122"/>
                <a:cs typeface="Arial" pitchFamily="34" charset="-120"/>
              </a:rPr>
              <a:t>Sáu phân hệ A đến F. Ngoài phạm vi: giá vé động, làm thủ tục lên máy bay, bảo dưỡng máy bay, tiền lương.</a:t>
            </a:r>
            <a:endParaRPr lang="en-US" sz="15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Các phân hệ và mối nối</a:t>
            </a:r>
            <a:endParaRPr lang="en-US" sz="2600" dirty="0"/>
          </a:p>
        </p:txBody>
      </p:sp>
      <p:sp>
        <p:nvSpPr>
          <p:cNvPr id="3" name="noi_BC"/>
          <p:cNvSpPr/>
          <p:nvPr/>
        </p:nvSpPr>
        <p:spPr>
          <a:xfrm>
            <a:off x="5943600" y="3630168"/>
            <a:ext cx="914" cy="548640"/>
          </a:xfrm>
          <a:prstGeom prst="line">
            <a:avLst/>
          </a:prstGeom>
          <a:noFill/>
          <a:ln w="19050">
            <a:solidFill>
              <a:srgbClr val="8A6A2F"/>
            </a:solidFill>
            <a:prstDash val="solid"/>
          </a:ln>
        </p:spPr>
      </p:sp>
      <p:sp>
        <p:nvSpPr>
          <p:cNvPr id="4" name="txt30"/>
          <p:cNvSpPr txBox="1"/>
          <p:nvPr/>
        </p:nvSpPr>
        <p:spPr>
          <a:xfrm>
            <a:off x="6016752" y="3767328"/>
            <a:ext cx="1371600" cy="274320"/>
          </a:xfrm>
          <a:prstGeom prst="rect">
            <a:avLst/>
          </a:prstGeom>
          <a:noFill/>
          <a:ln/>
        </p:spPr>
        <p:txBody>
          <a:bodyPr wrap="square" lIns="0" tIns="0" rIns="0" bIns="0" rtlCol="0" anchor="ctr"/>
          <a:lstStyle/>
          <a:p>
            <a:pPr algn="l" indent="0" marL="0">
              <a:buNone/>
            </a:pPr>
            <a:r>
              <a:rPr lang="en-US" sz="1000" b="1" dirty="0">
                <a:solidFill>
                  <a:srgbClr val="8A6A2F"/>
                </a:solidFill>
                <a:latin typeface="Arial" pitchFamily="34" charset="0"/>
                <a:ea typeface="Arial" pitchFamily="34" charset="-122"/>
                <a:cs typeface="Arial" pitchFamily="34" charset="-120"/>
              </a:rPr>
              <a:t>LK05, LK12</a:t>
            </a:r>
            <a:endParaRPr lang="en-US" sz="1000" dirty="0"/>
          </a:p>
        </p:txBody>
      </p:sp>
      <p:sp>
        <p:nvSpPr>
          <p:cNvPr id="5" name="noi_AB"/>
          <p:cNvSpPr/>
          <p:nvPr/>
        </p:nvSpPr>
        <p:spPr>
          <a:xfrm>
            <a:off x="3730752" y="5070348"/>
            <a:ext cx="612648" cy="914"/>
          </a:xfrm>
          <a:prstGeom prst="line">
            <a:avLst/>
          </a:prstGeom>
          <a:noFill/>
          <a:ln w="19050">
            <a:solidFill>
              <a:srgbClr val="8A6A2F"/>
            </a:solidFill>
            <a:prstDash val="solid"/>
          </a:ln>
        </p:spPr>
      </p:sp>
      <p:sp>
        <p:nvSpPr>
          <p:cNvPr id="6" name="txt31"/>
          <p:cNvSpPr txBox="1"/>
          <p:nvPr/>
        </p:nvSpPr>
        <p:spPr>
          <a:xfrm>
            <a:off x="3744468" y="4613148"/>
            <a:ext cx="585216" cy="402336"/>
          </a:xfrm>
          <a:prstGeom prst="rect">
            <a:avLst/>
          </a:prstGeom>
          <a:noFill/>
          <a:ln/>
        </p:spPr>
        <p:txBody>
          <a:bodyPr wrap="square" lIns="0" tIns="0" rIns="0" bIns="0" rtlCol="0" anchor="b"/>
          <a:lstStyle/>
          <a:p>
            <a:pPr algn="ctr" indent="0" marL="0">
              <a:buNone/>
            </a:pPr>
            <a:r>
              <a:rPr lang="en-US" sz="900" b="1" dirty="0">
                <a:solidFill>
                  <a:srgbClr val="8A6A2F"/>
                </a:solidFill>
                <a:latin typeface="Arial" pitchFamily="34" charset="0"/>
                <a:ea typeface="Arial" pitchFamily="34" charset="-122"/>
                <a:cs typeface="Arial" pitchFamily="34" charset="-120"/>
              </a:rPr>
              <a:t>LK07</a:t>
            </a:r>
            <a:endParaRPr lang="en-US" sz="900" dirty="0"/>
          </a:p>
          <a:p>
            <a:pPr algn="ctr" indent="0" marL="0">
              <a:buNone/>
            </a:pPr>
            <a:r>
              <a:rPr lang="en-US" sz="900" b="1" dirty="0">
                <a:solidFill>
                  <a:srgbClr val="8A6A2F"/>
                </a:solidFill>
                <a:latin typeface="Arial" pitchFamily="34" charset="0"/>
                <a:ea typeface="Arial" pitchFamily="34" charset="-122"/>
                <a:cs typeface="Arial" pitchFamily="34" charset="-120"/>
              </a:rPr>
              <a:t>LK08</a:t>
            </a:r>
            <a:endParaRPr lang="en-US" sz="900" dirty="0"/>
          </a:p>
        </p:txBody>
      </p:sp>
      <p:sp>
        <p:nvSpPr>
          <p:cNvPr id="7" name="noi_AD"/>
          <p:cNvSpPr/>
          <p:nvPr/>
        </p:nvSpPr>
        <p:spPr>
          <a:xfrm>
            <a:off x="2130552" y="3630168"/>
            <a:ext cx="914" cy="548640"/>
          </a:xfrm>
          <a:prstGeom prst="line">
            <a:avLst/>
          </a:prstGeom>
          <a:noFill/>
          <a:ln w="19050">
            <a:solidFill>
              <a:srgbClr val="8A6A2F"/>
            </a:solidFill>
            <a:prstDash val="solid"/>
          </a:ln>
        </p:spPr>
      </p:sp>
      <p:sp>
        <p:nvSpPr>
          <p:cNvPr id="8" name="txt32"/>
          <p:cNvSpPr txBox="1"/>
          <p:nvPr/>
        </p:nvSpPr>
        <p:spPr>
          <a:xfrm>
            <a:off x="2203704" y="3767328"/>
            <a:ext cx="1371600" cy="274320"/>
          </a:xfrm>
          <a:prstGeom prst="rect">
            <a:avLst/>
          </a:prstGeom>
          <a:noFill/>
          <a:ln/>
        </p:spPr>
        <p:txBody>
          <a:bodyPr wrap="square" lIns="0" tIns="0" rIns="0" bIns="0" rtlCol="0" anchor="ctr"/>
          <a:lstStyle/>
          <a:p>
            <a:pPr algn="l" indent="0" marL="0">
              <a:buNone/>
            </a:pPr>
            <a:r>
              <a:rPr lang="en-US" sz="1000" b="1" dirty="0">
                <a:solidFill>
                  <a:srgbClr val="8A6A2F"/>
                </a:solidFill>
                <a:latin typeface="Arial" pitchFamily="34" charset="0"/>
                <a:ea typeface="Arial" pitchFamily="34" charset="-122"/>
                <a:cs typeface="Arial" pitchFamily="34" charset="-120"/>
              </a:rPr>
              <a:t>LK17, LK18</a:t>
            </a:r>
            <a:endParaRPr lang="en-US" sz="1000" dirty="0"/>
          </a:p>
        </p:txBody>
      </p:sp>
      <p:sp>
        <p:nvSpPr>
          <p:cNvPr id="9" name="noi_BE"/>
          <p:cNvSpPr/>
          <p:nvPr/>
        </p:nvSpPr>
        <p:spPr>
          <a:xfrm>
            <a:off x="7543800" y="5070348"/>
            <a:ext cx="612648" cy="914"/>
          </a:xfrm>
          <a:prstGeom prst="line">
            <a:avLst/>
          </a:prstGeom>
          <a:noFill/>
          <a:ln w="19050">
            <a:solidFill>
              <a:srgbClr val="8A6A2F"/>
            </a:solidFill>
            <a:prstDash val="solid"/>
          </a:ln>
        </p:spPr>
      </p:sp>
      <p:sp>
        <p:nvSpPr>
          <p:cNvPr id="10" name="txt33"/>
          <p:cNvSpPr txBox="1"/>
          <p:nvPr/>
        </p:nvSpPr>
        <p:spPr>
          <a:xfrm>
            <a:off x="7557516" y="4613148"/>
            <a:ext cx="585216" cy="402336"/>
          </a:xfrm>
          <a:prstGeom prst="rect">
            <a:avLst/>
          </a:prstGeom>
          <a:noFill/>
          <a:ln/>
        </p:spPr>
        <p:txBody>
          <a:bodyPr wrap="square" lIns="0" tIns="0" rIns="0" bIns="0" rtlCol="0" anchor="b"/>
          <a:lstStyle/>
          <a:p>
            <a:pPr algn="ctr" indent="0" marL="0">
              <a:buNone/>
            </a:pPr>
            <a:r>
              <a:rPr lang="en-US" sz="900" b="1" dirty="0">
                <a:solidFill>
                  <a:srgbClr val="8A6A2F"/>
                </a:solidFill>
                <a:latin typeface="Arial" pitchFamily="34" charset="0"/>
                <a:ea typeface="Arial" pitchFamily="34" charset="-122"/>
                <a:cs typeface="Arial" pitchFamily="34" charset="-120"/>
              </a:rPr>
              <a:t>LK19</a:t>
            </a:r>
            <a:endParaRPr lang="en-US" sz="900" dirty="0"/>
          </a:p>
          <a:p>
            <a:pPr algn="ctr" indent="0" marL="0">
              <a:buNone/>
            </a:pPr>
            <a:r>
              <a:rPr lang="en-US" sz="900" b="1" dirty="0">
                <a:solidFill>
                  <a:srgbClr val="8A6A2F"/>
                </a:solidFill>
                <a:latin typeface="Arial" pitchFamily="34" charset="0"/>
                <a:ea typeface="Arial" pitchFamily="34" charset="-122"/>
                <a:cs typeface="Arial" pitchFamily="34" charset="-120"/>
              </a:rPr>
              <a:t>LK20</a:t>
            </a:r>
            <a:endParaRPr lang="en-US" sz="900" dirty="0"/>
          </a:p>
        </p:txBody>
      </p:sp>
      <p:sp>
        <p:nvSpPr>
          <p:cNvPr id="11" name="noi_EF"/>
          <p:cNvSpPr/>
          <p:nvPr/>
        </p:nvSpPr>
        <p:spPr>
          <a:xfrm>
            <a:off x="9756648" y="3630168"/>
            <a:ext cx="914" cy="548640"/>
          </a:xfrm>
          <a:prstGeom prst="line">
            <a:avLst/>
          </a:prstGeom>
          <a:noFill/>
          <a:ln w="19050">
            <a:solidFill>
              <a:srgbClr val="8A6A2F"/>
            </a:solidFill>
            <a:prstDash val="solid"/>
          </a:ln>
        </p:spPr>
      </p:sp>
      <p:sp>
        <p:nvSpPr>
          <p:cNvPr id="12" name="txt34"/>
          <p:cNvSpPr txBox="1"/>
          <p:nvPr/>
        </p:nvSpPr>
        <p:spPr>
          <a:xfrm>
            <a:off x="9829800" y="3767328"/>
            <a:ext cx="1371600" cy="274320"/>
          </a:xfrm>
          <a:prstGeom prst="rect">
            <a:avLst/>
          </a:prstGeom>
          <a:noFill/>
          <a:ln/>
        </p:spPr>
        <p:txBody>
          <a:bodyPr wrap="square" lIns="0" tIns="0" rIns="0" bIns="0" rtlCol="0" anchor="ctr"/>
          <a:lstStyle/>
          <a:p>
            <a:pPr algn="l" indent="0" marL="0">
              <a:buNone/>
            </a:pPr>
            <a:r>
              <a:rPr lang="en-US" sz="1000" b="1" dirty="0">
                <a:solidFill>
                  <a:srgbClr val="8A6A2F"/>
                </a:solidFill>
                <a:latin typeface="Arial" pitchFamily="34" charset="0"/>
                <a:ea typeface="Arial" pitchFamily="34" charset="-122"/>
                <a:cs typeface="Arial" pitchFamily="34" charset="-120"/>
              </a:rPr>
              <a:t>LK22</a:t>
            </a:r>
            <a:endParaRPr lang="en-US" sz="1000" dirty="0"/>
          </a:p>
        </p:txBody>
      </p:sp>
      <p:sp>
        <p:nvSpPr>
          <p:cNvPr id="13" name="noi_BF"/>
          <p:cNvSpPr/>
          <p:nvPr/>
        </p:nvSpPr>
        <p:spPr>
          <a:xfrm flipV="1">
            <a:off x="7543800" y="3630168"/>
            <a:ext cx="612648" cy="548640"/>
          </a:xfrm>
          <a:prstGeom prst="line">
            <a:avLst/>
          </a:prstGeom>
          <a:noFill/>
          <a:ln w="19050">
            <a:solidFill>
              <a:srgbClr val="8A6A2F"/>
            </a:solidFill>
            <a:prstDash val="solid"/>
          </a:ln>
        </p:spPr>
      </p:sp>
      <p:sp>
        <p:nvSpPr>
          <p:cNvPr id="14" name="txt35"/>
          <p:cNvSpPr txBox="1"/>
          <p:nvPr/>
        </p:nvSpPr>
        <p:spPr>
          <a:xfrm>
            <a:off x="7164324" y="3575304"/>
            <a:ext cx="1371600" cy="274320"/>
          </a:xfrm>
          <a:prstGeom prst="rect">
            <a:avLst/>
          </a:prstGeom>
          <a:noFill/>
          <a:ln/>
        </p:spPr>
        <p:txBody>
          <a:bodyPr wrap="square" lIns="0" tIns="0" rIns="0" bIns="0" rtlCol="0" anchor="ctr"/>
          <a:lstStyle/>
          <a:p>
            <a:pPr algn="ctr" indent="0" marL="0">
              <a:buNone/>
            </a:pPr>
            <a:r>
              <a:rPr lang="en-US" sz="1000" b="1" dirty="0">
                <a:solidFill>
                  <a:srgbClr val="8A6A2F"/>
                </a:solidFill>
                <a:latin typeface="Arial" pitchFamily="34" charset="0"/>
                <a:ea typeface="Arial" pitchFamily="34" charset="-122"/>
                <a:cs typeface="Arial" pitchFamily="34" charset="-120"/>
              </a:rPr>
              <a:t>LK23</a:t>
            </a:r>
            <a:endParaRPr lang="en-US" sz="1000" dirty="0"/>
          </a:p>
        </p:txBody>
      </p:sp>
      <p:sp>
        <p:nvSpPr>
          <p:cNvPr id="15" name="noi_DF_1"/>
          <p:cNvSpPr/>
          <p:nvPr/>
        </p:nvSpPr>
        <p:spPr>
          <a:xfrm>
            <a:off x="2130552" y="1645920"/>
            <a:ext cx="914" cy="201168"/>
          </a:xfrm>
          <a:prstGeom prst="line">
            <a:avLst/>
          </a:prstGeom>
          <a:noFill/>
          <a:ln w="19050">
            <a:solidFill>
              <a:srgbClr val="8A6A2F"/>
            </a:solidFill>
            <a:prstDash val="solid"/>
          </a:ln>
        </p:spPr>
      </p:sp>
      <p:sp>
        <p:nvSpPr>
          <p:cNvPr id="16" name="noi_DF_2"/>
          <p:cNvSpPr/>
          <p:nvPr/>
        </p:nvSpPr>
        <p:spPr>
          <a:xfrm>
            <a:off x="2130552" y="1645920"/>
            <a:ext cx="7626096" cy="914"/>
          </a:xfrm>
          <a:prstGeom prst="line">
            <a:avLst/>
          </a:prstGeom>
          <a:noFill/>
          <a:ln w="19050">
            <a:solidFill>
              <a:srgbClr val="8A6A2F"/>
            </a:solidFill>
            <a:prstDash val="solid"/>
          </a:ln>
        </p:spPr>
      </p:sp>
      <p:sp>
        <p:nvSpPr>
          <p:cNvPr id="17" name="noi_DF_3"/>
          <p:cNvSpPr/>
          <p:nvPr/>
        </p:nvSpPr>
        <p:spPr>
          <a:xfrm>
            <a:off x="9756648" y="1645920"/>
            <a:ext cx="914" cy="201168"/>
          </a:xfrm>
          <a:prstGeom prst="line">
            <a:avLst/>
          </a:prstGeom>
          <a:noFill/>
          <a:ln w="19050">
            <a:solidFill>
              <a:srgbClr val="8A6A2F"/>
            </a:solidFill>
            <a:prstDash val="solid"/>
          </a:ln>
        </p:spPr>
      </p:sp>
      <p:sp>
        <p:nvSpPr>
          <p:cNvPr id="18" name="txt36"/>
          <p:cNvSpPr txBox="1"/>
          <p:nvPr/>
        </p:nvSpPr>
        <p:spPr>
          <a:xfrm>
            <a:off x="5257800" y="1399032"/>
            <a:ext cx="1371600" cy="228600"/>
          </a:xfrm>
          <a:prstGeom prst="rect">
            <a:avLst/>
          </a:prstGeom>
          <a:noFill/>
          <a:ln/>
        </p:spPr>
        <p:txBody>
          <a:bodyPr wrap="square" lIns="0" tIns="0" rIns="0" bIns="0" rtlCol="0" anchor="ctr"/>
          <a:lstStyle/>
          <a:p>
            <a:pPr algn="ctr" indent="0" marL="0">
              <a:buNone/>
            </a:pPr>
            <a:r>
              <a:rPr lang="en-US" sz="1000" b="1" dirty="0">
                <a:solidFill>
                  <a:srgbClr val="8A6A2F"/>
                </a:solidFill>
                <a:latin typeface="Arial" pitchFamily="34" charset="0"/>
                <a:ea typeface="Arial" pitchFamily="34" charset="-122"/>
                <a:cs typeface="Arial" pitchFamily="34" charset="-120"/>
              </a:rPr>
              <a:t>LK26</a:t>
            </a:r>
            <a:endParaRPr lang="en-US" sz="1000" dirty="0"/>
          </a:p>
        </p:txBody>
      </p:sp>
      <p:sp>
        <p:nvSpPr>
          <p:cNvPr id="19" name="phanhe_A"/>
          <p:cNvSpPr/>
          <p:nvPr/>
        </p:nvSpPr>
        <p:spPr>
          <a:xfrm>
            <a:off x="530352" y="4178808"/>
            <a:ext cx="3200400" cy="1783080"/>
          </a:xfrm>
          <a:prstGeom prst="rect">
            <a:avLst/>
          </a:prstGeom>
          <a:solidFill>
            <a:srgbClr val="FFFFFF"/>
          </a:solidFill>
          <a:ln w="15875">
            <a:solidFill>
              <a:srgbClr val="1F5FAD"/>
            </a:solidFill>
            <a:prstDash val="solid"/>
          </a:ln>
        </p:spPr>
      </p:sp>
      <p:sp>
        <p:nvSpPr>
          <p:cNvPr id="20" name="phanhe_dau_A"/>
          <p:cNvSpPr/>
          <p:nvPr/>
        </p:nvSpPr>
        <p:spPr>
          <a:xfrm>
            <a:off x="530352" y="4178808"/>
            <a:ext cx="3200400" cy="384048"/>
          </a:xfrm>
          <a:prstGeom prst="rect">
            <a:avLst/>
          </a:prstGeom>
          <a:solidFill>
            <a:srgbClr val="1F5FAD"/>
          </a:solidFill>
          <a:ln w="15875">
            <a:solidFill>
              <a:srgbClr val="1F5FAD"/>
            </a:solidFill>
            <a:prstDash val="solid"/>
          </a:ln>
        </p:spPr>
      </p:sp>
      <p:sp>
        <p:nvSpPr>
          <p:cNvPr id="21" name="txt37"/>
          <p:cNvSpPr txBox="1"/>
          <p:nvPr/>
        </p:nvSpPr>
        <p:spPr>
          <a:xfrm>
            <a:off x="667512" y="4178808"/>
            <a:ext cx="2926080"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 Chuyến bay và lịch trình</a:t>
            </a:r>
            <a:endParaRPr lang="en-US" sz="1300" dirty="0"/>
          </a:p>
        </p:txBody>
      </p:sp>
      <p:sp>
        <p:nvSpPr>
          <p:cNvPr id="22" name="txt38"/>
          <p:cNvSpPr txBox="1"/>
          <p:nvPr/>
        </p:nvSpPr>
        <p:spPr>
          <a:xfrm>
            <a:off x="667512" y="4636008"/>
            <a:ext cx="2926080" cy="292608"/>
          </a:xfrm>
          <a:prstGeom prst="rect">
            <a:avLst/>
          </a:prstGeom>
          <a:noFill/>
          <a:ln/>
        </p:spPr>
        <p:txBody>
          <a:bodyPr wrap="square" lIns="0" tIns="0" rIns="0" bIns="0" rtlCol="0" anchor="ctr"/>
          <a:lstStyle/>
          <a:p>
            <a:pPr indent="0" marL="0">
              <a:buNone/>
            </a:pPr>
            <a:r>
              <a:rPr lang="en-US" sz="1300" b="1" dirty="0">
                <a:solidFill>
                  <a:srgbClr val="8A6A2F"/>
                </a:solidFill>
                <a:latin typeface="Arial" pitchFamily="34" charset="0"/>
                <a:ea typeface="Arial" pitchFamily="34" charset="-122"/>
                <a:cs typeface="Arial" pitchFamily="34" charset="-120"/>
              </a:rPr>
              <a:t>Trần Tuấn Thành</a:t>
            </a:r>
            <a:endParaRPr lang="en-US" sz="1300" dirty="0"/>
          </a:p>
        </p:txBody>
      </p:sp>
      <p:sp>
        <p:nvSpPr>
          <p:cNvPr id="23" name="txt39"/>
          <p:cNvSpPr txBox="1"/>
          <p:nvPr/>
        </p:nvSpPr>
        <p:spPr>
          <a:xfrm>
            <a:off x="667512" y="4956048"/>
            <a:ext cx="2926080" cy="91440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SAN_BAY</a:t>
            </a:r>
            <a:endParaRPr lang="en-US" sz="1100" dirty="0"/>
          </a:p>
          <a:p>
            <a:pPr indent="0" marL="0">
              <a:buNone/>
            </a:pPr>
            <a:r>
              <a:rPr lang="en-US" sz="1100" dirty="0">
                <a:solidFill>
                  <a:srgbClr val="1F2933"/>
                </a:solidFill>
                <a:latin typeface="Arial" pitchFamily="34" charset="0"/>
                <a:ea typeface="Arial" pitchFamily="34" charset="-122"/>
                <a:cs typeface="Arial" pitchFamily="34" charset="-120"/>
              </a:rPr>
              <a:t>MAY_BAY</a:t>
            </a:r>
            <a:endParaRPr lang="en-US" sz="1100" dirty="0"/>
          </a:p>
          <a:p>
            <a:pPr indent="0" marL="0">
              <a:buNone/>
            </a:pPr>
            <a:r>
              <a:rPr lang="en-US" sz="1100" dirty="0">
                <a:solidFill>
                  <a:srgbClr val="1F2933"/>
                </a:solidFill>
                <a:latin typeface="Arial" pitchFamily="34" charset="0"/>
                <a:ea typeface="Arial" pitchFamily="34" charset="-122"/>
                <a:cs typeface="Arial" pitchFamily="34" charset="-120"/>
              </a:rPr>
              <a:t>CHUYEN_BAY</a:t>
            </a:r>
            <a:endParaRPr lang="en-US" sz="1100" dirty="0"/>
          </a:p>
        </p:txBody>
      </p:sp>
      <p:sp>
        <p:nvSpPr>
          <p:cNvPr id="24" name="phanhe_B"/>
          <p:cNvSpPr/>
          <p:nvPr/>
        </p:nvSpPr>
        <p:spPr>
          <a:xfrm>
            <a:off x="4343400" y="4178808"/>
            <a:ext cx="3200400" cy="1783080"/>
          </a:xfrm>
          <a:prstGeom prst="rect">
            <a:avLst/>
          </a:prstGeom>
          <a:solidFill>
            <a:srgbClr val="FFFFFF"/>
          </a:solidFill>
          <a:ln w="15875">
            <a:solidFill>
              <a:srgbClr val="1F5FAD"/>
            </a:solidFill>
            <a:prstDash val="solid"/>
          </a:ln>
        </p:spPr>
      </p:sp>
      <p:sp>
        <p:nvSpPr>
          <p:cNvPr id="25" name="phanhe_dau_B"/>
          <p:cNvSpPr/>
          <p:nvPr/>
        </p:nvSpPr>
        <p:spPr>
          <a:xfrm>
            <a:off x="4343400" y="4178808"/>
            <a:ext cx="3200400" cy="384048"/>
          </a:xfrm>
          <a:prstGeom prst="rect">
            <a:avLst/>
          </a:prstGeom>
          <a:solidFill>
            <a:srgbClr val="1F5FAD"/>
          </a:solidFill>
          <a:ln w="15875">
            <a:solidFill>
              <a:srgbClr val="1F5FAD"/>
            </a:solidFill>
            <a:prstDash val="solid"/>
          </a:ln>
        </p:spPr>
      </p:sp>
      <p:sp>
        <p:nvSpPr>
          <p:cNvPr id="26" name="txt40"/>
          <p:cNvSpPr txBox="1"/>
          <p:nvPr/>
        </p:nvSpPr>
        <p:spPr>
          <a:xfrm>
            <a:off x="4480560" y="4178808"/>
            <a:ext cx="2926080"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 Đặt chỗ và vé máy bay</a:t>
            </a:r>
            <a:endParaRPr lang="en-US" sz="1300" dirty="0"/>
          </a:p>
        </p:txBody>
      </p:sp>
      <p:sp>
        <p:nvSpPr>
          <p:cNvPr id="27" name="txt41"/>
          <p:cNvSpPr txBox="1"/>
          <p:nvPr/>
        </p:nvSpPr>
        <p:spPr>
          <a:xfrm>
            <a:off x="4480560" y="4636008"/>
            <a:ext cx="2926080" cy="292608"/>
          </a:xfrm>
          <a:prstGeom prst="rect">
            <a:avLst/>
          </a:prstGeom>
          <a:noFill/>
          <a:ln/>
        </p:spPr>
        <p:txBody>
          <a:bodyPr wrap="square" lIns="0" tIns="0" rIns="0" bIns="0" rtlCol="0" anchor="ctr"/>
          <a:lstStyle/>
          <a:p>
            <a:pPr indent="0" marL="0">
              <a:buNone/>
            </a:pPr>
            <a:r>
              <a:rPr lang="en-US" sz="1300" b="1" dirty="0">
                <a:solidFill>
                  <a:srgbClr val="8A6A2F"/>
                </a:solidFill>
                <a:latin typeface="Arial" pitchFamily="34" charset="0"/>
                <a:ea typeface="Arial" pitchFamily="34" charset="-122"/>
                <a:cs typeface="Arial" pitchFamily="34" charset="-120"/>
              </a:rPr>
              <a:t>Vũ Tuyết Phương Vy</a:t>
            </a:r>
            <a:endParaRPr lang="en-US" sz="1300" dirty="0"/>
          </a:p>
        </p:txBody>
      </p:sp>
      <p:sp>
        <p:nvSpPr>
          <p:cNvPr id="28" name="txt42"/>
          <p:cNvSpPr txBox="1"/>
          <p:nvPr/>
        </p:nvSpPr>
        <p:spPr>
          <a:xfrm>
            <a:off x="4480560" y="4956048"/>
            <a:ext cx="2926080" cy="91440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DAT_CHO</a:t>
            </a:r>
            <a:endParaRPr lang="en-US" sz="1100" dirty="0"/>
          </a:p>
          <a:p>
            <a:pPr indent="0" marL="0">
              <a:buNone/>
            </a:pPr>
            <a:r>
              <a:rPr lang="en-US" sz="1100" dirty="0">
                <a:solidFill>
                  <a:srgbClr val="1F2933"/>
                </a:solidFill>
                <a:latin typeface="Arial" pitchFamily="34" charset="0"/>
                <a:ea typeface="Arial" pitchFamily="34" charset="-122"/>
                <a:cs typeface="Arial" pitchFamily="34" charset="-120"/>
              </a:rPr>
              <a:t>GHE_NGOI</a:t>
            </a:r>
            <a:endParaRPr lang="en-US" sz="1100" dirty="0"/>
          </a:p>
          <a:p>
            <a:pPr indent="0" marL="0">
              <a:buNone/>
            </a:pPr>
            <a:r>
              <a:rPr lang="en-US" sz="1100" dirty="0">
                <a:solidFill>
                  <a:srgbClr val="1F2933"/>
                </a:solidFill>
                <a:latin typeface="Arial" pitchFamily="34" charset="0"/>
                <a:ea typeface="Arial" pitchFamily="34" charset="-122"/>
                <a:cs typeface="Arial" pitchFamily="34" charset="-120"/>
              </a:rPr>
              <a:t>VE_MAY_BAY</a:t>
            </a:r>
            <a:endParaRPr lang="en-US" sz="1100" dirty="0"/>
          </a:p>
        </p:txBody>
      </p:sp>
      <p:sp>
        <p:nvSpPr>
          <p:cNvPr id="29" name="phanhe_C"/>
          <p:cNvSpPr/>
          <p:nvPr/>
        </p:nvSpPr>
        <p:spPr>
          <a:xfrm>
            <a:off x="4343400" y="1847088"/>
            <a:ext cx="3200400" cy="1783080"/>
          </a:xfrm>
          <a:prstGeom prst="rect">
            <a:avLst/>
          </a:prstGeom>
          <a:solidFill>
            <a:srgbClr val="FFFFFF"/>
          </a:solidFill>
          <a:ln w="15875">
            <a:solidFill>
              <a:srgbClr val="1F5FAD"/>
            </a:solidFill>
            <a:prstDash val="solid"/>
          </a:ln>
        </p:spPr>
      </p:sp>
      <p:sp>
        <p:nvSpPr>
          <p:cNvPr id="30" name="phanhe_dau_C"/>
          <p:cNvSpPr/>
          <p:nvPr/>
        </p:nvSpPr>
        <p:spPr>
          <a:xfrm>
            <a:off x="4343400" y="1847088"/>
            <a:ext cx="3200400" cy="384048"/>
          </a:xfrm>
          <a:prstGeom prst="rect">
            <a:avLst/>
          </a:prstGeom>
          <a:solidFill>
            <a:srgbClr val="1F5FAD"/>
          </a:solidFill>
          <a:ln w="15875">
            <a:solidFill>
              <a:srgbClr val="1F5FAD"/>
            </a:solidFill>
            <a:prstDash val="solid"/>
          </a:ln>
        </p:spPr>
      </p:sp>
      <p:sp>
        <p:nvSpPr>
          <p:cNvPr id="31" name="txt43"/>
          <p:cNvSpPr txBox="1"/>
          <p:nvPr/>
        </p:nvSpPr>
        <p:spPr>
          <a:xfrm>
            <a:off x="4480560" y="1847088"/>
            <a:ext cx="2926080"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 Khách hàng và hội viên</a:t>
            </a:r>
            <a:endParaRPr lang="en-US" sz="1300" dirty="0"/>
          </a:p>
        </p:txBody>
      </p:sp>
      <p:sp>
        <p:nvSpPr>
          <p:cNvPr id="32" name="txt44"/>
          <p:cNvSpPr txBox="1"/>
          <p:nvPr/>
        </p:nvSpPr>
        <p:spPr>
          <a:xfrm>
            <a:off x="4480560" y="2304288"/>
            <a:ext cx="2926080" cy="292608"/>
          </a:xfrm>
          <a:prstGeom prst="rect">
            <a:avLst/>
          </a:prstGeom>
          <a:noFill/>
          <a:ln/>
        </p:spPr>
        <p:txBody>
          <a:bodyPr wrap="square" lIns="0" tIns="0" rIns="0" bIns="0" rtlCol="0" anchor="ctr"/>
          <a:lstStyle/>
          <a:p>
            <a:pPr indent="0" marL="0">
              <a:buNone/>
            </a:pPr>
            <a:r>
              <a:rPr lang="en-US" sz="1300" b="1" dirty="0">
                <a:solidFill>
                  <a:srgbClr val="8A6A2F"/>
                </a:solidFill>
                <a:latin typeface="Arial" pitchFamily="34" charset="0"/>
                <a:ea typeface="Arial" pitchFamily="34" charset="-122"/>
                <a:cs typeface="Arial" pitchFamily="34" charset="-120"/>
              </a:rPr>
              <a:t>Trần Quốc Hồng Danh</a:t>
            </a:r>
            <a:endParaRPr lang="en-US" sz="1300" dirty="0"/>
          </a:p>
        </p:txBody>
      </p:sp>
      <p:sp>
        <p:nvSpPr>
          <p:cNvPr id="33" name="txt45"/>
          <p:cNvSpPr txBox="1"/>
          <p:nvPr/>
        </p:nvSpPr>
        <p:spPr>
          <a:xfrm>
            <a:off x="4480560" y="2624328"/>
            <a:ext cx="2926080" cy="91440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KHACH_HANG</a:t>
            </a:r>
            <a:endParaRPr lang="en-US" sz="1100" dirty="0"/>
          </a:p>
          <a:p>
            <a:pPr indent="0" marL="0">
              <a:buNone/>
            </a:pPr>
            <a:r>
              <a:rPr lang="en-US" sz="1100" dirty="0">
                <a:solidFill>
                  <a:srgbClr val="1F2933"/>
                </a:solidFill>
                <a:latin typeface="Arial" pitchFamily="34" charset="0"/>
                <a:ea typeface="Arial" pitchFamily="34" charset="-122"/>
                <a:cs typeface="Arial" pitchFamily="34" charset="-120"/>
              </a:rPr>
              <a:t>THE_HOI_VIEN</a:t>
            </a:r>
            <a:endParaRPr lang="en-US" sz="1100" dirty="0"/>
          </a:p>
          <a:p>
            <a:pPr indent="0" marL="0">
              <a:buNone/>
            </a:pPr>
            <a:r>
              <a:rPr lang="en-US" sz="1100" dirty="0">
                <a:solidFill>
                  <a:srgbClr val="1F2933"/>
                </a:solidFill>
                <a:latin typeface="Arial" pitchFamily="34" charset="0"/>
                <a:ea typeface="Arial" pitchFamily="34" charset="-122"/>
                <a:cs typeface="Arial" pitchFamily="34" charset="-120"/>
              </a:rPr>
              <a:t>LICH_SU_TICH_DIEM</a:t>
            </a:r>
            <a:endParaRPr lang="en-US" sz="1100" dirty="0"/>
          </a:p>
        </p:txBody>
      </p:sp>
      <p:sp>
        <p:nvSpPr>
          <p:cNvPr id="34" name="phanhe_D"/>
          <p:cNvSpPr/>
          <p:nvPr/>
        </p:nvSpPr>
        <p:spPr>
          <a:xfrm>
            <a:off x="530352" y="1847088"/>
            <a:ext cx="3200400" cy="1783080"/>
          </a:xfrm>
          <a:prstGeom prst="rect">
            <a:avLst/>
          </a:prstGeom>
          <a:solidFill>
            <a:srgbClr val="FFFFFF"/>
          </a:solidFill>
          <a:ln w="15875">
            <a:solidFill>
              <a:srgbClr val="1F5FAD"/>
            </a:solidFill>
            <a:prstDash val="solid"/>
          </a:ln>
        </p:spPr>
      </p:sp>
      <p:sp>
        <p:nvSpPr>
          <p:cNvPr id="35" name="phanhe_dau_D"/>
          <p:cNvSpPr/>
          <p:nvPr/>
        </p:nvSpPr>
        <p:spPr>
          <a:xfrm>
            <a:off x="530352" y="1847088"/>
            <a:ext cx="3200400" cy="384048"/>
          </a:xfrm>
          <a:prstGeom prst="rect">
            <a:avLst/>
          </a:prstGeom>
          <a:solidFill>
            <a:srgbClr val="1F5FAD"/>
          </a:solidFill>
          <a:ln w="15875">
            <a:solidFill>
              <a:srgbClr val="1F5FAD"/>
            </a:solidFill>
            <a:prstDash val="solid"/>
          </a:ln>
        </p:spPr>
      </p:sp>
      <p:sp>
        <p:nvSpPr>
          <p:cNvPr id="36" name="txt46"/>
          <p:cNvSpPr txBox="1"/>
          <p:nvPr/>
        </p:nvSpPr>
        <p:spPr>
          <a:xfrm>
            <a:off x="667512" y="1847088"/>
            <a:ext cx="2926080"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 Nhân sự và phi hành đoàn</a:t>
            </a:r>
            <a:endParaRPr lang="en-US" sz="1300" dirty="0"/>
          </a:p>
        </p:txBody>
      </p:sp>
      <p:sp>
        <p:nvSpPr>
          <p:cNvPr id="37" name="txt47"/>
          <p:cNvSpPr txBox="1"/>
          <p:nvPr/>
        </p:nvSpPr>
        <p:spPr>
          <a:xfrm>
            <a:off x="667512" y="2304288"/>
            <a:ext cx="2926080" cy="292608"/>
          </a:xfrm>
          <a:prstGeom prst="rect">
            <a:avLst/>
          </a:prstGeom>
          <a:noFill/>
          <a:ln/>
        </p:spPr>
        <p:txBody>
          <a:bodyPr wrap="square" lIns="0" tIns="0" rIns="0" bIns="0" rtlCol="0" anchor="ctr"/>
          <a:lstStyle/>
          <a:p>
            <a:pPr indent="0" marL="0">
              <a:buNone/>
            </a:pPr>
            <a:r>
              <a:rPr lang="en-US" sz="1300" b="1" dirty="0">
                <a:solidFill>
                  <a:srgbClr val="8A6A2F"/>
                </a:solidFill>
                <a:latin typeface="Arial" pitchFamily="34" charset="0"/>
                <a:ea typeface="Arial" pitchFamily="34" charset="-122"/>
                <a:cs typeface="Arial" pitchFamily="34" charset="-120"/>
              </a:rPr>
              <a:t>Lê Nguyễn Trung Kiên</a:t>
            </a:r>
            <a:endParaRPr lang="en-US" sz="1300" dirty="0"/>
          </a:p>
        </p:txBody>
      </p:sp>
      <p:sp>
        <p:nvSpPr>
          <p:cNvPr id="38" name="txt48"/>
          <p:cNvSpPr txBox="1"/>
          <p:nvPr/>
        </p:nvSpPr>
        <p:spPr>
          <a:xfrm>
            <a:off x="667512" y="2624328"/>
            <a:ext cx="2926080" cy="91440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NHAN_VIEN</a:t>
            </a:r>
            <a:endParaRPr lang="en-US" sz="1100" dirty="0"/>
          </a:p>
          <a:p>
            <a:pPr indent="0" marL="0">
              <a:buNone/>
            </a:pPr>
            <a:r>
              <a:rPr lang="en-US" sz="1100" dirty="0">
                <a:solidFill>
                  <a:srgbClr val="1F2933"/>
                </a:solidFill>
                <a:latin typeface="Arial" pitchFamily="34" charset="0"/>
                <a:ea typeface="Arial" pitchFamily="34" charset="-122"/>
                <a:cs typeface="Arial" pitchFamily="34" charset="-120"/>
              </a:rPr>
              <a:t>PHI_CONG (lớp con)</a:t>
            </a:r>
            <a:endParaRPr lang="en-US" sz="1100" dirty="0"/>
          </a:p>
          <a:p>
            <a:pPr indent="0" marL="0">
              <a:buNone/>
            </a:pPr>
            <a:r>
              <a:rPr lang="en-US" sz="1100" dirty="0">
                <a:solidFill>
                  <a:srgbClr val="1F2933"/>
                </a:solidFill>
                <a:latin typeface="Arial" pitchFamily="34" charset="0"/>
                <a:ea typeface="Arial" pitchFamily="34" charset="-122"/>
                <a:cs typeface="Arial" pitchFamily="34" charset="-120"/>
              </a:rPr>
              <a:t>TIEP_VIEN (lớp con)</a:t>
            </a:r>
            <a:endParaRPr lang="en-US" sz="1100" dirty="0"/>
          </a:p>
          <a:p>
            <a:pPr indent="0" marL="0">
              <a:buNone/>
            </a:pPr>
            <a:r>
              <a:rPr lang="en-US" sz="1100" dirty="0">
                <a:solidFill>
                  <a:srgbClr val="1F2933"/>
                </a:solidFill>
                <a:latin typeface="Arial" pitchFamily="34" charset="0"/>
                <a:ea typeface="Arial" pitchFamily="34" charset="-122"/>
                <a:cs typeface="Arial" pitchFamily="34" charset="-120"/>
              </a:rPr>
              <a:t>PHONG_BAN</a:t>
            </a:r>
            <a:endParaRPr lang="en-US" sz="1100" dirty="0"/>
          </a:p>
          <a:p>
            <a:pPr indent="0" marL="0">
              <a:buNone/>
            </a:pPr>
            <a:r>
              <a:rPr lang="en-US" sz="1100" dirty="0">
                <a:solidFill>
                  <a:srgbClr val="1F2933"/>
                </a:solidFill>
                <a:latin typeface="Arial" pitchFamily="34" charset="0"/>
                <a:ea typeface="Arial" pitchFamily="34" charset="-122"/>
                <a:cs typeface="Arial" pitchFamily="34" charset="-120"/>
              </a:rPr>
              <a:t>GIAY_PHEP_BAY</a:t>
            </a:r>
            <a:endParaRPr lang="en-US" sz="1100" dirty="0"/>
          </a:p>
        </p:txBody>
      </p:sp>
      <p:sp>
        <p:nvSpPr>
          <p:cNvPr id="39" name="phanhe_E"/>
          <p:cNvSpPr/>
          <p:nvPr/>
        </p:nvSpPr>
        <p:spPr>
          <a:xfrm>
            <a:off x="8156448" y="4178808"/>
            <a:ext cx="3200400" cy="1783080"/>
          </a:xfrm>
          <a:prstGeom prst="rect">
            <a:avLst/>
          </a:prstGeom>
          <a:solidFill>
            <a:srgbClr val="FFFFFF"/>
          </a:solidFill>
          <a:ln w="15875">
            <a:solidFill>
              <a:srgbClr val="1F5FAD"/>
            </a:solidFill>
            <a:prstDash val="solid"/>
          </a:ln>
        </p:spPr>
      </p:sp>
      <p:sp>
        <p:nvSpPr>
          <p:cNvPr id="40" name="phanhe_dau_E"/>
          <p:cNvSpPr/>
          <p:nvPr/>
        </p:nvSpPr>
        <p:spPr>
          <a:xfrm>
            <a:off x="8156448" y="4178808"/>
            <a:ext cx="3200400" cy="384048"/>
          </a:xfrm>
          <a:prstGeom prst="rect">
            <a:avLst/>
          </a:prstGeom>
          <a:solidFill>
            <a:srgbClr val="1F5FAD"/>
          </a:solidFill>
          <a:ln w="15875">
            <a:solidFill>
              <a:srgbClr val="1F5FAD"/>
            </a:solidFill>
            <a:prstDash val="solid"/>
          </a:ln>
        </p:spPr>
      </p:sp>
      <p:sp>
        <p:nvSpPr>
          <p:cNvPr id="41" name="txt49"/>
          <p:cNvSpPr txBox="1"/>
          <p:nvPr/>
        </p:nvSpPr>
        <p:spPr>
          <a:xfrm>
            <a:off x="8293608" y="4178808"/>
            <a:ext cx="2926080"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 Hành lý và dịch vụ bổ sung</a:t>
            </a:r>
            <a:endParaRPr lang="en-US" sz="1300" dirty="0"/>
          </a:p>
        </p:txBody>
      </p:sp>
      <p:sp>
        <p:nvSpPr>
          <p:cNvPr id="42" name="txt50"/>
          <p:cNvSpPr txBox="1"/>
          <p:nvPr/>
        </p:nvSpPr>
        <p:spPr>
          <a:xfrm>
            <a:off x="8293608" y="4636008"/>
            <a:ext cx="2926080" cy="292608"/>
          </a:xfrm>
          <a:prstGeom prst="rect">
            <a:avLst/>
          </a:prstGeom>
          <a:noFill/>
          <a:ln/>
        </p:spPr>
        <p:txBody>
          <a:bodyPr wrap="square" lIns="0" tIns="0" rIns="0" bIns="0" rtlCol="0" anchor="ctr"/>
          <a:lstStyle/>
          <a:p>
            <a:pPr indent="0" marL="0">
              <a:buNone/>
            </a:pPr>
            <a:r>
              <a:rPr lang="en-US" sz="1300" b="1" dirty="0">
                <a:solidFill>
                  <a:srgbClr val="8A6A2F"/>
                </a:solidFill>
                <a:latin typeface="Arial" pitchFamily="34" charset="0"/>
                <a:ea typeface="Arial" pitchFamily="34" charset="-122"/>
                <a:cs typeface="Arial" pitchFamily="34" charset="-120"/>
              </a:rPr>
              <a:t>Hoàng Thái Phong (NT)</a:t>
            </a:r>
            <a:endParaRPr lang="en-US" sz="1300" dirty="0"/>
          </a:p>
        </p:txBody>
      </p:sp>
      <p:sp>
        <p:nvSpPr>
          <p:cNvPr id="43" name="txt51"/>
          <p:cNvSpPr txBox="1"/>
          <p:nvPr/>
        </p:nvSpPr>
        <p:spPr>
          <a:xfrm>
            <a:off x="8293608" y="4956048"/>
            <a:ext cx="2926080" cy="91440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HANH_LY</a:t>
            </a:r>
            <a:endParaRPr lang="en-US" sz="1100" dirty="0"/>
          </a:p>
          <a:p>
            <a:pPr indent="0" marL="0">
              <a:buNone/>
            </a:pPr>
            <a:r>
              <a:rPr lang="en-US" sz="1100" dirty="0">
                <a:solidFill>
                  <a:srgbClr val="1F2933"/>
                </a:solidFill>
                <a:latin typeface="Arial" pitchFamily="34" charset="0"/>
                <a:ea typeface="Arial" pitchFamily="34" charset="-122"/>
                <a:cs typeface="Arial" pitchFamily="34" charset="-120"/>
              </a:rPr>
              <a:t>DICH_VU_BO_SUNG</a:t>
            </a:r>
            <a:endParaRPr lang="en-US" sz="1100" dirty="0"/>
          </a:p>
          <a:p>
            <a:pPr indent="0" marL="0">
              <a:buNone/>
            </a:pPr>
            <a:r>
              <a:rPr lang="en-US" sz="1100" dirty="0">
                <a:solidFill>
                  <a:srgbClr val="1F2933"/>
                </a:solidFill>
                <a:latin typeface="Arial" pitchFamily="34" charset="0"/>
                <a:ea typeface="Arial" pitchFamily="34" charset="-122"/>
                <a:cs typeface="Arial" pitchFamily="34" charset="-120"/>
              </a:rPr>
              <a:t>CHI_TIET_DICH_VU</a:t>
            </a:r>
            <a:endParaRPr lang="en-US" sz="1100" dirty="0"/>
          </a:p>
        </p:txBody>
      </p:sp>
      <p:sp>
        <p:nvSpPr>
          <p:cNvPr id="44" name="phanhe_F"/>
          <p:cNvSpPr/>
          <p:nvPr/>
        </p:nvSpPr>
        <p:spPr>
          <a:xfrm>
            <a:off x="8156448" y="1847088"/>
            <a:ext cx="3200400" cy="1783080"/>
          </a:xfrm>
          <a:prstGeom prst="rect">
            <a:avLst/>
          </a:prstGeom>
          <a:solidFill>
            <a:srgbClr val="FFFFFF"/>
          </a:solidFill>
          <a:ln w="15875">
            <a:solidFill>
              <a:srgbClr val="1F5FAD"/>
            </a:solidFill>
            <a:prstDash val="solid"/>
          </a:ln>
        </p:spPr>
      </p:sp>
      <p:sp>
        <p:nvSpPr>
          <p:cNvPr id="45" name="phanhe_dau_F"/>
          <p:cNvSpPr/>
          <p:nvPr/>
        </p:nvSpPr>
        <p:spPr>
          <a:xfrm>
            <a:off x="8156448" y="1847088"/>
            <a:ext cx="3200400" cy="384048"/>
          </a:xfrm>
          <a:prstGeom prst="rect">
            <a:avLst/>
          </a:prstGeom>
          <a:solidFill>
            <a:srgbClr val="1F5FAD"/>
          </a:solidFill>
          <a:ln w="15875">
            <a:solidFill>
              <a:srgbClr val="1F5FAD"/>
            </a:solidFill>
            <a:prstDash val="solid"/>
          </a:ln>
        </p:spPr>
      </p:sp>
      <p:sp>
        <p:nvSpPr>
          <p:cNvPr id="46" name="txt52"/>
          <p:cNvSpPr txBox="1"/>
          <p:nvPr/>
        </p:nvSpPr>
        <p:spPr>
          <a:xfrm>
            <a:off x="8293608" y="1847088"/>
            <a:ext cx="2926080"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F. Thanh toán và hóa đơn</a:t>
            </a:r>
            <a:endParaRPr lang="en-US" sz="1300" dirty="0"/>
          </a:p>
        </p:txBody>
      </p:sp>
      <p:sp>
        <p:nvSpPr>
          <p:cNvPr id="47" name="txt53"/>
          <p:cNvSpPr txBox="1"/>
          <p:nvPr/>
        </p:nvSpPr>
        <p:spPr>
          <a:xfrm>
            <a:off x="8293608" y="2304288"/>
            <a:ext cx="2926080" cy="292608"/>
          </a:xfrm>
          <a:prstGeom prst="rect">
            <a:avLst/>
          </a:prstGeom>
          <a:noFill/>
          <a:ln/>
        </p:spPr>
        <p:txBody>
          <a:bodyPr wrap="square" lIns="0" tIns="0" rIns="0" bIns="0" rtlCol="0" anchor="ctr"/>
          <a:lstStyle/>
          <a:p>
            <a:pPr indent="0" marL="0">
              <a:buNone/>
            </a:pPr>
            <a:r>
              <a:rPr lang="en-US" sz="1300" b="1" dirty="0">
                <a:solidFill>
                  <a:srgbClr val="8A6A2F"/>
                </a:solidFill>
                <a:latin typeface="Arial" pitchFamily="34" charset="0"/>
                <a:ea typeface="Arial" pitchFamily="34" charset="-122"/>
                <a:cs typeface="Arial" pitchFamily="34" charset="-120"/>
              </a:rPr>
              <a:t>Nguyễn Vũ Trọng Nhân</a:t>
            </a:r>
            <a:endParaRPr lang="en-US" sz="1300" dirty="0"/>
          </a:p>
        </p:txBody>
      </p:sp>
      <p:sp>
        <p:nvSpPr>
          <p:cNvPr id="48" name="txt54"/>
          <p:cNvSpPr txBox="1"/>
          <p:nvPr/>
        </p:nvSpPr>
        <p:spPr>
          <a:xfrm>
            <a:off x="8293608" y="2624328"/>
            <a:ext cx="2926080" cy="91440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HOA_DON</a:t>
            </a:r>
            <a:endParaRPr lang="en-US" sz="1100" dirty="0"/>
          </a:p>
          <a:p>
            <a:pPr indent="0" marL="0">
              <a:buNone/>
            </a:pPr>
            <a:r>
              <a:rPr lang="en-US" sz="1100" dirty="0">
                <a:solidFill>
                  <a:srgbClr val="1F2933"/>
                </a:solidFill>
                <a:latin typeface="Arial" pitchFamily="34" charset="0"/>
                <a:ea typeface="Arial" pitchFamily="34" charset="-122"/>
                <a:cs typeface="Arial" pitchFamily="34" charset="-120"/>
              </a:rPr>
              <a:t>GIAO_DICH_THANH_TOAN</a:t>
            </a:r>
            <a:endParaRPr lang="en-US" sz="1100" dirty="0"/>
          </a:p>
          <a:p>
            <a:pPr indent="0" marL="0">
              <a:buNone/>
            </a:pPr>
            <a:r>
              <a:rPr lang="en-US" sz="1100" dirty="0">
                <a:solidFill>
                  <a:srgbClr val="1F2933"/>
                </a:solidFill>
                <a:latin typeface="Arial" pitchFamily="34" charset="0"/>
                <a:ea typeface="Arial" pitchFamily="34" charset="-122"/>
                <a:cs typeface="Arial" pitchFamily="34" charset="-120"/>
              </a:rPr>
              <a:t>MA_KHUYEN_MAI</a:t>
            </a:r>
            <a:endParaRPr lang="en-US" sz="11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ERD toàn hệ thống</a:t>
            </a:r>
            <a:endParaRPr lang="en-US" sz="2600" dirty="0"/>
          </a:p>
        </p:txBody>
      </p:sp>
      <p:pic>
        <p:nvPicPr>
          <p:cNvPr id="3" name="erd_toan_he_thong" descr="erd_toan_he_thong">    </p:cNvPr>
          <p:cNvPicPr>
            <a:picLocks noChangeAspect="1"/>
          </p:cNvPicPr>
          <p:nvPr/>
        </p:nvPicPr>
        <p:blipFill>
          <a:blip r:embed="rId1"/>
          <a:stretch>
            <a:fillRect/>
          </a:stretch>
        </p:blipFill>
        <p:spPr>
          <a:xfrm>
            <a:off x="1862581" y="1389888"/>
            <a:ext cx="8466532" cy="4919472"/>
          </a:xfrm>
          <a:prstGeom prst="rect">
            <a:avLst/>
          </a:prstGeom>
        </p:spPr>
      </p:pic>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Phân hệ A. Chuyến bay và lịch trình</a:t>
            </a:r>
            <a:endParaRPr lang="en-US" sz="2600" dirty="0"/>
          </a:p>
        </p:txBody>
      </p:sp>
      <p:sp>
        <p:nvSpPr>
          <p:cNvPr id="3" name="mo_ta_nen"/>
          <p:cNvSpPr/>
          <p:nvPr/>
        </p:nvSpPr>
        <p:spPr>
          <a:xfrm>
            <a:off x="457200" y="1481328"/>
            <a:ext cx="3566160" cy="4873752"/>
          </a:xfrm>
          <a:prstGeom prst="rect">
            <a:avLst/>
          </a:prstGeom>
          <a:solidFill>
            <a:srgbClr val="F7F0E1"/>
          </a:solidFill>
          <a:ln w="12700">
            <a:solidFill>
              <a:srgbClr val="E6D3AA"/>
            </a:solidFill>
            <a:prstDash val="solid"/>
          </a:ln>
        </p:spPr>
      </p:sp>
      <p:sp>
        <p:nvSpPr>
          <p:cNvPr id="4" name="txt55"/>
          <p:cNvSpPr txBox="1"/>
          <p:nvPr/>
        </p:nvSpPr>
        <p:spPr>
          <a:xfrm>
            <a:off x="685800" y="1664208"/>
            <a:ext cx="3108960" cy="320040"/>
          </a:xfrm>
          <a:prstGeom prst="rect">
            <a:avLst/>
          </a:prstGeom>
          <a:noFill/>
          <a:ln/>
        </p:spPr>
        <p:txBody>
          <a:bodyPr wrap="square" lIns="0" tIns="0" rIns="0" bIns="0" rtlCol="0" anchor="ctr"/>
          <a:lstStyle/>
          <a:p>
            <a:pPr indent="0" marL="0">
              <a:buNone/>
            </a:pPr>
            <a:r>
              <a:rPr lang="en-US" sz="1400" b="1" dirty="0">
                <a:solidFill>
                  <a:srgbClr val="8A6A2F"/>
                </a:solidFill>
                <a:latin typeface="Arial" pitchFamily="34" charset="0"/>
                <a:ea typeface="Arial" pitchFamily="34" charset="-122"/>
                <a:cs typeface="Arial" pitchFamily="34" charset="-120"/>
              </a:rPr>
              <a:t>Mô tả</a:t>
            </a:r>
            <a:endParaRPr lang="en-US" sz="1400" dirty="0"/>
          </a:p>
        </p:txBody>
      </p:sp>
      <p:sp>
        <p:nvSpPr>
          <p:cNvPr id="5" name="txt56"/>
          <p:cNvSpPr txBox="1"/>
          <p:nvPr/>
        </p:nvSpPr>
        <p:spPr>
          <a:xfrm>
            <a:off x="685800" y="2029968"/>
            <a:ext cx="3108960" cy="274320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Quản lý mạng sân bay, đội máy bay và lịch khai thác. Mỗi sân bay nhận diện bằng mã IATA. Giữa hai sân bay có thể có đường bay (khoảng cách, thời gian bay chuẩn). Mỗi chuyến bay theo lịch có số hiệu, ngày bay, giờ cất và hạ cánh, do một máy bay thực hiện trên một đường bay.</a:t>
            </a:r>
            <a:endParaRPr lang="en-US" sz="1300" dirty="0"/>
          </a:p>
        </p:txBody>
      </p:sp>
      <p:sp>
        <p:nvSpPr>
          <p:cNvPr id="6" name="txt57"/>
          <p:cNvSpPr txBox="1"/>
          <p:nvPr/>
        </p:nvSpPr>
        <p:spPr>
          <a:xfrm>
            <a:off x="685800" y="4910328"/>
            <a:ext cx="3108960" cy="320040"/>
          </a:xfrm>
          <a:prstGeom prst="rect">
            <a:avLst/>
          </a:prstGeom>
          <a:noFill/>
          <a:ln/>
        </p:spPr>
        <p:txBody>
          <a:bodyPr wrap="square" lIns="0" tIns="0" rIns="0" bIns="0" rtlCol="0" anchor="ctr"/>
          <a:lstStyle/>
          <a:p>
            <a:pPr indent="0" marL="0">
              <a:buNone/>
            </a:pPr>
            <a:r>
              <a:rPr lang="en-US" sz="1400" b="1" dirty="0">
                <a:solidFill>
                  <a:srgbClr val="8A6A2F"/>
                </a:solidFill>
                <a:latin typeface="Arial" pitchFamily="34" charset="0"/>
                <a:ea typeface="Arial" pitchFamily="34" charset="-122"/>
                <a:cs typeface="Arial" pitchFamily="34" charset="-120"/>
              </a:rPr>
              <a:t>Thực thể</a:t>
            </a:r>
            <a:endParaRPr lang="en-US" sz="1400" dirty="0"/>
          </a:p>
        </p:txBody>
      </p:sp>
      <p:sp>
        <p:nvSpPr>
          <p:cNvPr id="7" name="txt58"/>
          <p:cNvSpPr txBox="1"/>
          <p:nvPr/>
        </p:nvSpPr>
        <p:spPr>
          <a:xfrm>
            <a:off x="685800" y="5248656"/>
            <a:ext cx="3108960" cy="1371600"/>
          </a:xfrm>
          <a:prstGeom prst="rect">
            <a:avLst/>
          </a:prstGeom>
          <a:noFill/>
          <a:ln/>
        </p:spPr>
        <p:txBody>
          <a:bodyPr wrap="square" lIns="0" tIns="0" rIns="0" bIns="0" rtlCol="0" anchor="t"/>
          <a:lstStyle/>
          <a:p>
            <a:pPr indent="0" marL="0">
              <a:buNone/>
            </a:pPr>
            <a:r>
              <a:rPr lang="en-US" sz="1200" b="1" dirty="0">
                <a:solidFill>
                  <a:srgbClr val="163F73"/>
                </a:solidFill>
                <a:latin typeface="Arial" pitchFamily="34" charset="0"/>
                <a:ea typeface="Arial" pitchFamily="34" charset="-122"/>
                <a:cs typeface="Arial" pitchFamily="34" charset="-120"/>
              </a:rPr>
              <a:t>SAN_BAY</a:t>
            </a:r>
            <a:endParaRPr lang="en-US" sz="1200" dirty="0"/>
          </a:p>
          <a:p>
            <a:pPr indent="0" marL="0">
              <a:buNone/>
            </a:pPr>
            <a:r>
              <a:rPr lang="en-US" sz="1200" b="1" dirty="0">
                <a:solidFill>
                  <a:srgbClr val="163F73"/>
                </a:solidFill>
                <a:latin typeface="Arial" pitchFamily="34" charset="0"/>
                <a:ea typeface="Arial" pitchFamily="34" charset="-122"/>
                <a:cs typeface="Arial" pitchFamily="34" charset="-120"/>
              </a:rPr>
              <a:t>MAY_BAY</a:t>
            </a:r>
            <a:endParaRPr lang="en-US" sz="1200" dirty="0"/>
          </a:p>
          <a:p>
            <a:pPr indent="0" marL="0">
              <a:buNone/>
            </a:pPr>
            <a:r>
              <a:rPr lang="en-US" sz="1200" b="1" dirty="0">
                <a:solidFill>
                  <a:srgbClr val="163F73"/>
                </a:solidFill>
                <a:latin typeface="Arial" pitchFamily="34" charset="0"/>
                <a:ea typeface="Arial" pitchFamily="34" charset="-122"/>
                <a:cs typeface="Arial" pitchFamily="34" charset="-120"/>
              </a:rPr>
              <a:t>CHUYEN_BAY</a:t>
            </a:r>
            <a:endParaRPr lang="en-US" sz="1200" dirty="0"/>
          </a:p>
        </p:txBody>
      </p:sp>
      <p:sp>
        <p:nvSpPr>
          <p:cNvPr id="8" name="bang59_o0_0"/>
          <p:cNvSpPr/>
          <p:nvPr/>
        </p:nvSpPr>
        <p:spPr>
          <a:xfrm>
            <a:off x="4251960" y="1481328"/>
            <a:ext cx="685800" cy="295656"/>
          </a:xfrm>
          <a:prstGeom prst="rect">
            <a:avLst/>
          </a:prstGeom>
          <a:solidFill>
            <a:srgbClr val="E6D3AA"/>
          </a:solidFill>
          <a:ln w="9525">
            <a:solidFill>
              <a:srgbClr val="C9D3DF"/>
            </a:solidFill>
            <a:prstDash val="solid"/>
          </a:ln>
        </p:spPr>
      </p:sp>
      <p:sp>
        <p:nvSpPr>
          <p:cNvPr id="9" name="bang59_t0_0"/>
          <p:cNvSpPr txBox="1"/>
          <p:nvPr/>
        </p:nvSpPr>
        <p:spPr>
          <a:xfrm>
            <a:off x="4306824" y="1527048"/>
            <a:ext cx="576072" cy="204216"/>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Mã</a:t>
            </a:r>
            <a:endParaRPr lang="en-US" sz="1200" dirty="0"/>
          </a:p>
        </p:txBody>
      </p:sp>
      <p:sp>
        <p:nvSpPr>
          <p:cNvPr id="10" name="bang59_o0_1"/>
          <p:cNvSpPr/>
          <p:nvPr/>
        </p:nvSpPr>
        <p:spPr>
          <a:xfrm>
            <a:off x="4937760" y="1481328"/>
            <a:ext cx="6796735" cy="295656"/>
          </a:xfrm>
          <a:prstGeom prst="rect">
            <a:avLst/>
          </a:prstGeom>
          <a:solidFill>
            <a:srgbClr val="E6D3AA"/>
          </a:solidFill>
          <a:ln w="9525">
            <a:solidFill>
              <a:srgbClr val="C9D3DF"/>
            </a:solidFill>
            <a:prstDash val="solid"/>
          </a:ln>
        </p:spPr>
      </p:sp>
      <p:sp>
        <p:nvSpPr>
          <p:cNvPr id="11" name="bang59_t0_1"/>
          <p:cNvSpPr txBox="1"/>
          <p:nvPr/>
        </p:nvSpPr>
        <p:spPr>
          <a:xfrm>
            <a:off x="4992624" y="1527048"/>
            <a:ext cx="6687007" cy="204216"/>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Quy tắc nghiệp vụ</a:t>
            </a:r>
            <a:endParaRPr lang="en-US" sz="1200" dirty="0"/>
          </a:p>
        </p:txBody>
      </p:sp>
      <p:sp>
        <p:nvSpPr>
          <p:cNvPr id="12" name="bang59_o1_0"/>
          <p:cNvSpPr/>
          <p:nvPr/>
        </p:nvSpPr>
        <p:spPr>
          <a:xfrm>
            <a:off x="4251960" y="1776984"/>
            <a:ext cx="685800" cy="528066"/>
          </a:xfrm>
          <a:prstGeom prst="rect">
            <a:avLst/>
          </a:prstGeom>
          <a:solidFill>
            <a:srgbClr val="FFFFFF"/>
          </a:solidFill>
          <a:ln w="9525">
            <a:solidFill>
              <a:srgbClr val="C9D3DF"/>
            </a:solidFill>
            <a:prstDash val="solid"/>
          </a:ln>
        </p:spPr>
      </p:sp>
      <p:sp>
        <p:nvSpPr>
          <p:cNvPr id="13" name="bang59_t1_0"/>
          <p:cNvSpPr txBox="1"/>
          <p:nvPr/>
        </p:nvSpPr>
        <p:spPr>
          <a:xfrm>
            <a:off x="4306824" y="1822704"/>
            <a:ext cx="576072"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QT01</a:t>
            </a:r>
            <a:endParaRPr lang="en-US" sz="1350" dirty="0"/>
          </a:p>
        </p:txBody>
      </p:sp>
      <p:sp>
        <p:nvSpPr>
          <p:cNvPr id="14" name="bang59_o1_1"/>
          <p:cNvSpPr/>
          <p:nvPr/>
        </p:nvSpPr>
        <p:spPr>
          <a:xfrm>
            <a:off x="4937760" y="1776984"/>
            <a:ext cx="6796735" cy="528066"/>
          </a:xfrm>
          <a:prstGeom prst="rect">
            <a:avLst/>
          </a:prstGeom>
          <a:solidFill>
            <a:srgbClr val="FFFFFF"/>
          </a:solidFill>
          <a:ln w="9525">
            <a:solidFill>
              <a:srgbClr val="C9D3DF"/>
            </a:solidFill>
            <a:prstDash val="solid"/>
          </a:ln>
        </p:spPr>
      </p:sp>
      <p:sp>
        <p:nvSpPr>
          <p:cNvPr id="15" name="bang59_t1_1"/>
          <p:cNvSpPr txBox="1"/>
          <p:nvPr/>
        </p:nvSpPr>
        <p:spPr>
          <a:xfrm>
            <a:off x="4992624" y="1822704"/>
            <a:ext cx="6687007"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sân bay có đúng một mã IATA (3 ký tự, là khóa chính) và đúng một mã ICAO; mỗi mã chỉ thuộc về một sân bay.</a:t>
            </a:r>
            <a:endParaRPr lang="en-US" sz="1350" dirty="0"/>
          </a:p>
        </p:txBody>
      </p:sp>
      <p:sp>
        <p:nvSpPr>
          <p:cNvPr id="16" name="bang59_o2_0"/>
          <p:cNvSpPr/>
          <p:nvPr/>
        </p:nvSpPr>
        <p:spPr>
          <a:xfrm>
            <a:off x="4251960" y="2305050"/>
            <a:ext cx="685800" cy="946404"/>
          </a:xfrm>
          <a:prstGeom prst="rect">
            <a:avLst/>
          </a:prstGeom>
          <a:solidFill>
            <a:srgbClr val="F7F0E1"/>
          </a:solidFill>
          <a:ln w="9525">
            <a:solidFill>
              <a:srgbClr val="C9D3DF"/>
            </a:solidFill>
            <a:prstDash val="solid"/>
          </a:ln>
        </p:spPr>
      </p:sp>
      <p:sp>
        <p:nvSpPr>
          <p:cNvPr id="17" name="bang59_t2_0"/>
          <p:cNvSpPr txBox="1"/>
          <p:nvPr/>
        </p:nvSpPr>
        <p:spPr>
          <a:xfrm>
            <a:off x="4306824" y="2350770"/>
            <a:ext cx="576072" cy="854964"/>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QT02</a:t>
            </a:r>
            <a:endParaRPr lang="en-US" sz="1350" dirty="0"/>
          </a:p>
        </p:txBody>
      </p:sp>
      <p:sp>
        <p:nvSpPr>
          <p:cNvPr id="18" name="bang59_o2_1"/>
          <p:cNvSpPr/>
          <p:nvPr/>
        </p:nvSpPr>
        <p:spPr>
          <a:xfrm>
            <a:off x="4937760" y="2305050"/>
            <a:ext cx="6796735" cy="946404"/>
          </a:xfrm>
          <a:prstGeom prst="rect">
            <a:avLst/>
          </a:prstGeom>
          <a:solidFill>
            <a:srgbClr val="F7F0E1"/>
          </a:solidFill>
          <a:ln w="9525">
            <a:solidFill>
              <a:srgbClr val="C9D3DF"/>
            </a:solidFill>
            <a:prstDash val="solid"/>
          </a:ln>
        </p:spPr>
      </p:sp>
      <p:sp>
        <p:nvSpPr>
          <p:cNvPr id="19" name="bang59_t2_1"/>
          <p:cNvSpPr txBox="1"/>
          <p:nvPr/>
        </p:nvSpPr>
        <p:spPr>
          <a:xfrm>
            <a:off x="4992624" y="2350770"/>
            <a:ext cx="6687007" cy="854964"/>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đường bay nối đúng một sân bay đi với đúng một sân bay đến khác nó. Mỗi sân bay là điểm đi của 0 hoặc nhiều đường bay và là điểm đến của 0 hoặc nhiều đường bay; mỗi cặp (đi, đến) ghi khoảng cách và thời gian bay chuẩn.</a:t>
            </a:r>
            <a:endParaRPr lang="en-US" sz="1350" dirty="0"/>
          </a:p>
        </p:txBody>
      </p:sp>
      <p:sp>
        <p:nvSpPr>
          <p:cNvPr id="20" name="bang59_o3_0"/>
          <p:cNvSpPr/>
          <p:nvPr/>
        </p:nvSpPr>
        <p:spPr>
          <a:xfrm>
            <a:off x="4251960" y="3251454"/>
            <a:ext cx="685800" cy="946404"/>
          </a:xfrm>
          <a:prstGeom prst="rect">
            <a:avLst/>
          </a:prstGeom>
          <a:solidFill>
            <a:srgbClr val="FFFFFF"/>
          </a:solidFill>
          <a:ln w="9525">
            <a:solidFill>
              <a:srgbClr val="C9D3DF"/>
            </a:solidFill>
            <a:prstDash val="solid"/>
          </a:ln>
        </p:spPr>
      </p:sp>
      <p:sp>
        <p:nvSpPr>
          <p:cNvPr id="21" name="bang59_t3_0"/>
          <p:cNvSpPr txBox="1"/>
          <p:nvPr/>
        </p:nvSpPr>
        <p:spPr>
          <a:xfrm>
            <a:off x="4306824" y="3297174"/>
            <a:ext cx="576072" cy="854964"/>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QT03</a:t>
            </a:r>
            <a:endParaRPr lang="en-US" sz="1350" dirty="0"/>
          </a:p>
        </p:txBody>
      </p:sp>
      <p:sp>
        <p:nvSpPr>
          <p:cNvPr id="22" name="bang59_o3_1"/>
          <p:cNvSpPr/>
          <p:nvPr/>
        </p:nvSpPr>
        <p:spPr>
          <a:xfrm>
            <a:off x="4937760" y="3251454"/>
            <a:ext cx="6796735" cy="946404"/>
          </a:xfrm>
          <a:prstGeom prst="rect">
            <a:avLst/>
          </a:prstGeom>
          <a:solidFill>
            <a:srgbClr val="FFFFFF"/>
          </a:solidFill>
          <a:ln w="9525">
            <a:solidFill>
              <a:srgbClr val="C9D3DF"/>
            </a:solidFill>
            <a:prstDash val="solid"/>
          </a:ln>
        </p:spPr>
      </p:sp>
      <p:sp>
        <p:nvSpPr>
          <p:cNvPr id="23" name="bang59_t3_1"/>
          <p:cNvSpPr txBox="1"/>
          <p:nvPr/>
        </p:nvSpPr>
        <p:spPr>
          <a:xfrm>
            <a:off x="4992624" y="3297174"/>
            <a:ext cx="6687007" cy="854964"/>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chuyến bay cất cánh từ đúng 1 sân bay và hạ cánh tại đúng 1 sân bay khác; mỗi sân bay có 0 hoặc nhiều chuyến bay đi và 0 hoặc nhiều chuyến bay đến. Cặp sân bay của chuyến bay phải là một đường bay đã có.</a:t>
            </a:r>
            <a:endParaRPr lang="en-US" sz="1350" dirty="0"/>
          </a:p>
        </p:txBody>
      </p:sp>
      <p:sp>
        <p:nvSpPr>
          <p:cNvPr id="24" name="bang59_o4_0"/>
          <p:cNvSpPr/>
          <p:nvPr/>
        </p:nvSpPr>
        <p:spPr>
          <a:xfrm>
            <a:off x="4251960" y="4197858"/>
            <a:ext cx="685800" cy="737235"/>
          </a:xfrm>
          <a:prstGeom prst="rect">
            <a:avLst/>
          </a:prstGeom>
          <a:solidFill>
            <a:srgbClr val="F7F0E1"/>
          </a:solidFill>
          <a:ln w="9525">
            <a:solidFill>
              <a:srgbClr val="C9D3DF"/>
            </a:solidFill>
            <a:prstDash val="solid"/>
          </a:ln>
        </p:spPr>
      </p:sp>
      <p:sp>
        <p:nvSpPr>
          <p:cNvPr id="25" name="bang59_t4_0"/>
          <p:cNvSpPr txBox="1"/>
          <p:nvPr/>
        </p:nvSpPr>
        <p:spPr>
          <a:xfrm>
            <a:off x="4306824" y="4243578"/>
            <a:ext cx="576072" cy="645795"/>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QT04</a:t>
            </a:r>
            <a:endParaRPr lang="en-US" sz="1350" dirty="0"/>
          </a:p>
        </p:txBody>
      </p:sp>
      <p:sp>
        <p:nvSpPr>
          <p:cNvPr id="26" name="bang59_o4_1"/>
          <p:cNvSpPr/>
          <p:nvPr/>
        </p:nvSpPr>
        <p:spPr>
          <a:xfrm>
            <a:off x="4937760" y="4197858"/>
            <a:ext cx="6796735" cy="737235"/>
          </a:xfrm>
          <a:prstGeom prst="rect">
            <a:avLst/>
          </a:prstGeom>
          <a:solidFill>
            <a:srgbClr val="F7F0E1"/>
          </a:solidFill>
          <a:ln w="9525">
            <a:solidFill>
              <a:srgbClr val="C9D3DF"/>
            </a:solidFill>
            <a:prstDash val="solid"/>
          </a:ln>
        </p:spPr>
      </p:sp>
      <p:sp>
        <p:nvSpPr>
          <p:cNvPr id="27" name="bang59_t4_1"/>
          <p:cNvSpPr txBox="1"/>
          <p:nvPr/>
        </p:nvSpPr>
        <p:spPr>
          <a:xfrm>
            <a:off x="4992624" y="4243578"/>
            <a:ext cx="6687007" cy="645795"/>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chuyến bay do đúng 1 máy bay thực hiện; mỗi máy bay thực hiện 0 hoặc nhiều chuyến bay (máy bay mới nhận chưa có chuyến). Một máy bay không được xếp cho hai chuyến trùng giờ.</a:t>
            </a:r>
            <a:endParaRPr lang="en-US" sz="1350" dirty="0"/>
          </a:p>
        </p:txBody>
      </p:sp>
      <p:sp>
        <p:nvSpPr>
          <p:cNvPr id="28" name="bang59_o5_0"/>
          <p:cNvSpPr/>
          <p:nvPr/>
        </p:nvSpPr>
        <p:spPr>
          <a:xfrm>
            <a:off x="4251960" y="4935093"/>
            <a:ext cx="685800" cy="737235"/>
          </a:xfrm>
          <a:prstGeom prst="rect">
            <a:avLst/>
          </a:prstGeom>
          <a:solidFill>
            <a:srgbClr val="FFFFFF"/>
          </a:solidFill>
          <a:ln w="9525">
            <a:solidFill>
              <a:srgbClr val="C9D3DF"/>
            </a:solidFill>
            <a:prstDash val="solid"/>
          </a:ln>
        </p:spPr>
      </p:sp>
      <p:sp>
        <p:nvSpPr>
          <p:cNvPr id="29" name="bang59_t5_0"/>
          <p:cNvSpPr txBox="1"/>
          <p:nvPr/>
        </p:nvSpPr>
        <p:spPr>
          <a:xfrm>
            <a:off x="4306824" y="4980813"/>
            <a:ext cx="576072" cy="645795"/>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QT05</a:t>
            </a:r>
            <a:endParaRPr lang="en-US" sz="1350" dirty="0"/>
          </a:p>
        </p:txBody>
      </p:sp>
      <p:sp>
        <p:nvSpPr>
          <p:cNvPr id="30" name="bang59_o5_1"/>
          <p:cNvSpPr/>
          <p:nvPr/>
        </p:nvSpPr>
        <p:spPr>
          <a:xfrm>
            <a:off x="4937760" y="4935093"/>
            <a:ext cx="6796735" cy="737235"/>
          </a:xfrm>
          <a:prstGeom prst="rect">
            <a:avLst/>
          </a:prstGeom>
          <a:solidFill>
            <a:srgbClr val="FFFFFF"/>
          </a:solidFill>
          <a:ln w="9525">
            <a:solidFill>
              <a:srgbClr val="C9D3DF"/>
            </a:solidFill>
            <a:prstDash val="solid"/>
          </a:ln>
        </p:spPr>
      </p:sp>
      <p:sp>
        <p:nvSpPr>
          <p:cNvPr id="31" name="bang59_t5_1"/>
          <p:cNvSpPr txBox="1"/>
          <p:nvPr/>
        </p:nvSpPr>
        <p:spPr>
          <a:xfrm>
            <a:off x="4992624" y="4980813"/>
            <a:ext cx="6687007" cy="645795"/>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Số hiệu chuyến bay (ví dụ VN213) lặp lại hằng ngày, nên cặp (số hiệu, ngày bay) xác định duy nhất một chuyến bay. Thời gian bay và tổng số ghế là thuộc tính suy dẫn.</a:t>
            </a:r>
            <a:endParaRPr lang="en-US" sz="135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ERD phân hệ A</a:t>
            </a:r>
            <a:endParaRPr lang="en-US" sz="2600" dirty="0"/>
          </a:p>
        </p:txBody>
      </p:sp>
      <p:pic>
        <p:nvPicPr>
          <p:cNvPr id="3" name="erd_A" descr="erd_A">    </p:cNvPr>
          <p:cNvPicPr>
            <a:picLocks noChangeAspect="1"/>
          </p:cNvPicPr>
          <p:nvPr/>
        </p:nvPicPr>
        <p:blipFill>
          <a:blip r:embed="rId1"/>
          <a:stretch>
            <a:fillRect/>
          </a:stretch>
        </p:blipFill>
        <p:spPr>
          <a:xfrm>
            <a:off x="2998064" y="1389888"/>
            <a:ext cx="6195568" cy="4919472"/>
          </a:xfrm>
          <a:prstGeom prst="rect">
            <a:avLst/>
          </a:prstGeom>
        </p:spPr>
      </p:pic>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Bảng liên kết và multiplicity</a:t>
            </a:r>
            <a:endParaRPr lang="en-US" sz="2600" dirty="0"/>
          </a:p>
        </p:txBody>
      </p:sp>
      <p:sp>
        <p:nvSpPr>
          <p:cNvPr id="3" name="bang60_o0_0"/>
          <p:cNvSpPr/>
          <p:nvPr/>
        </p:nvSpPr>
        <p:spPr>
          <a:xfrm>
            <a:off x="457200" y="1481328"/>
            <a:ext cx="914400" cy="667512"/>
          </a:xfrm>
          <a:prstGeom prst="rect">
            <a:avLst/>
          </a:prstGeom>
          <a:solidFill>
            <a:srgbClr val="E6D3AA"/>
          </a:solidFill>
          <a:ln w="9525">
            <a:solidFill>
              <a:srgbClr val="C9D3DF"/>
            </a:solidFill>
            <a:prstDash val="solid"/>
          </a:ln>
        </p:spPr>
      </p:sp>
      <p:sp>
        <p:nvSpPr>
          <p:cNvPr id="4" name="bang60_t0_0"/>
          <p:cNvSpPr txBox="1"/>
          <p:nvPr/>
        </p:nvSpPr>
        <p:spPr>
          <a:xfrm>
            <a:off x="512064" y="1527048"/>
            <a:ext cx="80467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Mã</a:t>
            </a:r>
            <a:endParaRPr lang="en-US" sz="1200" dirty="0"/>
          </a:p>
        </p:txBody>
      </p:sp>
      <p:sp>
        <p:nvSpPr>
          <p:cNvPr id="5" name="bang60_o0_1"/>
          <p:cNvSpPr/>
          <p:nvPr/>
        </p:nvSpPr>
        <p:spPr>
          <a:xfrm>
            <a:off x="1371600" y="1481328"/>
            <a:ext cx="1828800" cy="667512"/>
          </a:xfrm>
          <a:prstGeom prst="rect">
            <a:avLst/>
          </a:prstGeom>
          <a:solidFill>
            <a:srgbClr val="E6D3AA"/>
          </a:solidFill>
          <a:ln w="9525">
            <a:solidFill>
              <a:srgbClr val="C9D3DF"/>
            </a:solidFill>
            <a:prstDash val="solid"/>
          </a:ln>
        </p:spPr>
      </p:sp>
      <p:sp>
        <p:nvSpPr>
          <p:cNvPr id="6" name="bang60_t0_1"/>
          <p:cNvSpPr txBox="1"/>
          <p:nvPr/>
        </p:nvSpPr>
        <p:spPr>
          <a:xfrm>
            <a:off x="1426464" y="1527048"/>
            <a:ext cx="171907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Tên liên kết</a:t>
            </a:r>
            <a:endParaRPr lang="en-US" sz="1200" dirty="0"/>
          </a:p>
        </p:txBody>
      </p:sp>
      <p:sp>
        <p:nvSpPr>
          <p:cNvPr id="7" name="bang60_o0_2"/>
          <p:cNvSpPr/>
          <p:nvPr/>
        </p:nvSpPr>
        <p:spPr>
          <a:xfrm>
            <a:off x="3200400" y="1481328"/>
            <a:ext cx="1965960" cy="667512"/>
          </a:xfrm>
          <a:prstGeom prst="rect">
            <a:avLst/>
          </a:prstGeom>
          <a:solidFill>
            <a:srgbClr val="E6D3AA"/>
          </a:solidFill>
          <a:ln w="9525">
            <a:solidFill>
              <a:srgbClr val="C9D3DF"/>
            </a:solidFill>
            <a:prstDash val="solid"/>
          </a:ln>
        </p:spPr>
      </p:sp>
      <p:sp>
        <p:nvSpPr>
          <p:cNvPr id="8" name="bang60_t0_2"/>
          <p:cNvSpPr txBox="1"/>
          <p:nvPr/>
        </p:nvSpPr>
        <p:spPr>
          <a:xfrm>
            <a:off x="3255264" y="1527048"/>
            <a:ext cx="185623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Thực thể A</a:t>
            </a:r>
            <a:endParaRPr lang="en-US" sz="1200" dirty="0"/>
          </a:p>
        </p:txBody>
      </p:sp>
      <p:sp>
        <p:nvSpPr>
          <p:cNvPr id="9" name="bang60_o0_3"/>
          <p:cNvSpPr/>
          <p:nvPr/>
        </p:nvSpPr>
        <p:spPr>
          <a:xfrm>
            <a:off x="5166360" y="1481328"/>
            <a:ext cx="2148840" cy="667512"/>
          </a:xfrm>
          <a:prstGeom prst="rect">
            <a:avLst/>
          </a:prstGeom>
          <a:solidFill>
            <a:srgbClr val="E6D3AA"/>
          </a:solidFill>
          <a:ln w="9525">
            <a:solidFill>
              <a:srgbClr val="C9D3DF"/>
            </a:solidFill>
            <a:prstDash val="solid"/>
          </a:ln>
        </p:spPr>
      </p:sp>
      <p:sp>
        <p:nvSpPr>
          <p:cNvPr id="10" name="bang60_t0_3"/>
          <p:cNvSpPr txBox="1"/>
          <p:nvPr/>
        </p:nvSpPr>
        <p:spPr>
          <a:xfrm>
            <a:off x="5221224" y="1527048"/>
            <a:ext cx="203911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Thực thể B</a:t>
            </a:r>
            <a:endParaRPr lang="en-US" sz="1200" dirty="0"/>
          </a:p>
        </p:txBody>
      </p:sp>
      <p:sp>
        <p:nvSpPr>
          <p:cNvPr id="11" name="bang60_o0_4"/>
          <p:cNvSpPr/>
          <p:nvPr/>
        </p:nvSpPr>
        <p:spPr>
          <a:xfrm>
            <a:off x="7315200" y="1481328"/>
            <a:ext cx="960120" cy="667512"/>
          </a:xfrm>
          <a:prstGeom prst="rect">
            <a:avLst/>
          </a:prstGeom>
          <a:solidFill>
            <a:srgbClr val="E6D3AA"/>
          </a:solidFill>
          <a:ln w="9525">
            <a:solidFill>
              <a:srgbClr val="C9D3DF"/>
            </a:solidFill>
            <a:prstDash val="solid"/>
          </a:ln>
        </p:spPr>
      </p:sp>
      <p:sp>
        <p:nvSpPr>
          <p:cNvPr id="12" name="bang60_t0_4"/>
          <p:cNvSpPr txBox="1"/>
          <p:nvPr/>
        </p:nvSpPr>
        <p:spPr>
          <a:xfrm>
            <a:off x="7370064" y="1527048"/>
            <a:ext cx="85039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Mỗi A có bao nhiêu B</a:t>
            </a:r>
            <a:endParaRPr lang="en-US" sz="1200" dirty="0"/>
          </a:p>
        </p:txBody>
      </p:sp>
      <p:sp>
        <p:nvSpPr>
          <p:cNvPr id="13" name="bang60_o0_5"/>
          <p:cNvSpPr/>
          <p:nvPr/>
        </p:nvSpPr>
        <p:spPr>
          <a:xfrm>
            <a:off x="8275320" y="1481328"/>
            <a:ext cx="960120" cy="667512"/>
          </a:xfrm>
          <a:prstGeom prst="rect">
            <a:avLst/>
          </a:prstGeom>
          <a:solidFill>
            <a:srgbClr val="E6D3AA"/>
          </a:solidFill>
          <a:ln w="9525">
            <a:solidFill>
              <a:srgbClr val="C9D3DF"/>
            </a:solidFill>
            <a:prstDash val="solid"/>
          </a:ln>
        </p:spPr>
      </p:sp>
      <p:sp>
        <p:nvSpPr>
          <p:cNvPr id="14" name="bang60_t0_5"/>
          <p:cNvSpPr txBox="1"/>
          <p:nvPr/>
        </p:nvSpPr>
        <p:spPr>
          <a:xfrm>
            <a:off x="8330184" y="1527048"/>
            <a:ext cx="85039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Mỗi B có bao nhiêu A</a:t>
            </a:r>
            <a:endParaRPr lang="en-US" sz="1200" dirty="0"/>
          </a:p>
        </p:txBody>
      </p:sp>
      <p:sp>
        <p:nvSpPr>
          <p:cNvPr id="15" name="bang60_o0_6"/>
          <p:cNvSpPr/>
          <p:nvPr/>
        </p:nvSpPr>
        <p:spPr>
          <a:xfrm>
            <a:off x="9235440" y="1481328"/>
            <a:ext cx="1828800" cy="667512"/>
          </a:xfrm>
          <a:prstGeom prst="rect">
            <a:avLst/>
          </a:prstGeom>
          <a:solidFill>
            <a:srgbClr val="E6D3AA"/>
          </a:solidFill>
          <a:ln w="9525">
            <a:solidFill>
              <a:srgbClr val="C9D3DF"/>
            </a:solidFill>
            <a:prstDash val="solid"/>
          </a:ln>
        </p:spPr>
      </p:sp>
      <p:sp>
        <p:nvSpPr>
          <p:cNvPr id="16" name="bang60_t0_6"/>
          <p:cNvSpPr txBox="1"/>
          <p:nvPr/>
        </p:nvSpPr>
        <p:spPr>
          <a:xfrm>
            <a:off x="9290304" y="1527048"/>
            <a:ext cx="171907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Thuộc tính liên kết</a:t>
            </a:r>
            <a:endParaRPr lang="en-US" sz="1200" dirty="0"/>
          </a:p>
        </p:txBody>
      </p:sp>
      <p:sp>
        <p:nvSpPr>
          <p:cNvPr id="17" name="bang60_o0_7"/>
          <p:cNvSpPr/>
          <p:nvPr/>
        </p:nvSpPr>
        <p:spPr>
          <a:xfrm>
            <a:off x="11064240" y="1481328"/>
            <a:ext cx="667512" cy="667512"/>
          </a:xfrm>
          <a:prstGeom prst="rect">
            <a:avLst/>
          </a:prstGeom>
          <a:solidFill>
            <a:srgbClr val="E6D3AA"/>
          </a:solidFill>
          <a:ln w="9525">
            <a:solidFill>
              <a:srgbClr val="C9D3DF"/>
            </a:solidFill>
            <a:prstDash val="solid"/>
          </a:ln>
        </p:spPr>
      </p:sp>
      <p:sp>
        <p:nvSpPr>
          <p:cNvPr id="18" name="bang60_t0_7"/>
          <p:cNvSpPr txBox="1"/>
          <p:nvPr/>
        </p:nvSpPr>
        <p:spPr>
          <a:xfrm>
            <a:off x="11119104" y="1527048"/>
            <a:ext cx="557784"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QT</a:t>
            </a:r>
            <a:endParaRPr lang="en-US" sz="1200" dirty="0"/>
          </a:p>
        </p:txBody>
      </p:sp>
      <p:sp>
        <p:nvSpPr>
          <p:cNvPr id="19" name="bang60_o1_0"/>
          <p:cNvSpPr/>
          <p:nvPr/>
        </p:nvSpPr>
        <p:spPr>
          <a:xfrm>
            <a:off x="457200" y="2148840"/>
            <a:ext cx="914400" cy="713994"/>
          </a:xfrm>
          <a:prstGeom prst="rect">
            <a:avLst/>
          </a:prstGeom>
          <a:solidFill>
            <a:srgbClr val="FFFFFF"/>
          </a:solidFill>
          <a:ln w="9525">
            <a:solidFill>
              <a:srgbClr val="C9D3DF"/>
            </a:solidFill>
            <a:prstDash val="solid"/>
          </a:ln>
        </p:spPr>
      </p:sp>
      <p:sp>
        <p:nvSpPr>
          <p:cNvPr id="20" name="bang60_t1_0"/>
          <p:cNvSpPr txBox="1"/>
          <p:nvPr/>
        </p:nvSpPr>
        <p:spPr>
          <a:xfrm>
            <a:off x="512064" y="2194560"/>
            <a:ext cx="80467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LK01</a:t>
            </a:r>
            <a:endParaRPr lang="en-US" sz="1300" dirty="0"/>
          </a:p>
        </p:txBody>
      </p:sp>
      <p:sp>
        <p:nvSpPr>
          <p:cNvPr id="21" name="bang60_o1_1"/>
          <p:cNvSpPr/>
          <p:nvPr/>
        </p:nvSpPr>
        <p:spPr>
          <a:xfrm>
            <a:off x="1371600" y="2148840"/>
            <a:ext cx="1828800" cy="713994"/>
          </a:xfrm>
          <a:prstGeom prst="rect">
            <a:avLst/>
          </a:prstGeom>
          <a:solidFill>
            <a:srgbClr val="FFFFFF"/>
          </a:solidFill>
          <a:ln w="9525">
            <a:solidFill>
              <a:srgbClr val="C9D3DF"/>
            </a:solidFill>
            <a:prstDash val="solid"/>
          </a:ln>
        </p:spPr>
      </p:sp>
      <p:sp>
        <p:nvSpPr>
          <p:cNvPr id="22" name="bang60_t1_1"/>
          <p:cNvSpPr txBox="1"/>
          <p:nvPr/>
        </p:nvSpPr>
        <p:spPr>
          <a:xfrm>
            <a:off x="1426464" y="2194560"/>
            <a:ext cx="171907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Đường bay</a:t>
            </a:r>
            <a:endParaRPr lang="en-US" sz="1300" dirty="0"/>
          </a:p>
          <a:p>
            <a:pPr indent="0" marL="0">
              <a:buNone/>
            </a:pPr>
            <a:r>
              <a:rPr lang="en-US" sz="1300" dirty="0">
                <a:solidFill>
                  <a:srgbClr val="1F2933"/>
                </a:solidFill>
                <a:latin typeface="Arial" pitchFamily="34" charset="0"/>
                <a:ea typeface="Arial" pitchFamily="34" charset="-122"/>
                <a:cs typeface="Arial" pitchFamily="34" charset="-120"/>
              </a:rPr>
              <a:t>(sân bay đi / sân bay đến)</a:t>
            </a:r>
            <a:endParaRPr lang="en-US" sz="1300" dirty="0"/>
          </a:p>
        </p:txBody>
      </p:sp>
      <p:sp>
        <p:nvSpPr>
          <p:cNvPr id="23" name="bang60_o1_2"/>
          <p:cNvSpPr/>
          <p:nvPr/>
        </p:nvSpPr>
        <p:spPr>
          <a:xfrm>
            <a:off x="3200400" y="2148840"/>
            <a:ext cx="1965960" cy="713994"/>
          </a:xfrm>
          <a:prstGeom prst="rect">
            <a:avLst/>
          </a:prstGeom>
          <a:solidFill>
            <a:srgbClr val="FFFFFF"/>
          </a:solidFill>
          <a:ln w="9525">
            <a:solidFill>
              <a:srgbClr val="C9D3DF"/>
            </a:solidFill>
            <a:prstDash val="solid"/>
          </a:ln>
        </p:spPr>
      </p:sp>
      <p:sp>
        <p:nvSpPr>
          <p:cNvPr id="24" name="bang60_t1_2"/>
          <p:cNvSpPr txBox="1"/>
          <p:nvPr/>
        </p:nvSpPr>
        <p:spPr>
          <a:xfrm>
            <a:off x="3255264" y="2194560"/>
            <a:ext cx="185623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SAN_BAY</a:t>
            </a:r>
            <a:endParaRPr lang="en-US" sz="1300" dirty="0"/>
          </a:p>
        </p:txBody>
      </p:sp>
      <p:sp>
        <p:nvSpPr>
          <p:cNvPr id="25" name="bang60_o1_3"/>
          <p:cNvSpPr/>
          <p:nvPr/>
        </p:nvSpPr>
        <p:spPr>
          <a:xfrm>
            <a:off x="5166360" y="2148840"/>
            <a:ext cx="2148840" cy="713994"/>
          </a:xfrm>
          <a:prstGeom prst="rect">
            <a:avLst/>
          </a:prstGeom>
          <a:solidFill>
            <a:srgbClr val="FFFFFF"/>
          </a:solidFill>
          <a:ln w="9525">
            <a:solidFill>
              <a:srgbClr val="C9D3DF"/>
            </a:solidFill>
            <a:prstDash val="solid"/>
          </a:ln>
        </p:spPr>
      </p:sp>
      <p:sp>
        <p:nvSpPr>
          <p:cNvPr id="26" name="bang60_t1_3"/>
          <p:cNvSpPr txBox="1"/>
          <p:nvPr/>
        </p:nvSpPr>
        <p:spPr>
          <a:xfrm>
            <a:off x="5221224" y="2194560"/>
            <a:ext cx="203911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SAN_BAY</a:t>
            </a:r>
            <a:endParaRPr lang="en-US" sz="1300" dirty="0"/>
          </a:p>
        </p:txBody>
      </p:sp>
      <p:sp>
        <p:nvSpPr>
          <p:cNvPr id="27" name="bang60_o1_4"/>
          <p:cNvSpPr/>
          <p:nvPr/>
        </p:nvSpPr>
        <p:spPr>
          <a:xfrm>
            <a:off x="7315200" y="2148840"/>
            <a:ext cx="960120" cy="713994"/>
          </a:xfrm>
          <a:prstGeom prst="rect">
            <a:avLst/>
          </a:prstGeom>
          <a:solidFill>
            <a:srgbClr val="FFFFFF"/>
          </a:solidFill>
          <a:ln w="9525">
            <a:solidFill>
              <a:srgbClr val="C9D3DF"/>
            </a:solidFill>
            <a:prstDash val="solid"/>
          </a:ln>
        </p:spPr>
      </p:sp>
      <p:sp>
        <p:nvSpPr>
          <p:cNvPr id="28" name="bang60_t1_4"/>
          <p:cNvSpPr txBox="1"/>
          <p:nvPr/>
        </p:nvSpPr>
        <p:spPr>
          <a:xfrm>
            <a:off x="7370064" y="2194560"/>
            <a:ext cx="85039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29" name="bang60_o1_5"/>
          <p:cNvSpPr/>
          <p:nvPr/>
        </p:nvSpPr>
        <p:spPr>
          <a:xfrm>
            <a:off x="8275320" y="2148840"/>
            <a:ext cx="960120" cy="713994"/>
          </a:xfrm>
          <a:prstGeom prst="rect">
            <a:avLst/>
          </a:prstGeom>
          <a:solidFill>
            <a:srgbClr val="FFFFFF"/>
          </a:solidFill>
          <a:ln w="9525">
            <a:solidFill>
              <a:srgbClr val="C9D3DF"/>
            </a:solidFill>
            <a:prstDash val="solid"/>
          </a:ln>
        </p:spPr>
      </p:sp>
      <p:sp>
        <p:nvSpPr>
          <p:cNvPr id="30" name="bang60_t1_5"/>
          <p:cNvSpPr txBox="1"/>
          <p:nvPr/>
        </p:nvSpPr>
        <p:spPr>
          <a:xfrm>
            <a:off x="8330184" y="2194560"/>
            <a:ext cx="85039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31" name="bang60_o1_6"/>
          <p:cNvSpPr/>
          <p:nvPr/>
        </p:nvSpPr>
        <p:spPr>
          <a:xfrm>
            <a:off x="9235440" y="2148840"/>
            <a:ext cx="1828800" cy="713994"/>
          </a:xfrm>
          <a:prstGeom prst="rect">
            <a:avLst/>
          </a:prstGeom>
          <a:solidFill>
            <a:srgbClr val="FFFFFF"/>
          </a:solidFill>
          <a:ln w="9525">
            <a:solidFill>
              <a:srgbClr val="C9D3DF"/>
            </a:solidFill>
            <a:prstDash val="solid"/>
          </a:ln>
        </p:spPr>
      </p:sp>
      <p:sp>
        <p:nvSpPr>
          <p:cNvPr id="32" name="bang60_t1_6"/>
          <p:cNvSpPr txBox="1"/>
          <p:nvPr/>
        </p:nvSpPr>
        <p:spPr>
          <a:xfrm>
            <a:off x="9290304" y="2194560"/>
            <a:ext cx="171907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DUONG_BAY: KhoangCach, ThoiGianBayChuan</a:t>
            </a:r>
            <a:endParaRPr lang="en-US" sz="1300" dirty="0"/>
          </a:p>
        </p:txBody>
      </p:sp>
      <p:sp>
        <p:nvSpPr>
          <p:cNvPr id="33" name="bang60_o1_7"/>
          <p:cNvSpPr/>
          <p:nvPr/>
        </p:nvSpPr>
        <p:spPr>
          <a:xfrm>
            <a:off x="11064240" y="2148840"/>
            <a:ext cx="667512" cy="713994"/>
          </a:xfrm>
          <a:prstGeom prst="rect">
            <a:avLst/>
          </a:prstGeom>
          <a:solidFill>
            <a:srgbClr val="FFFFFF"/>
          </a:solidFill>
          <a:ln w="9525">
            <a:solidFill>
              <a:srgbClr val="C9D3DF"/>
            </a:solidFill>
            <a:prstDash val="solid"/>
          </a:ln>
        </p:spPr>
      </p:sp>
      <p:sp>
        <p:nvSpPr>
          <p:cNvPr id="34" name="bang60_t1_7"/>
          <p:cNvSpPr txBox="1"/>
          <p:nvPr/>
        </p:nvSpPr>
        <p:spPr>
          <a:xfrm>
            <a:off x="11119104" y="2194560"/>
            <a:ext cx="557784"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QT02</a:t>
            </a:r>
            <a:endParaRPr lang="en-US" sz="1300" dirty="0"/>
          </a:p>
        </p:txBody>
      </p:sp>
      <p:sp>
        <p:nvSpPr>
          <p:cNvPr id="35" name="bang60_o2_0"/>
          <p:cNvSpPr/>
          <p:nvPr/>
        </p:nvSpPr>
        <p:spPr>
          <a:xfrm>
            <a:off x="457200" y="2862834"/>
            <a:ext cx="914400" cy="311150"/>
          </a:xfrm>
          <a:prstGeom prst="rect">
            <a:avLst/>
          </a:prstGeom>
          <a:solidFill>
            <a:srgbClr val="F7F0E1"/>
          </a:solidFill>
          <a:ln w="9525">
            <a:solidFill>
              <a:srgbClr val="C9D3DF"/>
            </a:solidFill>
            <a:prstDash val="solid"/>
          </a:ln>
        </p:spPr>
      </p:sp>
      <p:sp>
        <p:nvSpPr>
          <p:cNvPr id="36" name="bang60_t2_0"/>
          <p:cNvSpPr txBox="1"/>
          <p:nvPr/>
        </p:nvSpPr>
        <p:spPr>
          <a:xfrm>
            <a:off x="512064" y="2908554"/>
            <a:ext cx="8046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LK02</a:t>
            </a:r>
            <a:endParaRPr lang="en-US" sz="1300" dirty="0"/>
          </a:p>
        </p:txBody>
      </p:sp>
      <p:sp>
        <p:nvSpPr>
          <p:cNvPr id="37" name="bang60_o2_1"/>
          <p:cNvSpPr/>
          <p:nvPr/>
        </p:nvSpPr>
        <p:spPr>
          <a:xfrm>
            <a:off x="1371600" y="2862834"/>
            <a:ext cx="1828800" cy="311150"/>
          </a:xfrm>
          <a:prstGeom prst="rect">
            <a:avLst/>
          </a:prstGeom>
          <a:solidFill>
            <a:srgbClr val="F7F0E1"/>
          </a:solidFill>
          <a:ln w="9525">
            <a:solidFill>
              <a:srgbClr val="C9D3DF"/>
            </a:solidFill>
            <a:prstDash val="solid"/>
          </a:ln>
        </p:spPr>
      </p:sp>
      <p:sp>
        <p:nvSpPr>
          <p:cNvPr id="38" name="bang60_t2_1"/>
          <p:cNvSpPr txBox="1"/>
          <p:nvPr/>
        </p:nvSpPr>
        <p:spPr>
          <a:xfrm>
            <a:off x="1426464" y="2908554"/>
            <a:ext cx="17190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Thực hiện</a:t>
            </a:r>
            <a:endParaRPr lang="en-US" sz="1300" dirty="0"/>
          </a:p>
        </p:txBody>
      </p:sp>
      <p:sp>
        <p:nvSpPr>
          <p:cNvPr id="39" name="bang60_o2_2"/>
          <p:cNvSpPr/>
          <p:nvPr/>
        </p:nvSpPr>
        <p:spPr>
          <a:xfrm>
            <a:off x="3200400" y="2862834"/>
            <a:ext cx="1965960" cy="311150"/>
          </a:xfrm>
          <a:prstGeom prst="rect">
            <a:avLst/>
          </a:prstGeom>
          <a:solidFill>
            <a:srgbClr val="F7F0E1"/>
          </a:solidFill>
          <a:ln w="9525">
            <a:solidFill>
              <a:srgbClr val="C9D3DF"/>
            </a:solidFill>
            <a:prstDash val="solid"/>
          </a:ln>
        </p:spPr>
      </p:sp>
      <p:sp>
        <p:nvSpPr>
          <p:cNvPr id="40" name="bang60_t2_2"/>
          <p:cNvSpPr txBox="1"/>
          <p:nvPr/>
        </p:nvSpPr>
        <p:spPr>
          <a:xfrm>
            <a:off x="3255264" y="2908554"/>
            <a:ext cx="185623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MAY_BAY</a:t>
            </a:r>
            <a:endParaRPr lang="en-US" sz="1300" dirty="0"/>
          </a:p>
        </p:txBody>
      </p:sp>
      <p:sp>
        <p:nvSpPr>
          <p:cNvPr id="41" name="bang60_o2_3"/>
          <p:cNvSpPr/>
          <p:nvPr/>
        </p:nvSpPr>
        <p:spPr>
          <a:xfrm>
            <a:off x="5166360" y="2862834"/>
            <a:ext cx="2148840" cy="311150"/>
          </a:xfrm>
          <a:prstGeom prst="rect">
            <a:avLst/>
          </a:prstGeom>
          <a:solidFill>
            <a:srgbClr val="F7F0E1"/>
          </a:solidFill>
          <a:ln w="9525">
            <a:solidFill>
              <a:srgbClr val="C9D3DF"/>
            </a:solidFill>
            <a:prstDash val="solid"/>
          </a:ln>
        </p:spPr>
      </p:sp>
      <p:sp>
        <p:nvSpPr>
          <p:cNvPr id="42" name="bang60_t2_3"/>
          <p:cNvSpPr txBox="1"/>
          <p:nvPr/>
        </p:nvSpPr>
        <p:spPr>
          <a:xfrm>
            <a:off x="5221224" y="2908554"/>
            <a:ext cx="203911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CHUYEN_BAY</a:t>
            </a:r>
            <a:endParaRPr lang="en-US" sz="1300" dirty="0"/>
          </a:p>
        </p:txBody>
      </p:sp>
      <p:sp>
        <p:nvSpPr>
          <p:cNvPr id="43" name="bang60_o2_4"/>
          <p:cNvSpPr/>
          <p:nvPr/>
        </p:nvSpPr>
        <p:spPr>
          <a:xfrm>
            <a:off x="7315200" y="2862834"/>
            <a:ext cx="960120" cy="311150"/>
          </a:xfrm>
          <a:prstGeom prst="rect">
            <a:avLst/>
          </a:prstGeom>
          <a:solidFill>
            <a:srgbClr val="F7F0E1"/>
          </a:solidFill>
          <a:ln w="9525">
            <a:solidFill>
              <a:srgbClr val="C9D3DF"/>
            </a:solidFill>
            <a:prstDash val="solid"/>
          </a:ln>
        </p:spPr>
      </p:sp>
      <p:sp>
        <p:nvSpPr>
          <p:cNvPr id="44" name="bang60_t2_4"/>
          <p:cNvSpPr txBox="1"/>
          <p:nvPr/>
        </p:nvSpPr>
        <p:spPr>
          <a:xfrm>
            <a:off x="7370064" y="2908554"/>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45" name="bang60_o2_5"/>
          <p:cNvSpPr/>
          <p:nvPr/>
        </p:nvSpPr>
        <p:spPr>
          <a:xfrm>
            <a:off x="8275320" y="2862834"/>
            <a:ext cx="960120" cy="311150"/>
          </a:xfrm>
          <a:prstGeom prst="rect">
            <a:avLst/>
          </a:prstGeom>
          <a:solidFill>
            <a:srgbClr val="F7F0E1"/>
          </a:solidFill>
          <a:ln w="9525">
            <a:solidFill>
              <a:srgbClr val="C9D3DF"/>
            </a:solidFill>
            <a:prstDash val="solid"/>
          </a:ln>
        </p:spPr>
      </p:sp>
      <p:sp>
        <p:nvSpPr>
          <p:cNvPr id="46" name="bang60_t2_5"/>
          <p:cNvSpPr txBox="1"/>
          <p:nvPr/>
        </p:nvSpPr>
        <p:spPr>
          <a:xfrm>
            <a:off x="8330184" y="2908554"/>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1..1</a:t>
            </a:r>
            <a:endParaRPr lang="en-US" sz="1300" dirty="0"/>
          </a:p>
        </p:txBody>
      </p:sp>
      <p:sp>
        <p:nvSpPr>
          <p:cNvPr id="47" name="bang60_o2_6"/>
          <p:cNvSpPr/>
          <p:nvPr/>
        </p:nvSpPr>
        <p:spPr>
          <a:xfrm>
            <a:off x="9235440" y="2862834"/>
            <a:ext cx="1828800" cy="311150"/>
          </a:xfrm>
          <a:prstGeom prst="rect">
            <a:avLst/>
          </a:prstGeom>
          <a:solidFill>
            <a:srgbClr val="F7F0E1"/>
          </a:solidFill>
          <a:ln w="9525">
            <a:solidFill>
              <a:srgbClr val="C9D3DF"/>
            </a:solidFill>
            <a:prstDash val="solid"/>
          </a:ln>
        </p:spPr>
      </p:sp>
      <p:sp>
        <p:nvSpPr>
          <p:cNvPr id="48" name="bang60_o2_7"/>
          <p:cNvSpPr/>
          <p:nvPr/>
        </p:nvSpPr>
        <p:spPr>
          <a:xfrm>
            <a:off x="11064240" y="2862834"/>
            <a:ext cx="667512" cy="311150"/>
          </a:xfrm>
          <a:prstGeom prst="rect">
            <a:avLst/>
          </a:prstGeom>
          <a:solidFill>
            <a:srgbClr val="F7F0E1"/>
          </a:solidFill>
          <a:ln w="9525">
            <a:solidFill>
              <a:srgbClr val="C9D3DF"/>
            </a:solidFill>
            <a:prstDash val="solid"/>
          </a:ln>
        </p:spPr>
      </p:sp>
      <p:sp>
        <p:nvSpPr>
          <p:cNvPr id="49" name="bang60_t2_7"/>
          <p:cNvSpPr txBox="1"/>
          <p:nvPr/>
        </p:nvSpPr>
        <p:spPr>
          <a:xfrm>
            <a:off x="11119104" y="2908554"/>
            <a:ext cx="557784"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QT04</a:t>
            </a:r>
            <a:endParaRPr lang="en-US" sz="1300" dirty="0"/>
          </a:p>
        </p:txBody>
      </p:sp>
      <p:sp>
        <p:nvSpPr>
          <p:cNvPr id="50" name="bang60_o3_0"/>
          <p:cNvSpPr/>
          <p:nvPr/>
        </p:nvSpPr>
        <p:spPr>
          <a:xfrm>
            <a:off x="457200" y="3173984"/>
            <a:ext cx="914400" cy="311150"/>
          </a:xfrm>
          <a:prstGeom prst="rect">
            <a:avLst/>
          </a:prstGeom>
          <a:solidFill>
            <a:srgbClr val="FFFFFF"/>
          </a:solidFill>
          <a:ln w="9525">
            <a:solidFill>
              <a:srgbClr val="C9D3DF"/>
            </a:solidFill>
            <a:prstDash val="solid"/>
          </a:ln>
        </p:spPr>
      </p:sp>
      <p:sp>
        <p:nvSpPr>
          <p:cNvPr id="51" name="bang60_t3_0"/>
          <p:cNvSpPr txBox="1"/>
          <p:nvPr/>
        </p:nvSpPr>
        <p:spPr>
          <a:xfrm>
            <a:off x="512064" y="3219704"/>
            <a:ext cx="8046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LK03</a:t>
            </a:r>
            <a:endParaRPr lang="en-US" sz="1300" dirty="0"/>
          </a:p>
        </p:txBody>
      </p:sp>
      <p:sp>
        <p:nvSpPr>
          <p:cNvPr id="52" name="bang60_o3_1"/>
          <p:cNvSpPr/>
          <p:nvPr/>
        </p:nvSpPr>
        <p:spPr>
          <a:xfrm>
            <a:off x="1371600" y="3173984"/>
            <a:ext cx="1828800" cy="311150"/>
          </a:xfrm>
          <a:prstGeom prst="rect">
            <a:avLst/>
          </a:prstGeom>
          <a:solidFill>
            <a:srgbClr val="FFFFFF"/>
          </a:solidFill>
          <a:ln w="9525">
            <a:solidFill>
              <a:srgbClr val="C9D3DF"/>
            </a:solidFill>
            <a:prstDash val="solid"/>
          </a:ln>
        </p:spPr>
      </p:sp>
      <p:sp>
        <p:nvSpPr>
          <p:cNvPr id="53" name="bang60_t3_1"/>
          <p:cNvSpPr txBox="1"/>
          <p:nvPr/>
        </p:nvSpPr>
        <p:spPr>
          <a:xfrm>
            <a:off x="1426464" y="3219704"/>
            <a:ext cx="17190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Cất cánh từ</a:t>
            </a:r>
            <a:endParaRPr lang="en-US" sz="1300" dirty="0"/>
          </a:p>
        </p:txBody>
      </p:sp>
      <p:sp>
        <p:nvSpPr>
          <p:cNvPr id="54" name="bang60_o3_2"/>
          <p:cNvSpPr/>
          <p:nvPr/>
        </p:nvSpPr>
        <p:spPr>
          <a:xfrm>
            <a:off x="3200400" y="3173984"/>
            <a:ext cx="1965960" cy="311150"/>
          </a:xfrm>
          <a:prstGeom prst="rect">
            <a:avLst/>
          </a:prstGeom>
          <a:solidFill>
            <a:srgbClr val="FFFFFF"/>
          </a:solidFill>
          <a:ln w="9525">
            <a:solidFill>
              <a:srgbClr val="C9D3DF"/>
            </a:solidFill>
            <a:prstDash val="solid"/>
          </a:ln>
        </p:spPr>
      </p:sp>
      <p:sp>
        <p:nvSpPr>
          <p:cNvPr id="55" name="bang60_t3_2"/>
          <p:cNvSpPr txBox="1"/>
          <p:nvPr/>
        </p:nvSpPr>
        <p:spPr>
          <a:xfrm>
            <a:off x="3255264" y="3219704"/>
            <a:ext cx="185623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CHUYEN_BAY</a:t>
            </a:r>
            <a:endParaRPr lang="en-US" sz="1300" dirty="0"/>
          </a:p>
        </p:txBody>
      </p:sp>
      <p:sp>
        <p:nvSpPr>
          <p:cNvPr id="56" name="bang60_o3_3"/>
          <p:cNvSpPr/>
          <p:nvPr/>
        </p:nvSpPr>
        <p:spPr>
          <a:xfrm>
            <a:off x="5166360" y="3173984"/>
            <a:ext cx="2148840" cy="311150"/>
          </a:xfrm>
          <a:prstGeom prst="rect">
            <a:avLst/>
          </a:prstGeom>
          <a:solidFill>
            <a:srgbClr val="FFFFFF"/>
          </a:solidFill>
          <a:ln w="9525">
            <a:solidFill>
              <a:srgbClr val="C9D3DF"/>
            </a:solidFill>
            <a:prstDash val="solid"/>
          </a:ln>
        </p:spPr>
      </p:sp>
      <p:sp>
        <p:nvSpPr>
          <p:cNvPr id="57" name="bang60_t3_3"/>
          <p:cNvSpPr txBox="1"/>
          <p:nvPr/>
        </p:nvSpPr>
        <p:spPr>
          <a:xfrm>
            <a:off x="5221224" y="3219704"/>
            <a:ext cx="203911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SAN_BAY</a:t>
            </a:r>
            <a:endParaRPr lang="en-US" sz="1300" dirty="0"/>
          </a:p>
        </p:txBody>
      </p:sp>
      <p:sp>
        <p:nvSpPr>
          <p:cNvPr id="58" name="bang60_o3_4"/>
          <p:cNvSpPr/>
          <p:nvPr/>
        </p:nvSpPr>
        <p:spPr>
          <a:xfrm>
            <a:off x="7315200" y="3173984"/>
            <a:ext cx="960120" cy="311150"/>
          </a:xfrm>
          <a:prstGeom prst="rect">
            <a:avLst/>
          </a:prstGeom>
          <a:solidFill>
            <a:srgbClr val="FFFFFF"/>
          </a:solidFill>
          <a:ln w="9525">
            <a:solidFill>
              <a:srgbClr val="C9D3DF"/>
            </a:solidFill>
            <a:prstDash val="solid"/>
          </a:ln>
        </p:spPr>
      </p:sp>
      <p:sp>
        <p:nvSpPr>
          <p:cNvPr id="59" name="bang60_t3_4"/>
          <p:cNvSpPr txBox="1"/>
          <p:nvPr/>
        </p:nvSpPr>
        <p:spPr>
          <a:xfrm>
            <a:off x="7370064" y="3219704"/>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1..1</a:t>
            </a:r>
            <a:endParaRPr lang="en-US" sz="1300" dirty="0"/>
          </a:p>
        </p:txBody>
      </p:sp>
      <p:sp>
        <p:nvSpPr>
          <p:cNvPr id="60" name="bang60_o3_5"/>
          <p:cNvSpPr/>
          <p:nvPr/>
        </p:nvSpPr>
        <p:spPr>
          <a:xfrm>
            <a:off x="8275320" y="3173984"/>
            <a:ext cx="960120" cy="311150"/>
          </a:xfrm>
          <a:prstGeom prst="rect">
            <a:avLst/>
          </a:prstGeom>
          <a:solidFill>
            <a:srgbClr val="FFFFFF"/>
          </a:solidFill>
          <a:ln w="9525">
            <a:solidFill>
              <a:srgbClr val="C9D3DF"/>
            </a:solidFill>
            <a:prstDash val="solid"/>
          </a:ln>
        </p:spPr>
      </p:sp>
      <p:sp>
        <p:nvSpPr>
          <p:cNvPr id="61" name="bang60_t3_5"/>
          <p:cNvSpPr txBox="1"/>
          <p:nvPr/>
        </p:nvSpPr>
        <p:spPr>
          <a:xfrm>
            <a:off x="8330184" y="3219704"/>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62" name="bang60_o3_6"/>
          <p:cNvSpPr/>
          <p:nvPr/>
        </p:nvSpPr>
        <p:spPr>
          <a:xfrm>
            <a:off x="9235440" y="3173984"/>
            <a:ext cx="1828800" cy="311150"/>
          </a:xfrm>
          <a:prstGeom prst="rect">
            <a:avLst/>
          </a:prstGeom>
          <a:solidFill>
            <a:srgbClr val="FFFFFF"/>
          </a:solidFill>
          <a:ln w="9525">
            <a:solidFill>
              <a:srgbClr val="C9D3DF"/>
            </a:solidFill>
            <a:prstDash val="solid"/>
          </a:ln>
        </p:spPr>
      </p:sp>
      <p:sp>
        <p:nvSpPr>
          <p:cNvPr id="63" name="bang60_o3_7"/>
          <p:cNvSpPr/>
          <p:nvPr/>
        </p:nvSpPr>
        <p:spPr>
          <a:xfrm>
            <a:off x="11064240" y="3173984"/>
            <a:ext cx="667512" cy="311150"/>
          </a:xfrm>
          <a:prstGeom prst="rect">
            <a:avLst/>
          </a:prstGeom>
          <a:solidFill>
            <a:srgbClr val="FFFFFF"/>
          </a:solidFill>
          <a:ln w="9525">
            <a:solidFill>
              <a:srgbClr val="C9D3DF"/>
            </a:solidFill>
            <a:prstDash val="solid"/>
          </a:ln>
        </p:spPr>
      </p:sp>
      <p:sp>
        <p:nvSpPr>
          <p:cNvPr id="64" name="bang60_t3_7"/>
          <p:cNvSpPr txBox="1"/>
          <p:nvPr/>
        </p:nvSpPr>
        <p:spPr>
          <a:xfrm>
            <a:off x="11119104" y="3219704"/>
            <a:ext cx="557784"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QT03</a:t>
            </a:r>
            <a:endParaRPr lang="en-US" sz="1300" dirty="0"/>
          </a:p>
        </p:txBody>
      </p:sp>
      <p:sp>
        <p:nvSpPr>
          <p:cNvPr id="65" name="bang60_o4_0"/>
          <p:cNvSpPr/>
          <p:nvPr/>
        </p:nvSpPr>
        <p:spPr>
          <a:xfrm>
            <a:off x="457200" y="3485134"/>
            <a:ext cx="914400" cy="311150"/>
          </a:xfrm>
          <a:prstGeom prst="rect">
            <a:avLst/>
          </a:prstGeom>
          <a:solidFill>
            <a:srgbClr val="F7F0E1"/>
          </a:solidFill>
          <a:ln w="9525">
            <a:solidFill>
              <a:srgbClr val="C9D3DF"/>
            </a:solidFill>
            <a:prstDash val="solid"/>
          </a:ln>
        </p:spPr>
      </p:sp>
      <p:sp>
        <p:nvSpPr>
          <p:cNvPr id="66" name="bang60_t4_0"/>
          <p:cNvSpPr txBox="1"/>
          <p:nvPr/>
        </p:nvSpPr>
        <p:spPr>
          <a:xfrm>
            <a:off x="512064" y="3530854"/>
            <a:ext cx="8046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LK04</a:t>
            </a:r>
            <a:endParaRPr lang="en-US" sz="1300" dirty="0"/>
          </a:p>
        </p:txBody>
      </p:sp>
      <p:sp>
        <p:nvSpPr>
          <p:cNvPr id="67" name="bang60_o4_1"/>
          <p:cNvSpPr/>
          <p:nvPr/>
        </p:nvSpPr>
        <p:spPr>
          <a:xfrm>
            <a:off x="1371600" y="3485134"/>
            <a:ext cx="1828800" cy="311150"/>
          </a:xfrm>
          <a:prstGeom prst="rect">
            <a:avLst/>
          </a:prstGeom>
          <a:solidFill>
            <a:srgbClr val="F7F0E1"/>
          </a:solidFill>
          <a:ln w="9525">
            <a:solidFill>
              <a:srgbClr val="C9D3DF"/>
            </a:solidFill>
            <a:prstDash val="solid"/>
          </a:ln>
        </p:spPr>
      </p:sp>
      <p:sp>
        <p:nvSpPr>
          <p:cNvPr id="68" name="bang60_t4_1"/>
          <p:cNvSpPr txBox="1"/>
          <p:nvPr/>
        </p:nvSpPr>
        <p:spPr>
          <a:xfrm>
            <a:off x="1426464" y="3530854"/>
            <a:ext cx="17190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Hạ cánh tại</a:t>
            </a:r>
            <a:endParaRPr lang="en-US" sz="1300" dirty="0"/>
          </a:p>
        </p:txBody>
      </p:sp>
      <p:sp>
        <p:nvSpPr>
          <p:cNvPr id="69" name="bang60_o4_2"/>
          <p:cNvSpPr/>
          <p:nvPr/>
        </p:nvSpPr>
        <p:spPr>
          <a:xfrm>
            <a:off x="3200400" y="3485134"/>
            <a:ext cx="1965960" cy="311150"/>
          </a:xfrm>
          <a:prstGeom prst="rect">
            <a:avLst/>
          </a:prstGeom>
          <a:solidFill>
            <a:srgbClr val="F7F0E1"/>
          </a:solidFill>
          <a:ln w="9525">
            <a:solidFill>
              <a:srgbClr val="C9D3DF"/>
            </a:solidFill>
            <a:prstDash val="solid"/>
          </a:ln>
        </p:spPr>
      </p:sp>
      <p:sp>
        <p:nvSpPr>
          <p:cNvPr id="70" name="bang60_t4_2"/>
          <p:cNvSpPr txBox="1"/>
          <p:nvPr/>
        </p:nvSpPr>
        <p:spPr>
          <a:xfrm>
            <a:off x="3255264" y="3530854"/>
            <a:ext cx="185623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CHUYEN_BAY</a:t>
            </a:r>
            <a:endParaRPr lang="en-US" sz="1300" dirty="0"/>
          </a:p>
        </p:txBody>
      </p:sp>
      <p:sp>
        <p:nvSpPr>
          <p:cNvPr id="71" name="bang60_o4_3"/>
          <p:cNvSpPr/>
          <p:nvPr/>
        </p:nvSpPr>
        <p:spPr>
          <a:xfrm>
            <a:off x="5166360" y="3485134"/>
            <a:ext cx="2148840" cy="311150"/>
          </a:xfrm>
          <a:prstGeom prst="rect">
            <a:avLst/>
          </a:prstGeom>
          <a:solidFill>
            <a:srgbClr val="F7F0E1"/>
          </a:solidFill>
          <a:ln w="9525">
            <a:solidFill>
              <a:srgbClr val="C9D3DF"/>
            </a:solidFill>
            <a:prstDash val="solid"/>
          </a:ln>
        </p:spPr>
      </p:sp>
      <p:sp>
        <p:nvSpPr>
          <p:cNvPr id="72" name="bang60_t4_3"/>
          <p:cNvSpPr txBox="1"/>
          <p:nvPr/>
        </p:nvSpPr>
        <p:spPr>
          <a:xfrm>
            <a:off x="5221224" y="3530854"/>
            <a:ext cx="203911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SAN_BAY</a:t>
            </a:r>
            <a:endParaRPr lang="en-US" sz="1300" dirty="0"/>
          </a:p>
        </p:txBody>
      </p:sp>
      <p:sp>
        <p:nvSpPr>
          <p:cNvPr id="73" name="bang60_o4_4"/>
          <p:cNvSpPr/>
          <p:nvPr/>
        </p:nvSpPr>
        <p:spPr>
          <a:xfrm>
            <a:off x="7315200" y="3485134"/>
            <a:ext cx="960120" cy="311150"/>
          </a:xfrm>
          <a:prstGeom prst="rect">
            <a:avLst/>
          </a:prstGeom>
          <a:solidFill>
            <a:srgbClr val="F7F0E1"/>
          </a:solidFill>
          <a:ln w="9525">
            <a:solidFill>
              <a:srgbClr val="C9D3DF"/>
            </a:solidFill>
            <a:prstDash val="solid"/>
          </a:ln>
        </p:spPr>
      </p:sp>
      <p:sp>
        <p:nvSpPr>
          <p:cNvPr id="74" name="bang60_t4_4"/>
          <p:cNvSpPr txBox="1"/>
          <p:nvPr/>
        </p:nvSpPr>
        <p:spPr>
          <a:xfrm>
            <a:off x="7370064" y="3530854"/>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1..1</a:t>
            </a:r>
            <a:endParaRPr lang="en-US" sz="1300" dirty="0"/>
          </a:p>
        </p:txBody>
      </p:sp>
      <p:sp>
        <p:nvSpPr>
          <p:cNvPr id="75" name="bang60_o4_5"/>
          <p:cNvSpPr/>
          <p:nvPr/>
        </p:nvSpPr>
        <p:spPr>
          <a:xfrm>
            <a:off x="8275320" y="3485134"/>
            <a:ext cx="960120" cy="311150"/>
          </a:xfrm>
          <a:prstGeom prst="rect">
            <a:avLst/>
          </a:prstGeom>
          <a:solidFill>
            <a:srgbClr val="F7F0E1"/>
          </a:solidFill>
          <a:ln w="9525">
            <a:solidFill>
              <a:srgbClr val="C9D3DF"/>
            </a:solidFill>
            <a:prstDash val="solid"/>
          </a:ln>
        </p:spPr>
      </p:sp>
      <p:sp>
        <p:nvSpPr>
          <p:cNvPr id="76" name="bang60_t4_5"/>
          <p:cNvSpPr txBox="1"/>
          <p:nvPr/>
        </p:nvSpPr>
        <p:spPr>
          <a:xfrm>
            <a:off x="8330184" y="3530854"/>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77" name="bang60_o4_6"/>
          <p:cNvSpPr/>
          <p:nvPr/>
        </p:nvSpPr>
        <p:spPr>
          <a:xfrm>
            <a:off x="9235440" y="3485134"/>
            <a:ext cx="1828800" cy="311150"/>
          </a:xfrm>
          <a:prstGeom prst="rect">
            <a:avLst/>
          </a:prstGeom>
          <a:solidFill>
            <a:srgbClr val="F7F0E1"/>
          </a:solidFill>
          <a:ln w="9525">
            <a:solidFill>
              <a:srgbClr val="C9D3DF"/>
            </a:solidFill>
            <a:prstDash val="solid"/>
          </a:ln>
        </p:spPr>
      </p:sp>
      <p:sp>
        <p:nvSpPr>
          <p:cNvPr id="78" name="bang60_o4_7"/>
          <p:cNvSpPr/>
          <p:nvPr/>
        </p:nvSpPr>
        <p:spPr>
          <a:xfrm>
            <a:off x="11064240" y="3485134"/>
            <a:ext cx="667512" cy="311150"/>
          </a:xfrm>
          <a:prstGeom prst="rect">
            <a:avLst/>
          </a:prstGeom>
          <a:solidFill>
            <a:srgbClr val="F7F0E1"/>
          </a:solidFill>
          <a:ln w="9525">
            <a:solidFill>
              <a:srgbClr val="C9D3DF"/>
            </a:solidFill>
            <a:prstDash val="solid"/>
          </a:ln>
        </p:spPr>
      </p:sp>
      <p:sp>
        <p:nvSpPr>
          <p:cNvPr id="79" name="bang60_t4_7"/>
          <p:cNvSpPr txBox="1"/>
          <p:nvPr/>
        </p:nvSpPr>
        <p:spPr>
          <a:xfrm>
            <a:off x="11119104" y="3530854"/>
            <a:ext cx="557784"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QT03</a:t>
            </a:r>
            <a:endParaRPr lang="en-US" sz="1300" dirty="0"/>
          </a:p>
        </p:txBody>
      </p:sp>
      <p:sp>
        <p:nvSpPr>
          <p:cNvPr id="80" name="txt61"/>
          <p:cNvSpPr txBox="1"/>
          <p:nvPr/>
        </p:nvSpPr>
        <p:spPr>
          <a:xfrm>
            <a:off x="457200" y="6035040"/>
            <a:ext cx="9144000" cy="274320"/>
          </a:xfrm>
          <a:prstGeom prst="rect">
            <a:avLst/>
          </a:prstGeom>
          <a:noFill/>
          <a:ln/>
        </p:spPr>
        <p:txBody>
          <a:bodyPr wrap="square" lIns="0" tIns="0" rIns="0" bIns="0" rtlCol="0" anchor="ctr"/>
          <a:lstStyle/>
          <a:p>
            <a:pPr indent="0" marL="0">
              <a:buNone/>
            </a:pPr>
            <a:r>
              <a:rPr lang="en-US" sz="1100" i="1" dirty="0">
                <a:solidFill>
                  <a:srgbClr val="5F6B7A"/>
                </a:solidFill>
                <a:latin typeface="Arial" pitchFamily="34" charset="0"/>
                <a:ea typeface="Arial" pitchFamily="34" charset="-122"/>
                <a:cs typeface="Arial" pitchFamily="34" charset="-120"/>
              </a:rPr>
              <a:t>(*) liên kết nối sang phân hệ khác.  Cột "Mỗi A có bao nhiêu B" ghi ở đầu B trên sơ đồ.</a:t>
            </a:r>
            <a:endParaRPr lang="en-US" sz="11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Lược đồ quan hệ (DBDL)</a:t>
            </a:r>
            <a:endParaRPr lang="en-US" sz="2600" dirty="0"/>
          </a:p>
        </p:txBody>
      </p:sp>
      <p:sp>
        <p:nvSpPr>
          <p:cNvPr id="3" name="txt62"/>
          <p:cNvSpPr txBox="1"/>
          <p:nvPr/>
        </p:nvSpPr>
        <p:spPr>
          <a:xfrm>
            <a:off x="457200" y="1435608"/>
            <a:ext cx="11277295" cy="4553712"/>
          </a:xfrm>
          <a:prstGeom prst="rect">
            <a:avLst/>
          </a:prstGeom>
          <a:noFill/>
          <a:ln/>
        </p:spPr>
        <p:txBody>
          <a:bodyPr wrap="square" lIns="0" tIns="0" rIns="0" bIns="0" rtlCol="0" anchor="t"/>
          <a:lstStyle/>
          <a:p>
            <a:pPr indent="0" marL="0">
              <a:buNone/>
            </a:pPr>
            <a:r>
              <a:rPr lang="en-US" sz="1400" b="1" dirty="0">
                <a:solidFill>
                  <a:srgbClr val="163F73"/>
                </a:solidFill>
                <a:latin typeface="Arial" pitchFamily="34" charset="0"/>
                <a:ea typeface="Arial" pitchFamily="34" charset="-122"/>
                <a:cs typeface="Arial" pitchFamily="34" charset="-120"/>
              </a:rPr>
              <a:t>SAN_BAY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MaSanBay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MaICAO</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TenSanBay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ThanhPho</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QuocGia</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MuiGio</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LoaiSanBay</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[TH1]</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MaSanBay</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Alternate Key MaICAO</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DUONG_BAY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u="sng" dirty="0">
                <a:solidFill>
                  <a:srgbClr val="1F2933"/>
                </a:solidFill>
                <a:latin typeface="Arial" pitchFamily="34" charset="0"/>
                <a:ea typeface="Arial" pitchFamily="34" charset="-122"/>
                <a:cs typeface="Arial" pitchFamily="34" charset="-120"/>
              </a:rPr>
              <a:t>MaSanBayDi</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u="sng" dirty="0">
                <a:solidFill>
                  <a:srgbClr val="1F2933"/>
                </a:solidFill>
                <a:latin typeface="Arial" pitchFamily="34" charset="0"/>
                <a:ea typeface="Arial" pitchFamily="34" charset="-122"/>
                <a:cs typeface="Arial" pitchFamily="34" charset="-120"/>
              </a:rPr>
              <a:t>MaSanBayDen</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KhoangCach</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ThoiGianBayChuan</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[TH7, đệ quy *:*]</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(MaSanBayDi, MaSanBayDen)</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MaSanBayDi  references SAN_BAY(MaSanBay)  NOT NULL</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MaSanBayDen references SAN_BAY(MaSanBay)  NOT NULL</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MAY_BAY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SoDangKy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LoaiMayBay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HangSanXuat</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NamSanXuat</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SoGheThuongGia</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SoGhePhoThong</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TinhTrang</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[TH1]</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SoDangKy</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CHUYEN_BAY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MaChuyenBay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SoHieuCB</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NgayBay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GioCatCanhDK</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GioHaCanhDK</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GioCatCanhTT</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TrangThai</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SoDangKy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MaSanBayDi</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MaSanBayDen</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[TH1 + TH3]</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MaChuyenBay</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Alternate Key (SoHieuCB, NgayBay)</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SoDangKy    references MAY_BAY(SoDangKy)  NOT NULL</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MaSanBayDi  references SAN_BAY(MaSanBay)  NOT NULL</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MaSanBayDen references SAN_BAY(MaSanBay)  NOT NULL</a:t>
            </a:r>
            <a:endParaRPr lang="en-US" sz="1400" dirty="0"/>
          </a:p>
        </p:txBody>
      </p:sp>
      <p:sp>
        <p:nvSpPr>
          <p:cNvPr id="4" name="txt63"/>
          <p:cNvSpPr txBox="1"/>
          <p:nvPr/>
        </p:nvSpPr>
        <p:spPr>
          <a:xfrm>
            <a:off x="457200" y="6035040"/>
            <a:ext cx="11277295" cy="274320"/>
          </a:xfrm>
          <a:prstGeom prst="rect">
            <a:avLst/>
          </a:prstGeom>
          <a:noFill/>
          <a:ln/>
        </p:spPr>
        <p:txBody>
          <a:bodyPr wrap="square" lIns="0" tIns="0" rIns="0" bIns="0" rtlCol="0" anchor="ctr"/>
          <a:lstStyle/>
          <a:p>
            <a:pPr indent="0" marL="0">
              <a:buNone/>
            </a:pPr>
            <a:r>
              <a:rPr lang="en-US" sz="1100" i="1" dirty="0">
                <a:solidFill>
                  <a:srgbClr val="5F6B7A"/>
                </a:solidFill>
                <a:latin typeface="Arial" pitchFamily="34" charset="0"/>
                <a:ea typeface="Arial" pitchFamily="34" charset="-122"/>
                <a:cs typeface="Arial" pitchFamily="34" charset="-120"/>
              </a:rPr>
              <a:t>Khóa chính gạch chân, khóa ngoại in nghiêng. NOT NULL / NULL theo bội số ở đầu bảng cha (1..1 bắt buộc, 0..1 được trống).</a:t>
            </a:r>
            <a:endParaRPr lang="en-US" sz="11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Phân hệ B. Đặt chỗ và vé máy bay</a:t>
            </a:r>
            <a:endParaRPr lang="en-US" sz="2600" dirty="0"/>
          </a:p>
        </p:txBody>
      </p:sp>
      <p:sp>
        <p:nvSpPr>
          <p:cNvPr id="3" name="mo_ta_nen"/>
          <p:cNvSpPr/>
          <p:nvPr/>
        </p:nvSpPr>
        <p:spPr>
          <a:xfrm>
            <a:off x="457200" y="1481328"/>
            <a:ext cx="3566160" cy="4873752"/>
          </a:xfrm>
          <a:prstGeom prst="rect">
            <a:avLst/>
          </a:prstGeom>
          <a:solidFill>
            <a:srgbClr val="F7F0E1"/>
          </a:solidFill>
          <a:ln w="12700">
            <a:solidFill>
              <a:srgbClr val="E6D3AA"/>
            </a:solidFill>
            <a:prstDash val="solid"/>
          </a:ln>
        </p:spPr>
      </p:sp>
      <p:sp>
        <p:nvSpPr>
          <p:cNvPr id="4" name="txt64"/>
          <p:cNvSpPr txBox="1"/>
          <p:nvPr/>
        </p:nvSpPr>
        <p:spPr>
          <a:xfrm>
            <a:off x="685800" y="1664208"/>
            <a:ext cx="3108960" cy="320040"/>
          </a:xfrm>
          <a:prstGeom prst="rect">
            <a:avLst/>
          </a:prstGeom>
          <a:noFill/>
          <a:ln/>
        </p:spPr>
        <p:txBody>
          <a:bodyPr wrap="square" lIns="0" tIns="0" rIns="0" bIns="0" rtlCol="0" anchor="ctr"/>
          <a:lstStyle/>
          <a:p>
            <a:pPr indent="0" marL="0">
              <a:buNone/>
            </a:pPr>
            <a:r>
              <a:rPr lang="en-US" sz="1400" b="1" dirty="0">
                <a:solidFill>
                  <a:srgbClr val="8A6A2F"/>
                </a:solidFill>
                <a:latin typeface="Arial" pitchFamily="34" charset="0"/>
                <a:ea typeface="Arial" pitchFamily="34" charset="-122"/>
                <a:cs typeface="Arial" pitchFamily="34" charset="-120"/>
              </a:rPr>
              <a:t>Mô tả</a:t>
            </a:r>
            <a:endParaRPr lang="en-US" sz="1400" dirty="0"/>
          </a:p>
        </p:txBody>
      </p:sp>
      <p:sp>
        <p:nvSpPr>
          <p:cNvPr id="5" name="txt65"/>
          <p:cNvSpPr txBox="1"/>
          <p:nvPr/>
        </p:nvSpPr>
        <p:spPr>
          <a:xfrm>
            <a:off x="685800" y="2029968"/>
            <a:ext cx="3108960" cy="274320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Quản lý đặt chỗ (mã PNR) từ khi khách giữ chỗ đến khi xuất vé. Một đặt chỗ gồm nhiều vé, mỗi vé là một hành khách trên một chặng bay, có hạng Thương gia hoặc Phổ thông. Sơ đồ ghế của từng máy bay được lưu để hành khách chọn chỗ.</a:t>
            </a:r>
            <a:endParaRPr lang="en-US" sz="1300" dirty="0"/>
          </a:p>
        </p:txBody>
      </p:sp>
      <p:sp>
        <p:nvSpPr>
          <p:cNvPr id="6" name="txt66"/>
          <p:cNvSpPr txBox="1"/>
          <p:nvPr/>
        </p:nvSpPr>
        <p:spPr>
          <a:xfrm>
            <a:off x="685800" y="4910328"/>
            <a:ext cx="3108960" cy="320040"/>
          </a:xfrm>
          <a:prstGeom prst="rect">
            <a:avLst/>
          </a:prstGeom>
          <a:noFill/>
          <a:ln/>
        </p:spPr>
        <p:txBody>
          <a:bodyPr wrap="square" lIns="0" tIns="0" rIns="0" bIns="0" rtlCol="0" anchor="ctr"/>
          <a:lstStyle/>
          <a:p>
            <a:pPr indent="0" marL="0">
              <a:buNone/>
            </a:pPr>
            <a:r>
              <a:rPr lang="en-US" sz="1400" b="1" dirty="0">
                <a:solidFill>
                  <a:srgbClr val="8A6A2F"/>
                </a:solidFill>
                <a:latin typeface="Arial" pitchFamily="34" charset="0"/>
                <a:ea typeface="Arial" pitchFamily="34" charset="-122"/>
                <a:cs typeface="Arial" pitchFamily="34" charset="-120"/>
              </a:rPr>
              <a:t>Thực thể</a:t>
            </a:r>
            <a:endParaRPr lang="en-US" sz="1400" dirty="0"/>
          </a:p>
        </p:txBody>
      </p:sp>
      <p:sp>
        <p:nvSpPr>
          <p:cNvPr id="7" name="txt67"/>
          <p:cNvSpPr txBox="1"/>
          <p:nvPr/>
        </p:nvSpPr>
        <p:spPr>
          <a:xfrm>
            <a:off x="685800" y="5248656"/>
            <a:ext cx="3108960" cy="1371600"/>
          </a:xfrm>
          <a:prstGeom prst="rect">
            <a:avLst/>
          </a:prstGeom>
          <a:noFill/>
          <a:ln/>
        </p:spPr>
        <p:txBody>
          <a:bodyPr wrap="square" lIns="0" tIns="0" rIns="0" bIns="0" rtlCol="0" anchor="t"/>
          <a:lstStyle/>
          <a:p>
            <a:pPr indent="0" marL="0">
              <a:buNone/>
            </a:pPr>
            <a:r>
              <a:rPr lang="en-US" sz="1200" b="1" dirty="0">
                <a:solidFill>
                  <a:srgbClr val="163F73"/>
                </a:solidFill>
                <a:latin typeface="Arial" pitchFamily="34" charset="0"/>
                <a:ea typeface="Arial" pitchFamily="34" charset="-122"/>
                <a:cs typeface="Arial" pitchFamily="34" charset="-120"/>
              </a:rPr>
              <a:t>DAT_CHO</a:t>
            </a:r>
            <a:endParaRPr lang="en-US" sz="1200" dirty="0"/>
          </a:p>
          <a:p>
            <a:pPr indent="0" marL="0">
              <a:buNone/>
            </a:pPr>
            <a:r>
              <a:rPr lang="en-US" sz="1200" b="1" dirty="0">
                <a:solidFill>
                  <a:srgbClr val="163F73"/>
                </a:solidFill>
                <a:latin typeface="Arial" pitchFamily="34" charset="0"/>
                <a:ea typeface="Arial" pitchFamily="34" charset="-122"/>
                <a:cs typeface="Arial" pitchFamily="34" charset="-120"/>
              </a:rPr>
              <a:t>GHE_NGOI (thực thể yếu)</a:t>
            </a:r>
            <a:endParaRPr lang="en-US" sz="1200" dirty="0"/>
          </a:p>
          <a:p>
            <a:pPr indent="0" marL="0">
              <a:buNone/>
            </a:pPr>
            <a:r>
              <a:rPr lang="en-US" sz="1200" b="1" dirty="0">
                <a:solidFill>
                  <a:srgbClr val="163F73"/>
                </a:solidFill>
                <a:latin typeface="Arial" pitchFamily="34" charset="0"/>
                <a:ea typeface="Arial" pitchFamily="34" charset="-122"/>
                <a:cs typeface="Arial" pitchFamily="34" charset="-120"/>
              </a:rPr>
              <a:t>VE_MAY_BAY</a:t>
            </a:r>
            <a:endParaRPr lang="en-US" sz="1200" dirty="0"/>
          </a:p>
        </p:txBody>
      </p:sp>
      <p:sp>
        <p:nvSpPr>
          <p:cNvPr id="8" name="bang68_o0_0"/>
          <p:cNvSpPr/>
          <p:nvPr/>
        </p:nvSpPr>
        <p:spPr>
          <a:xfrm>
            <a:off x="4251960" y="1481328"/>
            <a:ext cx="685800" cy="295656"/>
          </a:xfrm>
          <a:prstGeom prst="rect">
            <a:avLst/>
          </a:prstGeom>
          <a:solidFill>
            <a:srgbClr val="E6D3AA"/>
          </a:solidFill>
          <a:ln w="9525">
            <a:solidFill>
              <a:srgbClr val="C9D3DF"/>
            </a:solidFill>
            <a:prstDash val="solid"/>
          </a:ln>
        </p:spPr>
      </p:sp>
      <p:sp>
        <p:nvSpPr>
          <p:cNvPr id="9" name="bang68_t0_0"/>
          <p:cNvSpPr txBox="1"/>
          <p:nvPr/>
        </p:nvSpPr>
        <p:spPr>
          <a:xfrm>
            <a:off x="4306824" y="1527048"/>
            <a:ext cx="576072" cy="204216"/>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Mã</a:t>
            </a:r>
            <a:endParaRPr lang="en-US" sz="1200" dirty="0"/>
          </a:p>
        </p:txBody>
      </p:sp>
      <p:sp>
        <p:nvSpPr>
          <p:cNvPr id="10" name="bang68_o0_1"/>
          <p:cNvSpPr/>
          <p:nvPr/>
        </p:nvSpPr>
        <p:spPr>
          <a:xfrm>
            <a:off x="4937760" y="1481328"/>
            <a:ext cx="6796735" cy="295656"/>
          </a:xfrm>
          <a:prstGeom prst="rect">
            <a:avLst/>
          </a:prstGeom>
          <a:solidFill>
            <a:srgbClr val="E6D3AA"/>
          </a:solidFill>
          <a:ln w="9525">
            <a:solidFill>
              <a:srgbClr val="C9D3DF"/>
            </a:solidFill>
            <a:prstDash val="solid"/>
          </a:ln>
        </p:spPr>
      </p:sp>
      <p:sp>
        <p:nvSpPr>
          <p:cNvPr id="11" name="bang68_t0_1"/>
          <p:cNvSpPr txBox="1"/>
          <p:nvPr/>
        </p:nvSpPr>
        <p:spPr>
          <a:xfrm>
            <a:off x="4992624" y="1527048"/>
            <a:ext cx="6687007" cy="204216"/>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Quy tắc nghiệp vụ</a:t>
            </a:r>
            <a:endParaRPr lang="en-US" sz="1200" dirty="0"/>
          </a:p>
        </p:txBody>
      </p:sp>
      <p:sp>
        <p:nvSpPr>
          <p:cNvPr id="12" name="bang68_o1_0"/>
          <p:cNvSpPr/>
          <p:nvPr/>
        </p:nvSpPr>
        <p:spPr>
          <a:xfrm>
            <a:off x="4251960" y="1776984"/>
            <a:ext cx="685800" cy="528066"/>
          </a:xfrm>
          <a:prstGeom prst="rect">
            <a:avLst/>
          </a:prstGeom>
          <a:solidFill>
            <a:srgbClr val="FFFFFF"/>
          </a:solidFill>
          <a:ln w="9525">
            <a:solidFill>
              <a:srgbClr val="C9D3DF"/>
            </a:solidFill>
            <a:prstDash val="solid"/>
          </a:ln>
        </p:spPr>
      </p:sp>
      <p:sp>
        <p:nvSpPr>
          <p:cNvPr id="13" name="bang68_t1_0"/>
          <p:cNvSpPr txBox="1"/>
          <p:nvPr/>
        </p:nvSpPr>
        <p:spPr>
          <a:xfrm>
            <a:off x="4306824" y="1822704"/>
            <a:ext cx="576072"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QT06</a:t>
            </a:r>
            <a:endParaRPr lang="en-US" sz="1350" dirty="0"/>
          </a:p>
        </p:txBody>
      </p:sp>
      <p:sp>
        <p:nvSpPr>
          <p:cNvPr id="14" name="bang68_o1_1"/>
          <p:cNvSpPr/>
          <p:nvPr/>
        </p:nvSpPr>
        <p:spPr>
          <a:xfrm>
            <a:off x="4937760" y="1776984"/>
            <a:ext cx="6796735" cy="528066"/>
          </a:xfrm>
          <a:prstGeom prst="rect">
            <a:avLst/>
          </a:prstGeom>
          <a:solidFill>
            <a:srgbClr val="FFFFFF"/>
          </a:solidFill>
          <a:ln w="9525">
            <a:solidFill>
              <a:srgbClr val="C9D3DF"/>
            </a:solidFill>
            <a:prstDash val="solid"/>
          </a:ln>
        </p:spPr>
      </p:sp>
      <p:sp>
        <p:nvSpPr>
          <p:cNvPr id="15" name="bang68_t1_1"/>
          <p:cNvSpPr txBox="1"/>
          <p:nvPr/>
        </p:nvSpPr>
        <p:spPr>
          <a:xfrm>
            <a:off x="4992624" y="1822704"/>
            <a:ext cx="6687007"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đặt chỗ do đúng 1 khách hàng thực hiện; mỗi khách hàng có 0 hoặc nhiều đặt chỗ.</a:t>
            </a:r>
            <a:endParaRPr lang="en-US" sz="1350" dirty="0"/>
          </a:p>
        </p:txBody>
      </p:sp>
      <p:sp>
        <p:nvSpPr>
          <p:cNvPr id="16" name="bang68_o2_0"/>
          <p:cNvSpPr/>
          <p:nvPr/>
        </p:nvSpPr>
        <p:spPr>
          <a:xfrm>
            <a:off x="4251960" y="2305050"/>
            <a:ext cx="685800" cy="528066"/>
          </a:xfrm>
          <a:prstGeom prst="rect">
            <a:avLst/>
          </a:prstGeom>
          <a:solidFill>
            <a:srgbClr val="F7F0E1"/>
          </a:solidFill>
          <a:ln w="9525">
            <a:solidFill>
              <a:srgbClr val="C9D3DF"/>
            </a:solidFill>
            <a:prstDash val="solid"/>
          </a:ln>
        </p:spPr>
      </p:sp>
      <p:sp>
        <p:nvSpPr>
          <p:cNvPr id="17" name="bang68_t2_0"/>
          <p:cNvSpPr txBox="1"/>
          <p:nvPr/>
        </p:nvSpPr>
        <p:spPr>
          <a:xfrm>
            <a:off x="4306824" y="2350770"/>
            <a:ext cx="576072"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QT07</a:t>
            </a:r>
            <a:endParaRPr lang="en-US" sz="1350" dirty="0"/>
          </a:p>
        </p:txBody>
      </p:sp>
      <p:sp>
        <p:nvSpPr>
          <p:cNvPr id="18" name="bang68_o2_1"/>
          <p:cNvSpPr/>
          <p:nvPr/>
        </p:nvSpPr>
        <p:spPr>
          <a:xfrm>
            <a:off x="4937760" y="2305050"/>
            <a:ext cx="6796735" cy="528066"/>
          </a:xfrm>
          <a:prstGeom prst="rect">
            <a:avLst/>
          </a:prstGeom>
          <a:solidFill>
            <a:srgbClr val="F7F0E1"/>
          </a:solidFill>
          <a:ln w="9525">
            <a:solidFill>
              <a:srgbClr val="C9D3DF"/>
            </a:solidFill>
            <a:prstDash val="solid"/>
          </a:ln>
        </p:spPr>
      </p:sp>
      <p:sp>
        <p:nvSpPr>
          <p:cNvPr id="19" name="bang68_t2_1"/>
          <p:cNvSpPr txBox="1"/>
          <p:nvPr/>
        </p:nvSpPr>
        <p:spPr>
          <a:xfrm>
            <a:off x="4992624" y="2350770"/>
            <a:ext cx="6687007"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đặt chỗ gồm từ 1 đến 9 vé (mỗi hành khách trên mỗi chặng một vé); mỗi vé thuộc đúng 1 đặt chỗ.</a:t>
            </a:r>
            <a:endParaRPr lang="en-US" sz="1350" dirty="0"/>
          </a:p>
        </p:txBody>
      </p:sp>
      <p:sp>
        <p:nvSpPr>
          <p:cNvPr id="20" name="bang68_o3_0"/>
          <p:cNvSpPr/>
          <p:nvPr/>
        </p:nvSpPr>
        <p:spPr>
          <a:xfrm>
            <a:off x="4251960" y="2833116"/>
            <a:ext cx="685800" cy="528066"/>
          </a:xfrm>
          <a:prstGeom prst="rect">
            <a:avLst/>
          </a:prstGeom>
          <a:solidFill>
            <a:srgbClr val="FFFFFF"/>
          </a:solidFill>
          <a:ln w="9525">
            <a:solidFill>
              <a:srgbClr val="C9D3DF"/>
            </a:solidFill>
            <a:prstDash val="solid"/>
          </a:ln>
        </p:spPr>
      </p:sp>
      <p:sp>
        <p:nvSpPr>
          <p:cNvPr id="21" name="bang68_t3_0"/>
          <p:cNvSpPr txBox="1"/>
          <p:nvPr/>
        </p:nvSpPr>
        <p:spPr>
          <a:xfrm>
            <a:off x="4306824" y="2878836"/>
            <a:ext cx="576072"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QT08</a:t>
            </a:r>
            <a:endParaRPr lang="en-US" sz="1350" dirty="0"/>
          </a:p>
        </p:txBody>
      </p:sp>
      <p:sp>
        <p:nvSpPr>
          <p:cNvPr id="22" name="bang68_o3_1"/>
          <p:cNvSpPr/>
          <p:nvPr/>
        </p:nvSpPr>
        <p:spPr>
          <a:xfrm>
            <a:off x="4937760" y="2833116"/>
            <a:ext cx="6796735" cy="528066"/>
          </a:xfrm>
          <a:prstGeom prst="rect">
            <a:avLst/>
          </a:prstGeom>
          <a:solidFill>
            <a:srgbClr val="FFFFFF"/>
          </a:solidFill>
          <a:ln w="9525">
            <a:solidFill>
              <a:srgbClr val="C9D3DF"/>
            </a:solidFill>
            <a:prstDash val="solid"/>
          </a:ln>
        </p:spPr>
      </p:sp>
      <p:sp>
        <p:nvSpPr>
          <p:cNvPr id="23" name="bang68_t3_1"/>
          <p:cNvSpPr txBox="1"/>
          <p:nvPr/>
        </p:nvSpPr>
        <p:spPr>
          <a:xfrm>
            <a:off x="4992624" y="2878836"/>
            <a:ext cx="6687007"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vé dùng cho đúng 1 chuyến bay; mỗi chuyến bay có 0 hoặc nhiều vé. Hạng vé là Thương gia hoặc Phổ thông.</a:t>
            </a:r>
            <a:endParaRPr lang="en-US" sz="1350" dirty="0"/>
          </a:p>
        </p:txBody>
      </p:sp>
      <p:sp>
        <p:nvSpPr>
          <p:cNvPr id="24" name="bang68_o4_0"/>
          <p:cNvSpPr/>
          <p:nvPr/>
        </p:nvSpPr>
        <p:spPr>
          <a:xfrm>
            <a:off x="4251960" y="3361182"/>
            <a:ext cx="685800" cy="737235"/>
          </a:xfrm>
          <a:prstGeom prst="rect">
            <a:avLst/>
          </a:prstGeom>
          <a:solidFill>
            <a:srgbClr val="F7F0E1"/>
          </a:solidFill>
          <a:ln w="9525">
            <a:solidFill>
              <a:srgbClr val="C9D3DF"/>
            </a:solidFill>
            <a:prstDash val="solid"/>
          </a:ln>
        </p:spPr>
      </p:sp>
      <p:sp>
        <p:nvSpPr>
          <p:cNvPr id="25" name="bang68_t4_0"/>
          <p:cNvSpPr txBox="1"/>
          <p:nvPr/>
        </p:nvSpPr>
        <p:spPr>
          <a:xfrm>
            <a:off x="4306824" y="3406902"/>
            <a:ext cx="576072" cy="645795"/>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QT09</a:t>
            </a:r>
            <a:endParaRPr lang="en-US" sz="1350" dirty="0"/>
          </a:p>
        </p:txBody>
      </p:sp>
      <p:sp>
        <p:nvSpPr>
          <p:cNvPr id="26" name="bang68_o4_1"/>
          <p:cNvSpPr/>
          <p:nvPr/>
        </p:nvSpPr>
        <p:spPr>
          <a:xfrm>
            <a:off x="4937760" y="3361182"/>
            <a:ext cx="6796735" cy="737235"/>
          </a:xfrm>
          <a:prstGeom prst="rect">
            <a:avLst/>
          </a:prstGeom>
          <a:solidFill>
            <a:srgbClr val="F7F0E1"/>
          </a:solidFill>
          <a:ln w="9525">
            <a:solidFill>
              <a:srgbClr val="C9D3DF"/>
            </a:solidFill>
            <a:prstDash val="solid"/>
          </a:ln>
        </p:spPr>
      </p:sp>
      <p:sp>
        <p:nvSpPr>
          <p:cNvPr id="27" name="bang68_t4_1"/>
          <p:cNvSpPr txBox="1"/>
          <p:nvPr/>
        </p:nvSpPr>
        <p:spPr>
          <a:xfrm>
            <a:off x="4992624" y="3406902"/>
            <a:ext cx="6687007" cy="645795"/>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máy bay có ít nhất 1 ghế; mỗi ghế thuộc đúng 1 máy bay và chỉ phân biệt được trong máy bay đó (ghế 12A có ở nhiều máy bay), nên GHE_NGOI là thực thể yếu.</a:t>
            </a:r>
            <a:endParaRPr lang="en-US" sz="1350" dirty="0"/>
          </a:p>
        </p:txBody>
      </p:sp>
      <p:sp>
        <p:nvSpPr>
          <p:cNvPr id="28" name="bang68_o5_0"/>
          <p:cNvSpPr/>
          <p:nvPr/>
        </p:nvSpPr>
        <p:spPr>
          <a:xfrm>
            <a:off x="4251960" y="4098417"/>
            <a:ext cx="685800" cy="946404"/>
          </a:xfrm>
          <a:prstGeom prst="rect">
            <a:avLst/>
          </a:prstGeom>
          <a:solidFill>
            <a:srgbClr val="FFFFFF"/>
          </a:solidFill>
          <a:ln w="9525">
            <a:solidFill>
              <a:srgbClr val="C9D3DF"/>
            </a:solidFill>
            <a:prstDash val="solid"/>
          </a:ln>
        </p:spPr>
      </p:sp>
      <p:sp>
        <p:nvSpPr>
          <p:cNvPr id="29" name="bang68_t5_0"/>
          <p:cNvSpPr txBox="1"/>
          <p:nvPr/>
        </p:nvSpPr>
        <p:spPr>
          <a:xfrm>
            <a:off x="4306824" y="4144137"/>
            <a:ext cx="576072" cy="854964"/>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QT10</a:t>
            </a:r>
            <a:endParaRPr lang="en-US" sz="1350" dirty="0"/>
          </a:p>
        </p:txBody>
      </p:sp>
      <p:sp>
        <p:nvSpPr>
          <p:cNvPr id="30" name="bang68_o5_1"/>
          <p:cNvSpPr/>
          <p:nvPr/>
        </p:nvSpPr>
        <p:spPr>
          <a:xfrm>
            <a:off x="4937760" y="4098417"/>
            <a:ext cx="6796735" cy="946404"/>
          </a:xfrm>
          <a:prstGeom prst="rect">
            <a:avLst/>
          </a:prstGeom>
          <a:solidFill>
            <a:srgbClr val="FFFFFF"/>
          </a:solidFill>
          <a:ln w="9525">
            <a:solidFill>
              <a:srgbClr val="C9D3DF"/>
            </a:solidFill>
            <a:prstDash val="solid"/>
          </a:ln>
        </p:spPr>
      </p:sp>
      <p:sp>
        <p:nvSpPr>
          <p:cNvPr id="31" name="bang68_t5_1"/>
          <p:cNvSpPr txBox="1"/>
          <p:nvPr/>
        </p:nvSpPr>
        <p:spPr>
          <a:xfrm>
            <a:off x="4992624" y="4144137"/>
            <a:ext cx="6687007" cy="854964"/>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vé được gán 0 hoặc 1 ghế (chưa chọn chỗ thì chưa có ghế); mỗi ghế được gán cho 0 hoặc nhiều vé ở các chuyến khác nhau, nhưng trong một chuyến bay mỗi ghế thuộc tối đa 1 vé. Ghế phải cùng hạng với vé.</a:t>
            </a:r>
            <a:endParaRPr lang="en-US" sz="135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ERD phân hệ B</a:t>
            </a:r>
            <a:endParaRPr lang="en-US" sz="2600" dirty="0"/>
          </a:p>
        </p:txBody>
      </p:sp>
      <p:pic>
        <p:nvPicPr>
          <p:cNvPr id="3" name="erd_B" descr="erd_B">    </p:cNvPr>
          <p:cNvPicPr>
            <a:picLocks noChangeAspect="1"/>
          </p:cNvPicPr>
          <p:nvPr/>
        </p:nvPicPr>
        <p:blipFill>
          <a:blip r:embed="rId1"/>
          <a:stretch>
            <a:fillRect/>
          </a:stretch>
        </p:blipFill>
        <p:spPr>
          <a:xfrm>
            <a:off x="1473853" y="1389888"/>
            <a:ext cx="9243990" cy="4919472"/>
          </a:xfrm>
          <a:prstGeom prst="rect">
            <a:avLst/>
          </a:prstGeom>
        </p:spPr>
      </p:pic>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Bảng liên kết và multiplicity</a:t>
            </a:r>
            <a:endParaRPr lang="en-US" sz="2600" dirty="0"/>
          </a:p>
        </p:txBody>
      </p:sp>
      <p:sp>
        <p:nvSpPr>
          <p:cNvPr id="3" name="bang69_o0_0"/>
          <p:cNvSpPr/>
          <p:nvPr/>
        </p:nvSpPr>
        <p:spPr>
          <a:xfrm>
            <a:off x="457200" y="1481328"/>
            <a:ext cx="914400" cy="667512"/>
          </a:xfrm>
          <a:prstGeom prst="rect">
            <a:avLst/>
          </a:prstGeom>
          <a:solidFill>
            <a:srgbClr val="E6D3AA"/>
          </a:solidFill>
          <a:ln w="9525">
            <a:solidFill>
              <a:srgbClr val="C9D3DF"/>
            </a:solidFill>
            <a:prstDash val="solid"/>
          </a:ln>
        </p:spPr>
      </p:sp>
      <p:sp>
        <p:nvSpPr>
          <p:cNvPr id="4" name="bang69_t0_0"/>
          <p:cNvSpPr txBox="1"/>
          <p:nvPr/>
        </p:nvSpPr>
        <p:spPr>
          <a:xfrm>
            <a:off x="512064" y="1527048"/>
            <a:ext cx="80467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Mã</a:t>
            </a:r>
            <a:endParaRPr lang="en-US" sz="1200" dirty="0"/>
          </a:p>
        </p:txBody>
      </p:sp>
      <p:sp>
        <p:nvSpPr>
          <p:cNvPr id="5" name="bang69_o0_1"/>
          <p:cNvSpPr/>
          <p:nvPr/>
        </p:nvSpPr>
        <p:spPr>
          <a:xfrm>
            <a:off x="1371600" y="1481328"/>
            <a:ext cx="1828800" cy="667512"/>
          </a:xfrm>
          <a:prstGeom prst="rect">
            <a:avLst/>
          </a:prstGeom>
          <a:solidFill>
            <a:srgbClr val="E6D3AA"/>
          </a:solidFill>
          <a:ln w="9525">
            <a:solidFill>
              <a:srgbClr val="C9D3DF"/>
            </a:solidFill>
            <a:prstDash val="solid"/>
          </a:ln>
        </p:spPr>
      </p:sp>
      <p:sp>
        <p:nvSpPr>
          <p:cNvPr id="6" name="bang69_t0_1"/>
          <p:cNvSpPr txBox="1"/>
          <p:nvPr/>
        </p:nvSpPr>
        <p:spPr>
          <a:xfrm>
            <a:off x="1426464" y="1527048"/>
            <a:ext cx="171907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Tên liên kết</a:t>
            </a:r>
            <a:endParaRPr lang="en-US" sz="1200" dirty="0"/>
          </a:p>
        </p:txBody>
      </p:sp>
      <p:sp>
        <p:nvSpPr>
          <p:cNvPr id="7" name="bang69_o0_2"/>
          <p:cNvSpPr/>
          <p:nvPr/>
        </p:nvSpPr>
        <p:spPr>
          <a:xfrm>
            <a:off x="3200400" y="1481328"/>
            <a:ext cx="1965960" cy="667512"/>
          </a:xfrm>
          <a:prstGeom prst="rect">
            <a:avLst/>
          </a:prstGeom>
          <a:solidFill>
            <a:srgbClr val="E6D3AA"/>
          </a:solidFill>
          <a:ln w="9525">
            <a:solidFill>
              <a:srgbClr val="C9D3DF"/>
            </a:solidFill>
            <a:prstDash val="solid"/>
          </a:ln>
        </p:spPr>
      </p:sp>
      <p:sp>
        <p:nvSpPr>
          <p:cNvPr id="8" name="bang69_t0_2"/>
          <p:cNvSpPr txBox="1"/>
          <p:nvPr/>
        </p:nvSpPr>
        <p:spPr>
          <a:xfrm>
            <a:off x="3255264" y="1527048"/>
            <a:ext cx="185623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Thực thể A</a:t>
            </a:r>
            <a:endParaRPr lang="en-US" sz="1200" dirty="0"/>
          </a:p>
        </p:txBody>
      </p:sp>
      <p:sp>
        <p:nvSpPr>
          <p:cNvPr id="9" name="bang69_o0_3"/>
          <p:cNvSpPr/>
          <p:nvPr/>
        </p:nvSpPr>
        <p:spPr>
          <a:xfrm>
            <a:off x="5166360" y="1481328"/>
            <a:ext cx="2148840" cy="667512"/>
          </a:xfrm>
          <a:prstGeom prst="rect">
            <a:avLst/>
          </a:prstGeom>
          <a:solidFill>
            <a:srgbClr val="E6D3AA"/>
          </a:solidFill>
          <a:ln w="9525">
            <a:solidFill>
              <a:srgbClr val="C9D3DF"/>
            </a:solidFill>
            <a:prstDash val="solid"/>
          </a:ln>
        </p:spPr>
      </p:sp>
      <p:sp>
        <p:nvSpPr>
          <p:cNvPr id="10" name="bang69_t0_3"/>
          <p:cNvSpPr txBox="1"/>
          <p:nvPr/>
        </p:nvSpPr>
        <p:spPr>
          <a:xfrm>
            <a:off x="5221224" y="1527048"/>
            <a:ext cx="203911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Thực thể B</a:t>
            </a:r>
            <a:endParaRPr lang="en-US" sz="1200" dirty="0"/>
          </a:p>
        </p:txBody>
      </p:sp>
      <p:sp>
        <p:nvSpPr>
          <p:cNvPr id="11" name="bang69_o0_4"/>
          <p:cNvSpPr/>
          <p:nvPr/>
        </p:nvSpPr>
        <p:spPr>
          <a:xfrm>
            <a:off x="7315200" y="1481328"/>
            <a:ext cx="960120" cy="667512"/>
          </a:xfrm>
          <a:prstGeom prst="rect">
            <a:avLst/>
          </a:prstGeom>
          <a:solidFill>
            <a:srgbClr val="E6D3AA"/>
          </a:solidFill>
          <a:ln w="9525">
            <a:solidFill>
              <a:srgbClr val="C9D3DF"/>
            </a:solidFill>
            <a:prstDash val="solid"/>
          </a:ln>
        </p:spPr>
      </p:sp>
      <p:sp>
        <p:nvSpPr>
          <p:cNvPr id="12" name="bang69_t0_4"/>
          <p:cNvSpPr txBox="1"/>
          <p:nvPr/>
        </p:nvSpPr>
        <p:spPr>
          <a:xfrm>
            <a:off x="7370064" y="1527048"/>
            <a:ext cx="85039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Mỗi A có bao nhiêu B</a:t>
            </a:r>
            <a:endParaRPr lang="en-US" sz="1200" dirty="0"/>
          </a:p>
        </p:txBody>
      </p:sp>
      <p:sp>
        <p:nvSpPr>
          <p:cNvPr id="13" name="bang69_o0_5"/>
          <p:cNvSpPr/>
          <p:nvPr/>
        </p:nvSpPr>
        <p:spPr>
          <a:xfrm>
            <a:off x="8275320" y="1481328"/>
            <a:ext cx="960120" cy="667512"/>
          </a:xfrm>
          <a:prstGeom prst="rect">
            <a:avLst/>
          </a:prstGeom>
          <a:solidFill>
            <a:srgbClr val="E6D3AA"/>
          </a:solidFill>
          <a:ln w="9525">
            <a:solidFill>
              <a:srgbClr val="C9D3DF"/>
            </a:solidFill>
            <a:prstDash val="solid"/>
          </a:ln>
        </p:spPr>
      </p:sp>
      <p:sp>
        <p:nvSpPr>
          <p:cNvPr id="14" name="bang69_t0_5"/>
          <p:cNvSpPr txBox="1"/>
          <p:nvPr/>
        </p:nvSpPr>
        <p:spPr>
          <a:xfrm>
            <a:off x="8330184" y="1527048"/>
            <a:ext cx="85039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Mỗi B có bao nhiêu A</a:t>
            </a:r>
            <a:endParaRPr lang="en-US" sz="1200" dirty="0"/>
          </a:p>
        </p:txBody>
      </p:sp>
      <p:sp>
        <p:nvSpPr>
          <p:cNvPr id="15" name="bang69_o0_6"/>
          <p:cNvSpPr/>
          <p:nvPr/>
        </p:nvSpPr>
        <p:spPr>
          <a:xfrm>
            <a:off x="9235440" y="1481328"/>
            <a:ext cx="1828800" cy="667512"/>
          </a:xfrm>
          <a:prstGeom prst="rect">
            <a:avLst/>
          </a:prstGeom>
          <a:solidFill>
            <a:srgbClr val="E6D3AA"/>
          </a:solidFill>
          <a:ln w="9525">
            <a:solidFill>
              <a:srgbClr val="C9D3DF"/>
            </a:solidFill>
            <a:prstDash val="solid"/>
          </a:ln>
        </p:spPr>
      </p:sp>
      <p:sp>
        <p:nvSpPr>
          <p:cNvPr id="16" name="bang69_t0_6"/>
          <p:cNvSpPr txBox="1"/>
          <p:nvPr/>
        </p:nvSpPr>
        <p:spPr>
          <a:xfrm>
            <a:off x="9290304" y="1527048"/>
            <a:ext cx="171907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Thuộc tính liên kết</a:t>
            </a:r>
            <a:endParaRPr lang="en-US" sz="1200" dirty="0"/>
          </a:p>
        </p:txBody>
      </p:sp>
      <p:sp>
        <p:nvSpPr>
          <p:cNvPr id="17" name="bang69_o0_7"/>
          <p:cNvSpPr/>
          <p:nvPr/>
        </p:nvSpPr>
        <p:spPr>
          <a:xfrm>
            <a:off x="11064240" y="1481328"/>
            <a:ext cx="667512" cy="667512"/>
          </a:xfrm>
          <a:prstGeom prst="rect">
            <a:avLst/>
          </a:prstGeom>
          <a:solidFill>
            <a:srgbClr val="E6D3AA"/>
          </a:solidFill>
          <a:ln w="9525">
            <a:solidFill>
              <a:srgbClr val="C9D3DF"/>
            </a:solidFill>
            <a:prstDash val="solid"/>
          </a:ln>
        </p:spPr>
      </p:sp>
      <p:sp>
        <p:nvSpPr>
          <p:cNvPr id="18" name="bang69_t0_7"/>
          <p:cNvSpPr txBox="1"/>
          <p:nvPr/>
        </p:nvSpPr>
        <p:spPr>
          <a:xfrm>
            <a:off x="11119104" y="1527048"/>
            <a:ext cx="557784"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QT</a:t>
            </a:r>
            <a:endParaRPr lang="en-US" sz="1200" dirty="0"/>
          </a:p>
        </p:txBody>
      </p:sp>
      <p:sp>
        <p:nvSpPr>
          <p:cNvPr id="19" name="bang69_o1_0"/>
          <p:cNvSpPr/>
          <p:nvPr/>
        </p:nvSpPr>
        <p:spPr>
          <a:xfrm>
            <a:off x="457200" y="2148840"/>
            <a:ext cx="914400" cy="512572"/>
          </a:xfrm>
          <a:prstGeom prst="rect">
            <a:avLst/>
          </a:prstGeom>
          <a:solidFill>
            <a:srgbClr val="FFFFFF"/>
          </a:solidFill>
          <a:ln w="9525">
            <a:solidFill>
              <a:srgbClr val="C9D3DF"/>
            </a:solidFill>
            <a:prstDash val="solid"/>
          </a:ln>
        </p:spPr>
      </p:sp>
      <p:sp>
        <p:nvSpPr>
          <p:cNvPr id="20" name="bang69_t1_0"/>
          <p:cNvSpPr txBox="1"/>
          <p:nvPr/>
        </p:nvSpPr>
        <p:spPr>
          <a:xfrm>
            <a:off x="512064" y="2194560"/>
            <a:ext cx="8046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LK05 (*)</a:t>
            </a:r>
            <a:endParaRPr lang="en-US" sz="1300" dirty="0"/>
          </a:p>
        </p:txBody>
      </p:sp>
      <p:sp>
        <p:nvSpPr>
          <p:cNvPr id="21" name="bang69_o1_1"/>
          <p:cNvSpPr/>
          <p:nvPr/>
        </p:nvSpPr>
        <p:spPr>
          <a:xfrm>
            <a:off x="1371600" y="2148840"/>
            <a:ext cx="1828800" cy="512572"/>
          </a:xfrm>
          <a:prstGeom prst="rect">
            <a:avLst/>
          </a:prstGeom>
          <a:solidFill>
            <a:srgbClr val="FFFFFF"/>
          </a:solidFill>
          <a:ln w="9525">
            <a:solidFill>
              <a:srgbClr val="C9D3DF"/>
            </a:solidFill>
            <a:prstDash val="solid"/>
          </a:ln>
        </p:spPr>
      </p:sp>
      <p:sp>
        <p:nvSpPr>
          <p:cNvPr id="22" name="bang69_t1_1"/>
          <p:cNvSpPr txBox="1"/>
          <p:nvPr/>
        </p:nvSpPr>
        <p:spPr>
          <a:xfrm>
            <a:off x="1426464" y="2194560"/>
            <a:ext cx="17190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Đặt</a:t>
            </a:r>
            <a:endParaRPr lang="en-US" sz="1300" dirty="0"/>
          </a:p>
        </p:txBody>
      </p:sp>
      <p:sp>
        <p:nvSpPr>
          <p:cNvPr id="23" name="bang69_o1_2"/>
          <p:cNvSpPr/>
          <p:nvPr/>
        </p:nvSpPr>
        <p:spPr>
          <a:xfrm>
            <a:off x="3200400" y="2148840"/>
            <a:ext cx="1965960" cy="512572"/>
          </a:xfrm>
          <a:prstGeom prst="rect">
            <a:avLst/>
          </a:prstGeom>
          <a:solidFill>
            <a:srgbClr val="FFFFFF"/>
          </a:solidFill>
          <a:ln w="9525">
            <a:solidFill>
              <a:srgbClr val="C9D3DF"/>
            </a:solidFill>
            <a:prstDash val="solid"/>
          </a:ln>
        </p:spPr>
      </p:sp>
      <p:sp>
        <p:nvSpPr>
          <p:cNvPr id="24" name="bang69_t1_2"/>
          <p:cNvSpPr txBox="1"/>
          <p:nvPr/>
        </p:nvSpPr>
        <p:spPr>
          <a:xfrm>
            <a:off x="3255264" y="2194560"/>
            <a:ext cx="185623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KHACH_HANG</a:t>
            </a:r>
            <a:endParaRPr lang="en-US" sz="1300" dirty="0"/>
          </a:p>
        </p:txBody>
      </p:sp>
      <p:sp>
        <p:nvSpPr>
          <p:cNvPr id="25" name="bang69_o1_3"/>
          <p:cNvSpPr/>
          <p:nvPr/>
        </p:nvSpPr>
        <p:spPr>
          <a:xfrm>
            <a:off x="5166360" y="2148840"/>
            <a:ext cx="2148840" cy="512572"/>
          </a:xfrm>
          <a:prstGeom prst="rect">
            <a:avLst/>
          </a:prstGeom>
          <a:solidFill>
            <a:srgbClr val="FFFFFF"/>
          </a:solidFill>
          <a:ln w="9525">
            <a:solidFill>
              <a:srgbClr val="C9D3DF"/>
            </a:solidFill>
            <a:prstDash val="solid"/>
          </a:ln>
        </p:spPr>
      </p:sp>
      <p:sp>
        <p:nvSpPr>
          <p:cNvPr id="26" name="bang69_t1_3"/>
          <p:cNvSpPr txBox="1"/>
          <p:nvPr/>
        </p:nvSpPr>
        <p:spPr>
          <a:xfrm>
            <a:off x="5221224" y="2194560"/>
            <a:ext cx="203911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DAT_CHO</a:t>
            </a:r>
            <a:endParaRPr lang="en-US" sz="1300" dirty="0"/>
          </a:p>
        </p:txBody>
      </p:sp>
      <p:sp>
        <p:nvSpPr>
          <p:cNvPr id="27" name="bang69_o1_4"/>
          <p:cNvSpPr/>
          <p:nvPr/>
        </p:nvSpPr>
        <p:spPr>
          <a:xfrm>
            <a:off x="7315200" y="2148840"/>
            <a:ext cx="960120" cy="512572"/>
          </a:xfrm>
          <a:prstGeom prst="rect">
            <a:avLst/>
          </a:prstGeom>
          <a:solidFill>
            <a:srgbClr val="FFFFFF"/>
          </a:solidFill>
          <a:ln w="9525">
            <a:solidFill>
              <a:srgbClr val="C9D3DF"/>
            </a:solidFill>
            <a:prstDash val="solid"/>
          </a:ln>
        </p:spPr>
      </p:sp>
      <p:sp>
        <p:nvSpPr>
          <p:cNvPr id="28" name="bang69_t1_4"/>
          <p:cNvSpPr txBox="1"/>
          <p:nvPr/>
        </p:nvSpPr>
        <p:spPr>
          <a:xfrm>
            <a:off x="7370064" y="2194560"/>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29" name="bang69_o1_5"/>
          <p:cNvSpPr/>
          <p:nvPr/>
        </p:nvSpPr>
        <p:spPr>
          <a:xfrm>
            <a:off x="8275320" y="2148840"/>
            <a:ext cx="960120" cy="512572"/>
          </a:xfrm>
          <a:prstGeom prst="rect">
            <a:avLst/>
          </a:prstGeom>
          <a:solidFill>
            <a:srgbClr val="FFFFFF"/>
          </a:solidFill>
          <a:ln w="9525">
            <a:solidFill>
              <a:srgbClr val="C9D3DF"/>
            </a:solidFill>
            <a:prstDash val="solid"/>
          </a:ln>
        </p:spPr>
      </p:sp>
      <p:sp>
        <p:nvSpPr>
          <p:cNvPr id="30" name="bang69_t1_5"/>
          <p:cNvSpPr txBox="1"/>
          <p:nvPr/>
        </p:nvSpPr>
        <p:spPr>
          <a:xfrm>
            <a:off x="8330184" y="2194560"/>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1..1</a:t>
            </a:r>
            <a:endParaRPr lang="en-US" sz="1300" dirty="0"/>
          </a:p>
        </p:txBody>
      </p:sp>
      <p:sp>
        <p:nvSpPr>
          <p:cNvPr id="31" name="bang69_o1_6"/>
          <p:cNvSpPr/>
          <p:nvPr/>
        </p:nvSpPr>
        <p:spPr>
          <a:xfrm>
            <a:off x="9235440" y="2148840"/>
            <a:ext cx="1828800" cy="512572"/>
          </a:xfrm>
          <a:prstGeom prst="rect">
            <a:avLst/>
          </a:prstGeom>
          <a:solidFill>
            <a:srgbClr val="FFFFFF"/>
          </a:solidFill>
          <a:ln w="9525">
            <a:solidFill>
              <a:srgbClr val="C9D3DF"/>
            </a:solidFill>
            <a:prstDash val="solid"/>
          </a:ln>
        </p:spPr>
      </p:sp>
      <p:sp>
        <p:nvSpPr>
          <p:cNvPr id="32" name="bang69_o1_7"/>
          <p:cNvSpPr/>
          <p:nvPr/>
        </p:nvSpPr>
        <p:spPr>
          <a:xfrm>
            <a:off x="11064240" y="2148840"/>
            <a:ext cx="667512" cy="512572"/>
          </a:xfrm>
          <a:prstGeom prst="rect">
            <a:avLst/>
          </a:prstGeom>
          <a:solidFill>
            <a:srgbClr val="FFFFFF"/>
          </a:solidFill>
          <a:ln w="9525">
            <a:solidFill>
              <a:srgbClr val="C9D3DF"/>
            </a:solidFill>
            <a:prstDash val="solid"/>
          </a:ln>
        </p:spPr>
      </p:sp>
      <p:sp>
        <p:nvSpPr>
          <p:cNvPr id="33" name="bang69_t1_7"/>
          <p:cNvSpPr txBox="1"/>
          <p:nvPr/>
        </p:nvSpPr>
        <p:spPr>
          <a:xfrm>
            <a:off x="11119104" y="2194560"/>
            <a:ext cx="557784"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QT06</a:t>
            </a:r>
            <a:endParaRPr lang="en-US" sz="1300" dirty="0"/>
          </a:p>
        </p:txBody>
      </p:sp>
      <p:sp>
        <p:nvSpPr>
          <p:cNvPr id="34" name="bang69_o2_0"/>
          <p:cNvSpPr/>
          <p:nvPr/>
        </p:nvSpPr>
        <p:spPr>
          <a:xfrm>
            <a:off x="457200" y="2661412"/>
            <a:ext cx="914400" cy="311150"/>
          </a:xfrm>
          <a:prstGeom prst="rect">
            <a:avLst/>
          </a:prstGeom>
          <a:solidFill>
            <a:srgbClr val="F7F0E1"/>
          </a:solidFill>
          <a:ln w="9525">
            <a:solidFill>
              <a:srgbClr val="C9D3DF"/>
            </a:solidFill>
            <a:prstDash val="solid"/>
          </a:ln>
        </p:spPr>
      </p:sp>
      <p:sp>
        <p:nvSpPr>
          <p:cNvPr id="35" name="bang69_t2_0"/>
          <p:cNvSpPr txBox="1"/>
          <p:nvPr/>
        </p:nvSpPr>
        <p:spPr>
          <a:xfrm>
            <a:off x="512064" y="2707132"/>
            <a:ext cx="8046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LK06</a:t>
            </a:r>
            <a:endParaRPr lang="en-US" sz="1300" dirty="0"/>
          </a:p>
        </p:txBody>
      </p:sp>
      <p:sp>
        <p:nvSpPr>
          <p:cNvPr id="36" name="bang69_o2_1"/>
          <p:cNvSpPr/>
          <p:nvPr/>
        </p:nvSpPr>
        <p:spPr>
          <a:xfrm>
            <a:off x="1371600" y="2661412"/>
            <a:ext cx="1828800" cy="311150"/>
          </a:xfrm>
          <a:prstGeom prst="rect">
            <a:avLst/>
          </a:prstGeom>
          <a:solidFill>
            <a:srgbClr val="F7F0E1"/>
          </a:solidFill>
          <a:ln w="9525">
            <a:solidFill>
              <a:srgbClr val="C9D3DF"/>
            </a:solidFill>
            <a:prstDash val="solid"/>
          </a:ln>
        </p:spPr>
      </p:sp>
      <p:sp>
        <p:nvSpPr>
          <p:cNvPr id="37" name="bang69_t2_1"/>
          <p:cNvSpPr txBox="1"/>
          <p:nvPr/>
        </p:nvSpPr>
        <p:spPr>
          <a:xfrm>
            <a:off x="1426464" y="2707132"/>
            <a:ext cx="17190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Gồm vé</a:t>
            </a:r>
            <a:endParaRPr lang="en-US" sz="1300" dirty="0"/>
          </a:p>
        </p:txBody>
      </p:sp>
      <p:sp>
        <p:nvSpPr>
          <p:cNvPr id="38" name="bang69_o2_2"/>
          <p:cNvSpPr/>
          <p:nvPr/>
        </p:nvSpPr>
        <p:spPr>
          <a:xfrm>
            <a:off x="3200400" y="2661412"/>
            <a:ext cx="1965960" cy="311150"/>
          </a:xfrm>
          <a:prstGeom prst="rect">
            <a:avLst/>
          </a:prstGeom>
          <a:solidFill>
            <a:srgbClr val="F7F0E1"/>
          </a:solidFill>
          <a:ln w="9525">
            <a:solidFill>
              <a:srgbClr val="C9D3DF"/>
            </a:solidFill>
            <a:prstDash val="solid"/>
          </a:ln>
        </p:spPr>
      </p:sp>
      <p:sp>
        <p:nvSpPr>
          <p:cNvPr id="39" name="bang69_t2_2"/>
          <p:cNvSpPr txBox="1"/>
          <p:nvPr/>
        </p:nvSpPr>
        <p:spPr>
          <a:xfrm>
            <a:off x="3255264" y="2707132"/>
            <a:ext cx="185623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DAT_CHO</a:t>
            </a:r>
            <a:endParaRPr lang="en-US" sz="1300" dirty="0"/>
          </a:p>
        </p:txBody>
      </p:sp>
      <p:sp>
        <p:nvSpPr>
          <p:cNvPr id="40" name="bang69_o2_3"/>
          <p:cNvSpPr/>
          <p:nvPr/>
        </p:nvSpPr>
        <p:spPr>
          <a:xfrm>
            <a:off x="5166360" y="2661412"/>
            <a:ext cx="2148840" cy="311150"/>
          </a:xfrm>
          <a:prstGeom prst="rect">
            <a:avLst/>
          </a:prstGeom>
          <a:solidFill>
            <a:srgbClr val="F7F0E1"/>
          </a:solidFill>
          <a:ln w="9525">
            <a:solidFill>
              <a:srgbClr val="C9D3DF"/>
            </a:solidFill>
            <a:prstDash val="solid"/>
          </a:ln>
        </p:spPr>
      </p:sp>
      <p:sp>
        <p:nvSpPr>
          <p:cNvPr id="41" name="bang69_t2_3"/>
          <p:cNvSpPr txBox="1"/>
          <p:nvPr/>
        </p:nvSpPr>
        <p:spPr>
          <a:xfrm>
            <a:off x="5221224" y="2707132"/>
            <a:ext cx="203911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VE_MAY_BAY</a:t>
            </a:r>
            <a:endParaRPr lang="en-US" sz="1300" dirty="0"/>
          </a:p>
        </p:txBody>
      </p:sp>
      <p:sp>
        <p:nvSpPr>
          <p:cNvPr id="42" name="bang69_o2_4"/>
          <p:cNvSpPr/>
          <p:nvPr/>
        </p:nvSpPr>
        <p:spPr>
          <a:xfrm>
            <a:off x="7315200" y="2661412"/>
            <a:ext cx="960120" cy="311150"/>
          </a:xfrm>
          <a:prstGeom prst="rect">
            <a:avLst/>
          </a:prstGeom>
          <a:solidFill>
            <a:srgbClr val="F7F0E1"/>
          </a:solidFill>
          <a:ln w="9525">
            <a:solidFill>
              <a:srgbClr val="C9D3DF"/>
            </a:solidFill>
            <a:prstDash val="solid"/>
          </a:ln>
        </p:spPr>
      </p:sp>
      <p:sp>
        <p:nvSpPr>
          <p:cNvPr id="43" name="bang69_t2_4"/>
          <p:cNvSpPr txBox="1"/>
          <p:nvPr/>
        </p:nvSpPr>
        <p:spPr>
          <a:xfrm>
            <a:off x="7370064" y="2707132"/>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1..9</a:t>
            </a:r>
            <a:endParaRPr lang="en-US" sz="1300" dirty="0"/>
          </a:p>
        </p:txBody>
      </p:sp>
      <p:sp>
        <p:nvSpPr>
          <p:cNvPr id="44" name="bang69_o2_5"/>
          <p:cNvSpPr/>
          <p:nvPr/>
        </p:nvSpPr>
        <p:spPr>
          <a:xfrm>
            <a:off x="8275320" y="2661412"/>
            <a:ext cx="960120" cy="311150"/>
          </a:xfrm>
          <a:prstGeom prst="rect">
            <a:avLst/>
          </a:prstGeom>
          <a:solidFill>
            <a:srgbClr val="F7F0E1"/>
          </a:solidFill>
          <a:ln w="9525">
            <a:solidFill>
              <a:srgbClr val="C9D3DF"/>
            </a:solidFill>
            <a:prstDash val="solid"/>
          </a:ln>
        </p:spPr>
      </p:sp>
      <p:sp>
        <p:nvSpPr>
          <p:cNvPr id="45" name="bang69_t2_5"/>
          <p:cNvSpPr txBox="1"/>
          <p:nvPr/>
        </p:nvSpPr>
        <p:spPr>
          <a:xfrm>
            <a:off x="8330184" y="2707132"/>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1..1</a:t>
            </a:r>
            <a:endParaRPr lang="en-US" sz="1300" dirty="0"/>
          </a:p>
        </p:txBody>
      </p:sp>
      <p:sp>
        <p:nvSpPr>
          <p:cNvPr id="46" name="bang69_o2_6"/>
          <p:cNvSpPr/>
          <p:nvPr/>
        </p:nvSpPr>
        <p:spPr>
          <a:xfrm>
            <a:off x="9235440" y="2661412"/>
            <a:ext cx="1828800" cy="311150"/>
          </a:xfrm>
          <a:prstGeom prst="rect">
            <a:avLst/>
          </a:prstGeom>
          <a:solidFill>
            <a:srgbClr val="F7F0E1"/>
          </a:solidFill>
          <a:ln w="9525">
            <a:solidFill>
              <a:srgbClr val="C9D3DF"/>
            </a:solidFill>
            <a:prstDash val="solid"/>
          </a:ln>
        </p:spPr>
      </p:sp>
      <p:sp>
        <p:nvSpPr>
          <p:cNvPr id="47" name="bang69_o2_7"/>
          <p:cNvSpPr/>
          <p:nvPr/>
        </p:nvSpPr>
        <p:spPr>
          <a:xfrm>
            <a:off x="11064240" y="2661412"/>
            <a:ext cx="667512" cy="311150"/>
          </a:xfrm>
          <a:prstGeom prst="rect">
            <a:avLst/>
          </a:prstGeom>
          <a:solidFill>
            <a:srgbClr val="F7F0E1"/>
          </a:solidFill>
          <a:ln w="9525">
            <a:solidFill>
              <a:srgbClr val="C9D3DF"/>
            </a:solidFill>
            <a:prstDash val="solid"/>
          </a:ln>
        </p:spPr>
      </p:sp>
      <p:sp>
        <p:nvSpPr>
          <p:cNvPr id="48" name="bang69_t2_7"/>
          <p:cNvSpPr txBox="1"/>
          <p:nvPr/>
        </p:nvSpPr>
        <p:spPr>
          <a:xfrm>
            <a:off x="11119104" y="2707132"/>
            <a:ext cx="557784"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QT07</a:t>
            </a:r>
            <a:endParaRPr lang="en-US" sz="1300" dirty="0"/>
          </a:p>
        </p:txBody>
      </p:sp>
      <p:sp>
        <p:nvSpPr>
          <p:cNvPr id="49" name="bang69_o3_0"/>
          <p:cNvSpPr/>
          <p:nvPr/>
        </p:nvSpPr>
        <p:spPr>
          <a:xfrm>
            <a:off x="457200" y="2972562"/>
            <a:ext cx="914400" cy="512572"/>
          </a:xfrm>
          <a:prstGeom prst="rect">
            <a:avLst/>
          </a:prstGeom>
          <a:solidFill>
            <a:srgbClr val="FFFFFF"/>
          </a:solidFill>
          <a:ln w="9525">
            <a:solidFill>
              <a:srgbClr val="C9D3DF"/>
            </a:solidFill>
            <a:prstDash val="solid"/>
          </a:ln>
        </p:spPr>
      </p:sp>
      <p:sp>
        <p:nvSpPr>
          <p:cNvPr id="50" name="bang69_t3_0"/>
          <p:cNvSpPr txBox="1"/>
          <p:nvPr/>
        </p:nvSpPr>
        <p:spPr>
          <a:xfrm>
            <a:off x="512064" y="3018282"/>
            <a:ext cx="8046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LK07 (*)</a:t>
            </a:r>
            <a:endParaRPr lang="en-US" sz="1300" dirty="0"/>
          </a:p>
        </p:txBody>
      </p:sp>
      <p:sp>
        <p:nvSpPr>
          <p:cNvPr id="51" name="bang69_o3_1"/>
          <p:cNvSpPr/>
          <p:nvPr/>
        </p:nvSpPr>
        <p:spPr>
          <a:xfrm>
            <a:off x="1371600" y="2972562"/>
            <a:ext cx="1828800" cy="512572"/>
          </a:xfrm>
          <a:prstGeom prst="rect">
            <a:avLst/>
          </a:prstGeom>
          <a:solidFill>
            <a:srgbClr val="FFFFFF"/>
          </a:solidFill>
          <a:ln w="9525">
            <a:solidFill>
              <a:srgbClr val="C9D3DF"/>
            </a:solidFill>
            <a:prstDash val="solid"/>
          </a:ln>
        </p:spPr>
      </p:sp>
      <p:sp>
        <p:nvSpPr>
          <p:cNvPr id="52" name="bang69_t3_1"/>
          <p:cNvSpPr txBox="1"/>
          <p:nvPr/>
        </p:nvSpPr>
        <p:spPr>
          <a:xfrm>
            <a:off x="1426464" y="3018282"/>
            <a:ext cx="17190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Dùng cho</a:t>
            </a:r>
            <a:endParaRPr lang="en-US" sz="1300" dirty="0"/>
          </a:p>
        </p:txBody>
      </p:sp>
      <p:sp>
        <p:nvSpPr>
          <p:cNvPr id="53" name="bang69_o3_2"/>
          <p:cNvSpPr/>
          <p:nvPr/>
        </p:nvSpPr>
        <p:spPr>
          <a:xfrm>
            <a:off x="3200400" y="2972562"/>
            <a:ext cx="1965960" cy="512572"/>
          </a:xfrm>
          <a:prstGeom prst="rect">
            <a:avLst/>
          </a:prstGeom>
          <a:solidFill>
            <a:srgbClr val="FFFFFF"/>
          </a:solidFill>
          <a:ln w="9525">
            <a:solidFill>
              <a:srgbClr val="C9D3DF"/>
            </a:solidFill>
            <a:prstDash val="solid"/>
          </a:ln>
        </p:spPr>
      </p:sp>
      <p:sp>
        <p:nvSpPr>
          <p:cNvPr id="54" name="bang69_t3_2"/>
          <p:cNvSpPr txBox="1"/>
          <p:nvPr/>
        </p:nvSpPr>
        <p:spPr>
          <a:xfrm>
            <a:off x="3255264" y="3018282"/>
            <a:ext cx="185623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VE_MAY_BAY</a:t>
            </a:r>
            <a:endParaRPr lang="en-US" sz="1300" dirty="0"/>
          </a:p>
        </p:txBody>
      </p:sp>
      <p:sp>
        <p:nvSpPr>
          <p:cNvPr id="55" name="bang69_o3_3"/>
          <p:cNvSpPr/>
          <p:nvPr/>
        </p:nvSpPr>
        <p:spPr>
          <a:xfrm>
            <a:off x="5166360" y="2972562"/>
            <a:ext cx="2148840" cy="512572"/>
          </a:xfrm>
          <a:prstGeom prst="rect">
            <a:avLst/>
          </a:prstGeom>
          <a:solidFill>
            <a:srgbClr val="FFFFFF"/>
          </a:solidFill>
          <a:ln w="9525">
            <a:solidFill>
              <a:srgbClr val="C9D3DF"/>
            </a:solidFill>
            <a:prstDash val="solid"/>
          </a:ln>
        </p:spPr>
      </p:sp>
      <p:sp>
        <p:nvSpPr>
          <p:cNvPr id="56" name="bang69_t3_3"/>
          <p:cNvSpPr txBox="1"/>
          <p:nvPr/>
        </p:nvSpPr>
        <p:spPr>
          <a:xfrm>
            <a:off x="5221224" y="3018282"/>
            <a:ext cx="203911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CHUYEN_BAY</a:t>
            </a:r>
            <a:endParaRPr lang="en-US" sz="1300" dirty="0"/>
          </a:p>
        </p:txBody>
      </p:sp>
      <p:sp>
        <p:nvSpPr>
          <p:cNvPr id="57" name="bang69_o3_4"/>
          <p:cNvSpPr/>
          <p:nvPr/>
        </p:nvSpPr>
        <p:spPr>
          <a:xfrm>
            <a:off x="7315200" y="2972562"/>
            <a:ext cx="960120" cy="512572"/>
          </a:xfrm>
          <a:prstGeom prst="rect">
            <a:avLst/>
          </a:prstGeom>
          <a:solidFill>
            <a:srgbClr val="FFFFFF"/>
          </a:solidFill>
          <a:ln w="9525">
            <a:solidFill>
              <a:srgbClr val="C9D3DF"/>
            </a:solidFill>
            <a:prstDash val="solid"/>
          </a:ln>
        </p:spPr>
      </p:sp>
      <p:sp>
        <p:nvSpPr>
          <p:cNvPr id="58" name="bang69_t3_4"/>
          <p:cNvSpPr txBox="1"/>
          <p:nvPr/>
        </p:nvSpPr>
        <p:spPr>
          <a:xfrm>
            <a:off x="7370064" y="3018282"/>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1..1</a:t>
            </a:r>
            <a:endParaRPr lang="en-US" sz="1300" dirty="0"/>
          </a:p>
        </p:txBody>
      </p:sp>
      <p:sp>
        <p:nvSpPr>
          <p:cNvPr id="59" name="bang69_o3_5"/>
          <p:cNvSpPr/>
          <p:nvPr/>
        </p:nvSpPr>
        <p:spPr>
          <a:xfrm>
            <a:off x="8275320" y="2972562"/>
            <a:ext cx="960120" cy="512572"/>
          </a:xfrm>
          <a:prstGeom prst="rect">
            <a:avLst/>
          </a:prstGeom>
          <a:solidFill>
            <a:srgbClr val="FFFFFF"/>
          </a:solidFill>
          <a:ln w="9525">
            <a:solidFill>
              <a:srgbClr val="C9D3DF"/>
            </a:solidFill>
            <a:prstDash val="solid"/>
          </a:ln>
        </p:spPr>
      </p:sp>
      <p:sp>
        <p:nvSpPr>
          <p:cNvPr id="60" name="bang69_t3_5"/>
          <p:cNvSpPr txBox="1"/>
          <p:nvPr/>
        </p:nvSpPr>
        <p:spPr>
          <a:xfrm>
            <a:off x="8330184" y="3018282"/>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61" name="bang69_o3_6"/>
          <p:cNvSpPr/>
          <p:nvPr/>
        </p:nvSpPr>
        <p:spPr>
          <a:xfrm>
            <a:off x="9235440" y="2972562"/>
            <a:ext cx="1828800" cy="512572"/>
          </a:xfrm>
          <a:prstGeom prst="rect">
            <a:avLst/>
          </a:prstGeom>
          <a:solidFill>
            <a:srgbClr val="FFFFFF"/>
          </a:solidFill>
          <a:ln w="9525">
            <a:solidFill>
              <a:srgbClr val="C9D3DF"/>
            </a:solidFill>
            <a:prstDash val="solid"/>
          </a:ln>
        </p:spPr>
      </p:sp>
      <p:sp>
        <p:nvSpPr>
          <p:cNvPr id="62" name="bang69_o3_7"/>
          <p:cNvSpPr/>
          <p:nvPr/>
        </p:nvSpPr>
        <p:spPr>
          <a:xfrm>
            <a:off x="11064240" y="2972562"/>
            <a:ext cx="667512" cy="512572"/>
          </a:xfrm>
          <a:prstGeom prst="rect">
            <a:avLst/>
          </a:prstGeom>
          <a:solidFill>
            <a:srgbClr val="FFFFFF"/>
          </a:solidFill>
          <a:ln w="9525">
            <a:solidFill>
              <a:srgbClr val="C9D3DF"/>
            </a:solidFill>
            <a:prstDash val="solid"/>
          </a:ln>
        </p:spPr>
      </p:sp>
      <p:sp>
        <p:nvSpPr>
          <p:cNvPr id="63" name="bang69_t3_7"/>
          <p:cNvSpPr txBox="1"/>
          <p:nvPr/>
        </p:nvSpPr>
        <p:spPr>
          <a:xfrm>
            <a:off x="11119104" y="3018282"/>
            <a:ext cx="557784"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QT08</a:t>
            </a:r>
            <a:endParaRPr lang="en-US" sz="1300" dirty="0"/>
          </a:p>
        </p:txBody>
      </p:sp>
      <p:sp>
        <p:nvSpPr>
          <p:cNvPr id="64" name="bang69_o4_0"/>
          <p:cNvSpPr/>
          <p:nvPr/>
        </p:nvSpPr>
        <p:spPr>
          <a:xfrm>
            <a:off x="457200" y="3485134"/>
            <a:ext cx="914400" cy="512572"/>
          </a:xfrm>
          <a:prstGeom prst="rect">
            <a:avLst/>
          </a:prstGeom>
          <a:solidFill>
            <a:srgbClr val="F7F0E1"/>
          </a:solidFill>
          <a:ln w="9525">
            <a:solidFill>
              <a:srgbClr val="C9D3DF"/>
            </a:solidFill>
            <a:prstDash val="solid"/>
          </a:ln>
        </p:spPr>
      </p:sp>
      <p:sp>
        <p:nvSpPr>
          <p:cNvPr id="65" name="bang69_t4_0"/>
          <p:cNvSpPr txBox="1"/>
          <p:nvPr/>
        </p:nvSpPr>
        <p:spPr>
          <a:xfrm>
            <a:off x="512064" y="3530854"/>
            <a:ext cx="8046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LK08 (*)</a:t>
            </a:r>
            <a:endParaRPr lang="en-US" sz="1300" dirty="0"/>
          </a:p>
        </p:txBody>
      </p:sp>
      <p:sp>
        <p:nvSpPr>
          <p:cNvPr id="66" name="bang69_o4_1"/>
          <p:cNvSpPr/>
          <p:nvPr/>
        </p:nvSpPr>
        <p:spPr>
          <a:xfrm>
            <a:off x="1371600" y="3485134"/>
            <a:ext cx="1828800" cy="512572"/>
          </a:xfrm>
          <a:prstGeom prst="rect">
            <a:avLst/>
          </a:prstGeom>
          <a:solidFill>
            <a:srgbClr val="F7F0E1"/>
          </a:solidFill>
          <a:ln w="9525">
            <a:solidFill>
              <a:srgbClr val="C9D3DF"/>
            </a:solidFill>
            <a:prstDash val="solid"/>
          </a:ln>
        </p:spPr>
      </p:sp>
      <p:sp>
        <p:nvSpPr>
          <p:cNvPr id="67" name="bang69_t4_1"/>
          <p:cNvSpPr txBox="1"/>
          <p:nvPr/>
        </p:nvSpPr>
        <p:spPr>
          <a:xfrm>
            <a:off x="1426464" y="3530854"/>
            <a:ext cx="17190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Có ghế</a:t>
            </a:r>
            <a:endParaRPr lang="en-US" sz="1300" dirty="0"/>
          </a:p>
        </p:txBody>
      </p:sp>
      <p:sp>
        <p:nvSpPr>
          <p:cNvPr id="68" name="bang69_o4_2"/>
          <p:cNvSpPr/>
          <p:nvPr/>
        </p:nvSpPr>
        <p:spPr>
          <a:xfrm>
            <a:off x="3200400" y="3485134"/>
            <a:ext cx="1965960" cy="512572"/>
          </a:xfrm>
          <a:prstGeom prst="rect">
            <a:avLst/>
          </a:prstGeom>
          <a:solidFill>
            <a:srgbClr val="F7F0E1"/>
          </a:solidFill>
          <a:ln w="9525">
            <a:solidFill>
              <a:srgbClr val="C9D3DF"/>
            </a:solidFill>
            <a:prstDash val="solid"/>
          </a:ln>
        </p:spPr>
      </p:sp>
      <p:sp>
        <p:nvSpPr>
          <p:cNvPr id="69" name="bang69_t4_2"/>
          <p:cNvSpPr txBox="1"/>
          <p:nvPr/>
        </p:nvSpPr>
        <p:spPr>
          <a:xfrm>
            <a:off x="3255264" y="3530854"/>
            <a:ext cx="185623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MAY_BAY</a:t>
            </a:r>
            <a:endParaRPr lang="en-US" sz="1300" dirty="0"/>
          </a:p>
        </p:txBody>
      </p:sp>
      <p:sp>
        <p:nvSpPr>
          <p:cNvPr id="70" name="bang69_o4_3"/>
          <p:cNvSpPr/>
          <p:nvPr/>
        </p:nvSpPr>
        <p:spPr>
          <a:xfrm>
            <a:off x="5166360" y="3485134"/>
            <a:ext cx="2148840" cy="512572"/>
          </a:xfrm>
          <a:prstGeom prst="rect">
            <a:avLst/>
          </a:prstGeom>
          <a:solidFill>
            <a:srgbClr val="F7F0E1"/>
          </a:solidFill>
          <a:ln w="9525">
            <a:solidFill>
              <a:srgbClr val="C9D3DF"/>
            </a:solidFill>
            <a:prstDash val="solid"/>
          </a:ln>
        </p:spPr>
      </p:sp>
      <p:sp>
        <p:nvSpPr>
          <p:cNvPr id="71" name="bang69_t4_3"/>
          <p:cNvSpPr txBox="1"/>
          <p:nvPr/>
        </p:nvSpPr>
        <p:spPr>
          <a:xfrm>
            <a:off x="5221224" y="3530854"/>
            <a:ext cx="203911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GHE_NGOI</a:t>
            </a:r>
            <a:endParaRPr lang="en-US" sz="1300" dirty="0"/>
          </a:p>
        </p:txBody>
      </p:sp>
      <p:sp>
        <p:nvSpPr>
          <p:cNvPr id="72" name="bang69_o4_4"/>
          <p:cNvSpPr/>
          <p:nvPr/>
        </p:nvSpPr>
        <p:spPr>
          <a:xfrm>
            <a:off x="7315200" y="3485134"/>
            <a:ext cx="960120" cy="512572"/>
          </a:xfrm>
          <a:prstGeom prst="rect">
            <a:avLst/>
          </a:prstGeom>
          <a:solidFill>
            <a:srgbClr val="F7F0E1"/>
          </a:solidFill>
          <a:ln w="9525">
            <a:solidFill>
              <a:srgbClr val="C9D3DF"/>
            </a:solidFill>
            <a:prstDash val="solid"/>
          </a:ln>
        </p:spPr>
      </p:sp>
      <p:sp>
        <p:nvSpPr>
          <p:cNvPr id="73" name="bang69_t4_4"/>
          <p:cNvSpPr txBox="1"/>
          <p:nvPr/>
        </p:nvSpPr>
        <p:spPr>
          <a:xfrm>
            <a:off x="7370064" y="3530854"/>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a:t>
            </a:r>
            <a:endParaRPr lang="en-US" sz="1300" dirty="0"/>
          </a:p>
        </p:txBody>
      </p:sp>
      <p:sp>
        <p:nvSpPr>
          <p:cNvPr id="74" name="bang69_o4_5"/>
          <p:cNvSpPr/>
          <p:nvPr/>
        </p:nvSpPr>
        <p:spPr>
          <a:xfrm>
            <a:off x="8275320" y="3485134"/>
            <a:ext cx="960120" cy="512572"/>
          </a:xfrm>
          <a:prstGeom prst="rect">
            <a:avLst/>
          </a:prstGeom>
          <a:solidFill>
            <a:srgbClr val="F7F0E1"/>
          </a:solidFill>
          <a:ln w="9525">
            <a:solidFill>
              <a:srgbClr val="C9D3DF"/>
            </a:solidFill>
            <a:prstDash val="solid"/>
          </a:ln>
        </p:spPr>
      </p:sp>
      <p:sp>
        <p:nvSpPr>
          <p:cNvPr id="75" name="bang69_t4_5"/>
          <p:cNvSpPr txBox="1"/>
          <p:nvPr/>
        </p:nvSpPr>
        <p:spPr>
          <a:xfrm>
            <a:off x="8330184" y="3530854"/>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1..1</a:t>
            </a:r>
            <a:endParaRPr lang="en-US" sz="1300" dirty="0"/>
          </a:p>
        </p:txBody>
      </p:sp>
      <p:sp>
        <p:nvSpPr>
          <p:cNvPr id="76" name="bang69_o4_6"/>
          <p:cNvSpPr/>
          <p:nvPr/>
        </p:nvSpPr>
        <p:spPr>
          <a:xfrm>
            <a:off x="9235440" y="3485134"/>
            <a:ext cx="1828800" cy="512572"/>
          </a:xfrm>
          <a:prstGeom prst="rect">
            <a:avLst/>
          </a:prstGeom>
          <a:solidFill>
            <a:srgbClr val="F7F0E1"/>
          </a:solidFill>
          <a:ln w="9525">
            <a:solidFill>
              <a:srgbClr val="C9D3DF"/>
            </a:solidFill>
            <a:prstDash val="solid"/>
          </a:ln>
        </p:spPr>
      </p:sp>
      <p:sp>
        <p:nvSpPr>
          <p:cNvPr id="77" name="bang69_o4_7"/>
          <p:cNvSpPr/>
          <p:nvPr/>
        </p:nvSpPr>
        <p:spPr>
          <a:xfrm>
            <a:off x="11064240" y="3485134"/>
            <a:ext cx="667512" cy="512572"/>
          </a:xfrm>
          <a:prstGeom prst="rect">
            <a:avLst/>
          </a:prstGeom>
          <a:solidFill>
            <a:srgbClr val="F7F0E1"/>
          </a:solidFill>
          <a:ln w="9525">
            <a:solidFill>
              <a:srgbClr val="C9D3DF"/>
            </a:solidFill>
            <a:prstDash val="solid"/>
          </a:ln>
        </p:spPr>
      </p:sp>
      <p:sp>
        <p:nvSpPr>
          <p:cNvPr id="78" name="bang69_t4_7"/>
          <p:cNvSpPr txBox="1"/>
          <p:nvPr/>
        </p:nvSpPr>
        <p:spPr>
          <a:xfrm>
            <a:off x="11119104" y="3530854"/>
            <a:ext cx="557784"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QT09</a:t>
            </a:r>
            <a:endParaRPr lang="en-US" sz="1300" dirty="0"/>
          </a:p>
        </p:txBody>
      </p:sp>
      <p:sp>
        <p:nvSpPr>
          <p:cNvPr id="79" name="bang69_o5_0"/>
          <p:cNvSpPr/>
          <p:nvPr/>
        </p:nvSpPr>
        <p:spPr>
          <a:xfrm>
            <a:off x="457200" y="3997706"/>
            <a:ext cx="914400" cy="311150"/>
          </a:xfrm>
          <a:prstGeom prst="rect">
            <a:avLst/>
          </a:prstGeom>
          <a:solidFill>
            <a:srgbClr val="FFFFFF"/>
          </a:solidFill>
          <a:ln w="9525">
            <a:solidFill>
              <a:srgbClr val="C9D3DF"/>
            </a:solidFill>
            <a:prstDash val="solid"/>
          </a:ln>
        </p:spPr>
      </p:sp>
      <p:sp>
        <p:nvSpPr>
          <p:cNvPr id="80" name="bang69_t5_0"/>
          <p:cNvSpPr txBox="1"/>
          <p:nvPr/>
        </p:nvSpPr>
        <p:spPr>
          <a:xfrm>
            <a:off x="512064" y="4043426"/>
            <a:ext cx="8046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LK09</a:t>
            </a:r>
            <a:endParaRPr lang="en-US" sz="1300" dirty="0"/>
          </a:p>
        </p:txBody>
      </p:sp>
      <p:sp>
        <p:nvSpPr>
          <p:cNvPr id="81" name="bang69_o5_1"/>
          <p:cNvSpPr/>
          <p:nvPr/>
        </p:nvSpPr>
        <p:spPr>
          <a:xfrm>
            <a:off x="1371600" y="3997706"/>
            <a:ext cx="1828800" cy="311150"/>
          </a:xfrm>
          <a:prstGeom prst="rect">
            <a:avLst/>
          </a:prstGeom>
          <a:solidFill>
            <a:srgbClr val="FFFFFF"/>
          </a:solidFill>
          <a:ln w="9525">
            <a:solidFill>
              <a:srgbClr val="C9D3DF"/>
            </a:solidFill>
            <a:prstDash val="solid"/>
          </a:ln>
        </p:spPr>
      </p:sp>
      <p:sp>
        <p:nvSpPr>
          <p:cNvPr id="82" name="bang69_t5_1"/>
          <p:cNvSpPr txBox="1"/>
          <p:nvPr/>
        </p:nvSpPr>
        <p:spPr>
          <a:xfrm>
            <a:off x="1426464" y="4043426"/>
            <a:ext cx="17190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Ngồi ghế</a:t>
            </a:r>
            <a:endParaRPr lang="en-US" sz="1300" dirty="0"/>
          </a:p>
        </p:txBody>
      </p:sp>
      <p:sp>
        <p:nvSpPr>
          <p:cNvPr id="83" name="bang69_o5_2"/>
          <p:cNvSpPr/>
          <p:nvPr/>
        </p:nvSpPr>
        <p:spPr>
          <a:xfrm>
            <a:off x="3200400" y="3997706"/>
            <a:ext cx="1965960" cy="311150"/>
          </a:xfrm>
          <a:prstGeom prst="rect">
            <a:avLst/>
          </a:prstGeom>
          <a:solidFill>
            <a:srgbClr val="FFFFFF"/>
          </a:solidFill>
          <a:ln w="9525">
            <a:solidFill>
              <a:srgbClr val="C9D3DF"/>
            </a:solidFill>
            <a:prstDash val="solid"/>
          </a:ln>
        </p:spPr>
      </p:sp>
      <p:sp>
        <p:nvSpPr>
          <p:cNvPr id="84" name="bang69_t5_2"/>
          <p:cNvSpPr txBox="1"/>
          <p:nvPr/>
        </p:nvSpPr>
        <p:spPr>
          <a:xfrm>
            <a:off x="3255264" y="4043426"/>
            <a:ext cx="185623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VE_MAY_BAY</a:t>
            </a:r>
            <a:endParaRPr lang="en-US" sz="1300" dirty="0"/>
          </a:p>
        </p:txBody>
      </p:sp>
      <p:sp>
        <p:nvSpPr>
          <p:cNvPr id="85" name="bang69_o5_3"/>
          <p:cNvSpPr/>
          <p:nvPr/>
        </p:nvSpPr>
        <p:spPr>
          <a:xfrm>
            <a:off x="5166360" y="3997706"/>
            <a:ext cx="2148840" cy="311150"/>
          </a:xfrm>
          <a:prstGeom prst="rect">
            <a:avLst/>
          </a:prstGeom>
          <a:solidFill>
            <a:srgbClr val="FFFFFF"/>
          </a:solidFill>
          <a:ln w="9525">
            <a:solidFill>
              <a:srgbClr val="C9D3DF"/>
            </a:solidFill>
            <a:prstDash val="solid"/>
          </a:ln>
        </p:spPr>
      </p:sp>
      <p:sp>
        <p:nvSpPr>
          <p:cNvPr id="86" name="bang69_t5_3"/>
          <p:cNvSpPr txBox="1"/>
          <p:nvPr/>
        </p:nvSpPr>
        <p:spPr>
          <a:xfrm>
            <a:off x="5221224" y="4043426"/>
            <a:ext cx="203911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GHE_NGOI</a:t>
            </a:r>
            <a:endParaRPr lang="en-US" sz="1300" dirty="0"/>
          </a:p>
        </p:txBody>
      </p:sp>
      <p:sp>
        <p:nvSpPr>
          <p:cNvPr id="87" name="bang69_o5_4"/>
          <p:cNvSpPr/>
          <p:nvPr/>
        </p:nvSpPr>
        <p:spPr>
          <a:xfrm>
            <a:off x="7315200" y="3997706"/>
            <a:ext cx="960120" cy="311150"/>
          </a:xfrm>
          <a:prstGeom prst="rect">
            <a:avLst/>
          </a:prstGeom>
          <a:solidFill>
            <a:srgbClr val="FFFFFF"/>
          </a:solidFill>
          <a:ln w="9525">
            <a:solidFill>
              <a:srgbClr val="C9D3DF"/>
            </a:solidFill>
            <a:prstDash val="solid"/>
          </a:ln>
        </p:spPr>
      </p:sp>
      <p:sp>
        <p:nvSpPr>
          <p:cNvPr id="88" name="bang69_t5_4"/>
          <p:cNvSpPr txBox="1"/>
          <p:nvPr/>
        </p:nvSpPr>
        <p:spPr>
          <a:xfrm>
            <a:off x="7370064" y="4043426"/>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0..1</a:t>
            </a:r>
            <a:endParaRPr lang="en-US" sz="1300" dirty="0"/>
          </a:p>
        </p:txBody>
      </p:sp>
      <p:sp>
        <p:nvSpPr>
          <p:cNvPr id="89" name="bang69_o5_5"/>
          <p:cNvSpPr/>
          <p:nvPr/>
        </p:nvSpPr>
        <p:spPr>
          <a:xfrm>
            <a:off x="8275320" y="3997706"/>
            <a:ext cx="960120" cy="311150"/>
          </a:xfrm>
          <a:prstGeom prst="rect">
            <a:avLst/>
          </a:prstGeom>
          <a:solidFill>
            <a:srgbClr val="FFFFFF"/>
          </a:solidFill>
          <a:ln w="9525">
            <a:solidFill>
              <a:srgbClr val="C9D3DF"/>
            </a:solidFill>
            <a:prstDash val="solid"/>
          </a:ln>
        </p:spPr>
      </p:sp>
      <p:sp>
        <p:nvSpPr>
          <p:cNvPr id="90" name="bang69_t5_5"/>
          <p:cNvSpPr txBox="1"/>
          <p:nvPr/>
        </p:nvSpPr>
        <p:spPr>
          <a:xfrm>
            <a:off x="8330184" y="4043426"/>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91" name="bang69_o5_6"/>
          <p:cNvSpPr/>
          <p:nvPr/>
        </p:nvSpPr>
        <p:spPr>
          <a:xfrm>
            <a:off x="9235440" y="3997706"/>
            <a:ext cx="1828800" cy="311150"/>
          </a:xfrm>
          <a:prstGeom prst="rect">
            <a:avLst/>
          </a:prstGeom>
          <a:solidFill>
            <a:srgbClr val="FFFFFF"/>
          </a:solidFill>
          <a:ln w="9525">
            <a:solidFill>
              <a:srgbClr val="C9D3DF"/>
            </a:solidFill>
            <a:prstDash val="solid"/>
          </a:ln>
        </p:spPr>
      </p:sp>
      <p:sp>
        <p:nvSpPr>
          <p:cNvPr id="92" name="bang69_o5_7"/>
          <p:cNvSpPr/>
          <p:nvPr/>
        </p:nvSpPr>
        <p:spPr>
          <a:xfrm>
            <a:off x="11064240" y="3997706"/>
            <a:ext cx="667512" cy="311150"/>
          </a:xfrm>
          <a:prstGeom prst="rect">
            <a:avLst/>
          </a:prstGeom>
          <a:solidFill>
            <a:srgbClr val="FFFFFF"/>
          </a:solidFill>
          <a:ln w="9525">
            <a:solidFill>
              <a:srgbClr val="C9D3DF"/>
            </a:solidFill>
            <a:prstDash val="solid"/>
          </a:ln>
        </p:spPr>
      </p:sp>
      <p:sp>
        <p:nvSpPr>
          <p:cNvPr id="93" name="bang69_t5_7"/>
          <p:cNvSpPr txBox="1"/>
          <p:nvPr/>
        </p:nvSpPr>
        <p:spPr>
          <a:xfrm>
            <a:off x="11119104" y="4043426"/>
            <a:ext cx="557784"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QT10</a:t>
            </a:r>
            <a:endParaRPr lang="en-US" sz="1300" dirty="0"/>
          </a:p>
        </p:txBody>
      </p:sp>
      <p:sp>
        <p:nvSpPr>
          <p:cNvPr id="94" name="txt70"/>
          <p:cNvSpPr txBox="1"/>
          <p:nvPr/>
        </p:nvSpPr>
        <p:spPr>
          <a:xfrm>
            <a:off x="457200" y="6035040"/>
            <a:ext cx="9144000" cy="274320"/>
          </a:xfrm>
          <a:prstGeom prst="rect">
            <a:avLst/>
          </a:prstGeom>
          <a:noFill/>
          <a:ln/>
        </p:spPr>
        <p:txBody>
          <a:bodyPr wrap="square" lIns="0" tIns="0" rIns="0" bIns="0" rtlCol="0" anchor="ctr"/>
          <a:lstStyle/>
          <a:p>
            <a:pPr indent="0" marL="0">
              <a:buNone/>
            </a:pPr>
            <a:r>
              <a:rPr lang="en-US" sz="1100" i="1" dirty="0">
                <a:solidFill>
                  <a:srgbClr val="5F6B7A"/>
                </a:solidFill>
                <a:latin typeface="Arial" pitchFamily="34" charset="0"/>
                <a:ea typeface="Arial" pitchFamily="34" charset="-122"/>
                <a:cs typeface="Arial" pitchFamily="34" charset="-120"/>
              </a:rPr>
              <a:t>(*) liên kết nối sang phân hệ khác.  Cột "Mỗi A có bao nhiêu B" ghi ở đầu B trên sơ đồ.</a:t>
            </a:r>
            <a:endParaRPr lang="en-US" sz="11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Lược đồ quan hệ (DBDL)</a:t>
            </a:r>
            <a:endParaRPr lang="en-US" sz="2600" dirty="0"/>
          </a:p>
        </p:txBody>
      </p:sp>
      <p:sp>
        <p:nvSpPr>
          <p:cNvPr id="3" name="txt71"/>
          <p:cNvSpPr txBox="1"/>
          <p:nvPr/>
        </p:nvSpPr>
        <p:spPr>
          <a:xfrm>
            <a:off x="457200" y="1435608"/>
            <a:ext cx="11277295" cy="4553712"/>
          </a:xfrm>
          <a:prstGeom prst="rect">
            <a:avLst/>
          </a:prstGeom>
          <a:noFill/>
          <a:ln/>
        </p:spPr>
        <p:txBody>
          <a:bodyPr wrap="square" lIns="0" tIns="0" rIns="0" bIns="0" rtlCol="0" anchor="t"/>
          <a:lstStyle/>
          <a:p>
            <a:pPr indent="0" marL="0">
              <a:buNone/>
            </a:pPr>
            <a:r>
              <a:rPr lang="en-US" sz="1400" b="1" dirty="0">
                <a:solidFill>
                  <a:srgbClr val="163F73"/>
                </a:solidFill>
                <a:latin typeface="Arial" pitchFamily="34" charset="0"/>
                <a:ea typeface="Arial" pitchFamily="34" charset="-122"/>
                <a:cs typeface="Arial" pitchFamily="34" charset="-120"/>
              </a:rPr>
              <a:t>DAT_CHO</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MaDatCho</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NgayGioDat</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KenhDat</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HanThanhToan</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TrangThai</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MaKH</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[TH1 + TH3]</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MaDatCho</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MaKH references KHACH_HANG(MaKH)  NOT NULL</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GHE_NGOI</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u="sng" dirty="0">
                <a:solidFill>
                  <a:srgbClr val="1F2933"/>
                </a:solidFill>
                <a:latin typeface="Arial" pitchFamily="34" charset="0"/>
                <a:ea typeface="Arial" pitchFamily="34" charset="-122"/>
                <a:cs typeface="Arial" pitchFamily="34" charset="-120"/>
              </a:rPr>
              <a:t>SoDangKy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SoGhe</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HangGhe</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ViTriGhe</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LaGheLoiThoat</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[TH2]</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(SoDangKy, SoGhe)</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SoDangKy references MAY_BAY(SoDangKy)  NOT NULL</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VE_MAY_BAY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SoVe</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HoTenHK</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NgaySinhHK</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SoGiayToHK</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LoaiHanhKhach</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HangVe</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GiaVe</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ThueVaPhi</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NgayXuatVe</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TrangThaiVe</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MaDatCho</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MaChuyenBay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SoDangKy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SoGhe</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[TH1 + TH3]</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SoVe</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MaDatCho          references DAT_CHO(MaDatCho)  NOT NULL</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MaChuyenBay       references CHUYEN_BAY(MaChuyenBay)  NOT NULL</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(SoDangKy, SoGhe) references GHE_NGOI(SoDangKy, SoGhe)  NULL</a:t>
            </a:r>
            <a:endParaRPr lang="en-US" sz="1400" dirty="0"/>
          </a:p>
        </p:txBody>
      </p:sp>
      <p:sp>
        <p:nvSpPr>
          <p:cNvPr id="4" name="txt72"/>
          <p:cNvSpPr txBox="1"/>
          <p:nvPr/>
        </p:nvSpPr>
        <p:spPr>
          <a:xfrm>
            <a:off x="457200" y="6035040"/>
            <a:ext cx="11277295" cy="274320"/>
          </a:xfrm>
          <a:prstGeom prst="rect">
            <a:avLst/>
          </a:prstGeom>
          <a:noFill/>
          <a:ln/>
        </p:spPr>
        <p:txBody>
          <a:bodyPr wrap="square" lIns="0" tIns="0" rIns="0" bIns="0" rtlCol="0" anchor="ctr"/>
          <a:lstStyle/>
          <a:p>
            <a:pPr indent="0" marL="0">
              <a:buNone/>
            </a:pPr>
            <a:r>
              <a:rPr lang="en-US" sz="1100" i="1" dirty="0">
                <a:solidFill>
                  <a:srgbClr val="5F6B7A"/>
                </a:solidFill>
                <a:latin typeface="Arial" pitchFamily="34" charset="0"/>
                <a:ea typeface="Arial" pitchFamily="34" charset="-122"/>
                <a:cs typeface="Arial" pitchFamily="34" charset="-120"/>
              </a:rPr>
              <a:t>Khóa chính gạch chân, khóa ngoại in nghiêng. NOT NULL / NULL theo bội số ở đầu bảng cha (1..1 bắt buộc, 0..1 được trống).</a:t>
            </a:r>
            <a:endParaRPr lang="en-US" sz="11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Phân hệ C. Khách hàng và hội viên</a:t>
            </a:r>
            <a:endParaRPr lang="en-US" sz="2600" dirty="0"/>
          </a:p>
        </p:txBody>
      </p:sp>
      <p:sp>
        <p:nvSpPr>
          <p:cNvPr id="3" name="mo_ta_nen"/>
          <p:cNvSpPr/>
          <p:nvPr/>
        </p:nvSpPr>
        <p:spPr>
          <a:xfrm>
            <a:off x="457200" y="1481328"/>
            <a:ext cx="3566160" cy="4873752"/>
          </a:xfrm>
          <a:prstGeom prst="rect">
            <a:avLst/>
          </a:prstGeom>
          <a:solidFill>
            <a:srgbClr val="F7F0E1"/>
          </a:solidFill>
          <a:ln w="12700">
            <a:solidFill>
              <a:srgbClr val="E6D3AA"/>
            </a:solidFill>
            <a:prstDash val="solid"/>
          </a:ln>
        </p:spPr>
      </p:sp>
      <p:sp>
        <p:nvSpPr>
          <p:cNvPr id="4" name="txt73"/>
          <p:cNvSpPr txBox="1"/>
          <p:nvPr/>
        </p:nvSpPr>
        <p:spPr>
          <a:xfrm>
            <a:off x="685800" y="1664208"/>
            <a:ext cx="3108960" cy="320040"/>
          </a:xfrm>
          <a:prstGeom prst="rect">
            <a:avLst/>
          </a:prstGeom>
          <a:noFill/>
          <a:ln/>
        </p:spPr>
        <p:txBody>
          <a:bodyPr wrap="square" lIns="0" tIns="0" rIns="0" bIns="0" rtlCol="0" anchor="ctr"/>
          <a:lstStyle/>
          <a:p>
            <a:pPr indent="0" marL="0">
              <a:buNone/>
            </a:pPr>
            <a:r>
              <a:rPr lang="en-US" sz="1400" b="1" dirty="0">
                <a:solidFill>
                  <a:srgbClr val="8A6A2F"/>
                </a:solidFill>
                <a:latin typeface="Arial" pitchFamily="34" charset="0"/>
                <a:ea typeface="Arial" pitchFamily="34" charset="-122"/>
                <a:cs typeface="Arial" pitchFamily="34" charset="-120"/>
              </a:rPr>
              <a:t>Mô tả</a:t>
            </a:r>
            <a:endParaRPr lang="en-US" sz="1400" dirty="0"/>
          </a:p>
        </p:txBody>
      </p:sp>
      <p:sp>
        <p:nvSpPr>
          <p:cNvPr id="5" name="txt74"/>
          <p:cNvSpPr txBox="1"/>
          <p:nvPr/>
        </p:nvSpPr>
        <p:spPr>
          <a:xfrm>
            <a:off x="685800" y="2029968"/>
            <a:ext cx="3108960" cy="274320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Quản lý hồ sơ khách hàng và chương trình hội viên. Khách hàng có thể đăng ký một thẻ hội viên với ba hạng Đồng, Vàng, Bạch Kim. Mọi biến động điểm (cộng điểm sau chuyến bay, đổi điểm, điểm hết hạn) được ghi vào lịch sử tích điểm.</a:t>
            </a:r>
            <a:endParaRPr lang="en-US" sz="1300" dirty="0"/>
          </a:p>
        </p:txBody>
      </p:sp>
      <p:sp>
        <p:nvSpPr>
          <p:cNvPr id="6" name="txt75"/>
          <p:cNvSpPr txBox="1"/>
          <p:nvPr/>
        </p:nvSpPr>
        <p:spPr>
          <a:xfrm>
            <a:off x="685800" y="4910328"/>
            <a:ext cx="3108960" cy="320040"/>
          </a:xfrm>
          <a:prstGeom prst="rect">
            <a:avLst/>
          </a:prstGeom>
          <a:noFill/>
          <a:ln/>
        </p:spPr>
        <p:txBody>
          <a:bodyPr wrap="square" lIns="0" tIns="0" rIns="0" bIns="0" rtlCol="0" anchor="ctr"/>
          <a:lstStyle/>
          <a:p>
            <a:pPr indent="0" marL="0">
              <a:buNone/>
            </a:pPr>
            <a:r>
              <a:rPr lang="en-US" sz="1400" b="1" dirty="0">
                <a:solidFill>
                  <a:srgbClr val="8A6A2F"/>
                </a:solidFill>
                <a:latin typeface="Arial" pitchFamily="34" charset="0"/>
                <a:ea typeface="Arial" pitchFamily="34" charset="-122"/>
                <a:cs typeface="Arial" pitchFamily="34" charset="-120"/>
              </a:rPr>
              <a:t>Thực thể</a:t>
            </a:r>
            <a:endParaRPr lang="en-US" sz="1400" dirty="0"/>
          </a:p>
        </p:txBody>
      </p:sp>
      <p:sp>
        <p:nvSpPr>
          <p:cNvPr id="7" name="txt76"/>
          <p:cNvSpPr txBox="1"/>
          <p:nvPr/>
        </p:nvSpPr>
        <p:spPr>
          <a:xfrm>
            <a:off x="685800" y="5248656"/>
            <a:ext cx="3108960" cy="1371600"/>
          </a:xfrm>
          <a:prstGeom prst="rect">
            <a:avLst/>
          </a:prstGeom>
          <a:noFill/>
          <a:ln/>
        </p:spPr>
        <p:txBody>
          <a:bodyPr wrap="square" lIns="0" tIns="0" rIns="0" bIns="0" rtlCol="0" anchor="t"/>
          <a:lstStyle/>
          <a:p>
            <a:pPr indent="0" marL="0">
              <a:buNone/>
            </a:pPr>
            <a:r>
              <a:rPr lang="en-US" sz="1200" b="1" dirty="0">
                <a:solidFill>
                  <a:srgbClr val="163F73"/>
                </a:solidFill>
                <a:latin typeface="Arial" pitchFamily="34" charset="0"/>
                <a:ea typeface="Arial" pitchFamily="34" charset="-122"/>
                <a:cs typeface="Arial" pitchFamily="34" charset="-120"/>
              </a:rPr>
              <a:t>KHACH_HANG</a:t>
            </a:r>
            <a:endParaRPr lang="en-US" sz="1200" dirty="0"/>
          </a:p>
          <a:p>
            <a:pPr indent="0" marL="0">
              <a:buNone/>
            </a:pPr>
            <a:r>
              <a:rPr lang="en-US" sz="1200" b="1" dirty="0">
                <a:solidFill>
                  <a:srgbClr val="163F73"/>
                </a:solidFill>
                <a:latin typeface="Arial" pitchFamily="34" charset="0"/>
                <a:ea typeface="Arial" pitchFamily="34" charset="-122"/>
                <a:cs typeface="Arial" pitchFamily="34" charset="-120"/>
              </a:rPr>
              <a:t>THE_HOI_VIEN</a:t>
            </a:r>
            <a:endParaRPr lang="en-US" sz="1200" dirty="0"/>
          </a:p>
          <a:p>
            <a:pPr indent="0" marL="0">
              <a:buNone/>
            </a:pPr>
            <a:r>
              <a:rPr lang="en-US" sz="1200" b="1" dirty="0">
                <a:solidFill>
                  <a:srgbClr val="163F73"/>
                </a:solidFill>
                <a:latin typeface="Arial" pitchFamily="34" charset="0"/>
                <a:ea typeface="Arial" pitchFamily="34" charset="-122"/>
                <a:cs typeface="Arial" pitchFamily="34" charset="-120"/>
              </a:rPr>
              <a:t>LICH_SU_TICH_DIEM (thực thể yếu)</a:t>
            </a:r>
            <a:endParaRPr lang="en-US" sz="1200" dirty="0"/>
          </a:p>
        </p:txBody>
      </p:sp>
      <p:sp>
        <p:nvSpPr>
          <p:cNvPr id="8" name="bang77_o0_0"/>
          <p:cNvSpPr/>
          <p:nvPr/>
        </p:nvSpPr>
        <p:spPr>
          <a:xfrm>
            <a:off x="4251960" y="1481328"/>
            <a:ext cx="685800" cy="295656"/>
          </a:xfrm>
          <a:prstGeom prst="rect">
            <a:avLst/>
          </a:prstGeom>
          <a:solidFill>
            <a:srgbClr val="E6D3AA"/>
          </a:solidFill>
          <a:ln w="9525">
            <a:solidFill>
              <a:srgbClr val="C9D3DF"/>
            </a:solidFill>
            <a:prstDash val="solid"/>
          </a:ln>
        </p:spPr>
      </p:sp>
      <p:sp>
        <p:nvSpPr>
          <p:cNvPr id="9" name="bang77_t0_0"/>
          <p:cNvSpPr txBox="1"/>
          <p:nvPr/>
        </p:nvSpPr>
        <p:spPr>
          <a:xfrm>
            <a:off x="4306824" y="1527048"/>
            <a:ext cx="576072" cy="204216"/>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Mã</a:t>
            </a:r>
            <a:endParaRPr lang="en-US" sz="1200" dirty="0"/>
          </a:p>
        </p:txBody>
      </p:sp>
      <p:sp>
        <p:nvSpPr>
          <p:cNvPr id="10" name="bang77_o0_1"/>
          <p:cNvSpPr/>
          <p:nvPr/>
        </p:nvSpPr>
        <p:spPr>
          <a:xfrm>
            <a:off x="4937760" y="1481328"/>
            <a:ext cx="6796735" cy="295656"/>
          </a:xfrm>
          <a:prstGeom prst="rect">
            <a:avLst/>
          </a:prstGeom>
          <a:solidFill>
            <a:srgbClr val="E6D3AA"/>
          </a:solidFill>
          <a:ln w="9525">
            <a:solidFill>
              <a:srgbClr val="C9D3DF"/>
            </a:solidFill>
            <a:prstDash val="solid"/>
          </a:ln>
        </p:spPr>
      </p:sp>
      <p:sp>
        <p:nvSpPr>
          <p:cNvPr id="11" name="bang77_t0_1"/>
          <p:cNvSpPr txBox="1"/>
          <p:nvPr/>
        </p:nvSpPr>
        <p:spPr>
          <a:xfrm>
            <a:off x="4992624" y="1527048"/>
            <a:ext cx="6687007" cy="204216"/>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Quy tắc nghiệp vụ</a:t>
            </a:r>
            <a:endParaRPr lang="en-US" sz="1200" dirty="0"/>
          </a:p>
        </p:txBody>
      </p:sp>
      <p:sp>
        <p:nvSpPr>
          <p:cNvPr id="12" name="bang77_o1_0"/>
          <p:cNvSpPr/>
          <p:nvPr/>
        </p:nvSpPr>
        <p:spPr>
          <a:xfrm>
            <a:off x="4251960" y="1776984"/>
            <a:ext cx="685800" cy="528066"/>
          </a:xfrm>
          <a:prstGeom prst="rect">
            <a:avLst/>
          </a:prstGeom>
          <a:solidFill>
            <a:srgbClr val="FFFFFF"/>
          </a:solidFill>
          <a:ln w="9525">
            <a:solidFill>
              <a:srgbClr val="C9D3DF"/>
            </a:solidFill>
            <a:prstDash val="solid"/>
          </a:ln>
        </p:spPr>
      </p:sp>
      <p:sp>
        <p:nvSpPr>
          <p:cNvPr id="13" name="bang77_t1_0"/>
          <p:cNvSpPr txBox="1"/>
          <p:nvPr/>
        </p:nvSpPr>
        <p:spPr>
          <a:xfrm>
            <a:off x="4306824" y="1822704"/>
            <a:ext cx="576072"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QT11</a:t>
            </a:r>
            <a:endParaRPr lang="en-US" sz="1350" dirty="0"/>
          </a:p>
        </p:txBody>
      </p:sp>
      <p:sp>
        <p:nvSpPr>
          <p:cNvPr id="14" name="bang77_o1_1"/>
          <p:cNvSpPr/>
          <p:nvPr/>
        </p:nvSpPr>
        <p:spPr>
          <a:xfrm>
            <a:off x="4937760" y="1776984"/>
            <a:ext cx="6796735" cy="528066"/>
          </a:xfrm>
          <a:prstGeom prst="rect">
            <a:avLst/>
          </a:prstGeom>
          <a:solidFill>
            <a:srgbClr val="FFFFFF"/>
          </a:solidFill>
          <a:ln w="9525">
            <a:solidFill>
              <a:srgbClr val="C9D3DF"/>
            </a:solidFill>
            <a:prstDash val="solid"/>
          </a:ln>
        </p:spPr>
      </p:sp>
      <p:sp>
        <p:nvSpPr>
          <p:cNvPr id="15" name="bang77_t1_1"/>
          <p:cNvSpPr txBox="1"/>
          <p:nvPr/>
        </p:nvSpPr>
        <p:spPr>
          <a:xfrm>
            <a:off x="4992624" y="1822704"/>
            <a:ext cx="6687007"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khách hàng có số giấy tờ (CCCD hoặc hộ chiếu) và email không trùng với khách hàng khác, và có từ 1 đến 3 số điện thoại.</a:t>
            </a:r>
            <a:endParaRPr lang="en-US" sz="1350" dirty="0"/>
          </a:p>
        </p:txBody>
      </p:sp>
      <p:sp>
        <p:nvSpPr>
          <p:cNvPr id="16" name="bang77_o2_0"/>
          <p:cNvSpPr/>
          <p:nvPr/>
        </p:nvSpPr>
        <p:spPr>
          <a:xfrm>
            <a:off x="4251960" y="2305050"/>
            <a:ext cx="685800" cy="528066"/>
          </a:xfrm>
          <a:prstGeom prst="rect">
            <a:avLst/>
          </a:prstGeom>
          <a:solidFill>
            <a:srgbClr val="F7F0E1"/>
          </a:solidFill>
          <a:ln w="9525">
            <a:solidFill>
              <a:srgbClr val="C9D3DF"/>
            </a:solidFill>
            <a:prstDash val="solid"/>
          </a:ln>
        </p:spPr>
      </p:sp>
      <p:sp>
        <p:nvSpPr>
          <p:cNvPr id="17" name="bang77_t2_0"/>
          <p:cNvSpPr txBox="1"/>
          <p:nvPr/>
        </p:nvSpPr>
        <p:spPr>
          <a:xfrm>
            <a:off x="4306824" y="2350770"/>
            <a:ext cx="576072"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QT12</a:t>
            </a:r>
            <a:endParaRPr lang="en-US" sz="1350" dirty="0"/>
          </a:p>
        </p:txBody>
      </p:sp>
      <p:sp>
        <p:nvSpPr>
          <p:cNvPr id="18" name="bang77_o2_1"/>
          <p:cNvSpPr/>
          <p:nvPr/>
        </p:nvSpPr>
        <p:spPr>
          <a:xfrm>
            <a:off x="4937760" y="2305050"/>
            <a:ext cx="6796735" cy="528066"/>
          </a:xfrm>
          <a:prstGeom prst="rect">
            <a:avLst/>
          </a:prstGeom>
          <a:solidFill>
            <a:srgbClr val="F7F0E1"/>
          </a:solidFill>
          <a:ln w="9525">
            <a:solidFill>
              <a:srgbClr val="C9D3DF"/>
            </a:solidFill>
            <a:prstDash val="solid"/>
          </a:ln>
        </p:spPr>
      </p:sp>
      <p:sp>
        <p:nvSpPr>
          <p:cNvPr id="19" name="bang77_t2_1"/>
          <p:cNvSpPr txBox="1"/>
          <p:nvPr/>
        </p:nvSpPr>
        <p:spPr>
          <a:xfrm>
            <a:off x="4992624" y="2350770"/>
            <a:ext cx="6687007"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khách hàng sở hữu 0 hoặc 1 thẻ hội viên; mỗi thẻ thuộc đúng 1 khách hàng.</a:t>
            </a:r>
            <a:endParaRPr lang="en-US" sz="1350" dirty="0"/>
          </a:p>
        </p:txBody>
      </p:sp>
      <p:sp>
        <p:nvSpPr>
          <p:cNvPr id="20" name="bang77_o3_0"/>
          <p:cNvSpPr/>
          <p:nvPr/>
        </p:nvSpPr>
        <p:spPr>
          <a:xfrm>
            <a:off x="4251960" y="2833116"/>
            <a:ext cx="685800" cy="737235"/>
          </a:xfrm>
          <a:prstGeom prst="rect">
            <a:avLst/>
          </a:prstGeom>
          <a:solidFill>
            <a:srgbClr val="FFFFFF"/>
          </a:solidFill>
          <a:ln w="9525">
            <a:solidFill>
              <a:srgbClr val="C9D3DF"/>
            </a:solidFill>
            <a:prstDash val="solid"/>
          </a:ln>
        </p:spPr>
      </p:sp>
      <p:sp>
        <p:nvSpPr>
          <p:cNvPr id="21" name="bang77_t3_0"/>
          <p:cNvSpPr txBox="1"/>
          <p:nvPr/>
        </p:nvSpPr>
        <p:spPr>
          <a:xfrm>
            <a:off x="4306824" y="2878836"/>
            <a:ext cx="576072" cy="645795"/>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QT13</a:t>
            </a:r>
            <a:endParaRPr lang="en-US" sz="1350" dirty="0"/>
          </a:p>
        </p:txBody>
      </p:sp>
      <p:sp>
        <p:nvSpPr>
          <p:cNvPr id="22" name="bang77_o3_1"/>
          <p:cNvSpPr/>
          <p:nvPr/>
        </p:nvSpPr>
        <p:spPr>
          <a:xfrm>
            <a:off x="4937760" y="2833116"/>
            <a:ext cx="6796735" cy="737235"/>
          </a:xfrm>
          <a:prstGeom prst="rect">
            <a:avLst/>
          </a:prstGeom>
          <a:solidFill>
            <a:srgbClr val="FFFFFF"/>
          </a:solidFill>
          <a:ln w="9525">
            <a:solidFill>
              <a:srgbClr val="C9D3DF"/>
            </a:solidFill>
            <a:prstDash val="solid"/>
          </a:ln>
        </p:spPr>
      </p:sp>
      <p:sp>
        <p:nvSpPr>
          <p:cNvPr id="23" name="bang77_t3_1"/>
          <p:cNvSpPr txBox="1"/>
          <p:nvPr/>
        </p:nvSpPr>
        <p:spPr>
          <a:xfrm>
            <a:off x="4992624" y="2878836"/>
            <a:ext cx="6687007" cy="645795"/>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thẻ có đúng 1 hạng tại một thời điểm: Đồng, Vàng hoặc Bạch Kim. Thẻ mới cấp có hạng Đồng; hạng được xét lại theo điểm xét hạng trong 12 tháng.</a:t>
            </a:r>
            <a:endParaRPr lang="en-US" sz="1350" dirty="0"/>
          </a:p>
        </p:txBody>
      </p:sp>
      <p:sp>
        <p:nvSpPr>
          <p:cNvPr id="24" name="bang77_o4_0"/>
          <p:cNvSpPr/>
          <p:nvPr/>
        </p:nvSpPr>
        <p:spPr>
          <a:xfrm>
            <a:off x="4251960" y="3570351"/>
            <a:ext cx="685800" cy="528066"/>
          </a:xfrm>
          <a:prstGeom prst="rect">
            <a:avLst/>
          </a:prstGeom>
          <a:solidFill>
            <a:srgbClr val="F7F0E1"/>
          </a:solidFill>
          <a:ln w="9525">
            <a:solidFill>
              <a:srgbClr val="C9D3DF"/>
            </a:solidFill>
            <a:prstDash val="solid"/>
          </a:ln>
        </p:spPr>
      </p:sp>
      <p:sp>
        <p:nvSpPr>
          <p:cNvPr id="25" name="bang77_t4_0"/>
          <p:cNvSpPr txBox="1"/>
          <p:nvPr/>
        </p:nvSpPr>
        <p:spPr>
          <a:xfrm>
            <a:off x="4306824" y="3616071"/>
            <a:ext cx="576072"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QT14</a:t>
            </a:r>
            <a:endParaRPr lang="en-US" sz="1350" dirty="0"/>
          </a:p>
        </p:txBody>
      </p:sp>
      <p:sp>
        <p:nvSpPr>
          <p:cNvPr id="26" name="bang77_o4_1"/>
          <p:cNvSpPr/>
          <p:nvPr/>
        </p:nvSpPr>
        <p:spPr>
          <a:xfrm>
            <a:off x="4937760" y="3570351"/>
            <a:ext cx="6796735" cy="528066"/>
          </a:xfrm>
          <a:prstGeom prst="rect">
            <a:avLst/>
          </a:prstGeom>
          <a:solidFill>
            <a:srgbClr val="F7F0E1"/>
          </a:solidFill>
          <a:ln w="9525">
            <a:solidFill>
              <a:srgbClr val="C9D3DF"/>
            </a:solidFill>
            <a:prstDash val="solid"/>
          </a:ln>
        </p:spPr>
      </p:sp>
      <p:sp>
        <p:nvSpPr>
          <p:cNvPr id="27" name="bang77_t4_1"/>
          <p:cNvSpPr txBox="1"/>
          <p:nvPr/>
        </p:nvSpPr>
        <p:spPr>
          <a:xfrm>
            <a:off x="4992624" y="3616071"/>
            <a:ext cx="6687007"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thẻ có 0 hoặc nhiều dòng lịch sử tích điểm; mỗi dòng thuộc đúng 1 thẻ và được đánh số thứ tự trong thẻ đó (thực thể yếu).</a:t>
            </a:r>
            <a:endParaRPr lang="en-US" sz="1350" dirty="0"/>
          </a:p>
        </p:txBody>
      </p:sp>
      <p:sp>
        <p:nvSpPr>
          <p:cNvPr id="28" name="bang77_o5_0"/>
          <p:cNvSpPr/>
          <p:nvPr/>
        </p:nvSpPr>
        <p:spPr>
          <a:xfrm>
            <a:off x="4251960" y="4098417"/>
            <a:ext cx="685800" cy="528066"/>
          </a:xfrm>
          <a:prstGeom prst="rect">
            <a:avLst/>
          </a:prstGeom>
          <a:solidFill>
            <a:srgbClr val="FFFFFF"/>
          </a:solidFill>
          <a:ln w="9525">
            <a:solidFill>
              <a:srgbClr val="C9D3DF"/>
            </a:solidFill>
            <a:prstDash val="solid"/>
          </a:ln>
        </p:spPr>
      </p:sp>
      <p:sp>
        <p:nvSpPr>
          <p:cNvPr id="29" name="bang77_t5_0"/>
          <p:cNvSpPr txBox="1"/>
          <p:nvPr/>
        </p:nvSpPr>
        <p:spPr>
          <a:xfrm>
            <a:off x="4306824" y="4144137"/>
            <a:ext cx="576072"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QT15</a:t>
            </a:r>
            <a:endParaRPr lang="en-US" sz="1350" dirty="0"/>
          </a:p>
        </p:txBody>
      </p:sp>
      <p:sp>
        <p:nvSpPr>
          <p:cNvPr id="30" name="bang77_o5_1"/>
          <p:cNvSpPr/>
          <p:nvPr/>
        </p:nvSpPr>
        <p:spPr>
          <a:xfrm>
            <a:off x="4937760" y="4098417"/>
            <a:ext cx="6796735" cy="528066"/>
          </a:xfrm>
          <a:prstGeom prst="rect">
            <a:avLst/>
          </a:prstGeom>
          <a:solidFill>
            <a:srgbClr val="FFFFFF"/>
          </a:solidFill>
          <a:ln w="9525">
            <a:solidFill>
              <a:srgbClr val="C9D3DF"/>
            </a:solidFill>
            <a:prstDash val="solid"/>
          </a:ln>
        </p:spPr>
      </p:sp>
      <p:sp>
        <p:nvSpPr>
          <p:cNvPr id="31" name="bang77_t5_1"/>
          <p:cNvSpPr txBox="1"/>
          <p:nvPr/>
        </p:nvSpPr>
        <p:spPr>
          <a:xfrm>
            <a:off x="4992624" y="4144137"/>
            <a:ext cx="6687007"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vé sinh ra tối đa 1 dòng cộng điểm; mỗi dòng gắn với 0 hoặc 1 vé (dòng đổi điểm, hết hạn điểm không gắn vé).</a:t>
            </a:r>
            <a:endParaRPr lang="en-US" sz="135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ERD phân hệ C</a:t>
            </a:r>
            <a:endParaRPr lang="en-US" sz="2600" dirty="0"/>
          </a:p>
        </p:txBody>
      </p:sp>
      <p:pic>
        <p:nvPicPr>
          <p:cNvPr id="3" name="erd_C" descr="erd_C">    </p:cNvPr>
          <p:cNvPicPr>
            <a:picLocks noChangeAspect="1"/>
          </p:cNvPicPr>
          <p:nvPr/>
        </p:nvPicPr>
        <p:blipFill>
          <a:blip r:embed="rId1"/>
          <a:stretch>
            <a:fillRect/>
          </a:stretch>
        </p:blipFill>
        <p:spPr>
          <a:xfrm>
            <a:off x="2075515" y="1389888"/>
            <a:ext cx="8040665" cy="4919472"/>
          </a:xfrm>
          <a:prstGeom prst="rect">
            <a:avLst/>
          </a:prstGeom>
        </p:spPr>
      </p:pic>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Bảng liên kết và multiplicity</a:t>
            </a:r>
            <a:endParaRPr lang="en-US" sz="2600" dirty="0"/>
          </a:p>
        </p:txBody>
      </p:sp>
      <p:sp>
        <p:nvSpPr>
          <p:cNvPr id="3" name="bang78_o0_0"/>
          <p:cNvSpPr/>
          <p:nvPr/>
        </p:nvSpPr>
        <p:spPr>
          <a:xfrm>
            <a:off x="457200" y="1481328"/>
            <a:ext cx="914400" cy="667512"/>
          </a:xfrm>
          <a:prstGeom prst="rect">
            <a:avLst/>
          </a:prstGeom>
          <a:solidFill>
            <a:srgbClr val="E6D3AA"/>
          </a:solidFill>
          <a:ln w="9525">
            <a:solidFill>
              <a:srgbClr val="C9D3DF"/>
            </a:solidFill>
            <a:prstDash val="solid"/>
          </a:ln>
        </p:spPr>
      </p:sp>
      <p:sp>
        <p:nvSpPr>
          <p:cNvPr id="4" name="bang78_t0_0"/>
          <p:cNvSpPr txBox="1"/>
          <p:nvPr/>
        </p:nvSpPr>
        <p:spPr>
          <a:xfrm>
            <a:off x="512064" y="1527048"/>
            <a:ext cx="80467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Mã</a:t>
            </a:r>
            <a:endParaRPr lang="en-US" sz="1200" dirty="0"/>
          </a:p>
        </p:txBody>
      </p:sp>
      <p:sp>
        <p:nvSpPr>
          <p:cNvPr id="5" name="bang78_o0_1"/>
          <p:cNvSpPr/>
          <p:nvPr/>
        </p:nvSpPr>
        <p:spPr>
          <a:xfrm>
            <a:off x="1371600" y="1481328"/>
            <a:ext cx="1828800" cy="667512"/>
          </a:xfrm>
          <a:prstGeom prst="rect">
            <a:avLst/>
          </a:prstGeom>
          <a:solidFill>
            <a:srgbClr val="E6D3AA"/>
          </a:solidFill>
          <a:ln w="9525">
            <a:solidFill>
              <a:srgbClr val="C9D3DF"/>
            </a:solidFill>
            <a:prstDash val="solid"/>
          </a:ln>
        </p:spPr>
      </p:sp>
      <p:sp>
        <p:nvSpPr>
          <p:cNvPr id="6" name="bang78_t0_1"/>
          <p:cNvSpPr txBox="1"/>
          <p:nvPr/>
        </p:nvSpPr>
        <p:spPr>
          <a:xfrm>
            <a:off x="1426464" y="1527048"/>
            <a:ext cx="171907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Tên liên kết</a:t>
            </a:r>
            <a:endParaRPr lang="en-US" sz="1200" dirty="0"/>
          </a:p>
        </p:txBody>
      </p:sp>
      <p:sp>
        <p:nvSpPr>
          <p:cNvPr id="7" name="bang78_o0_2"/>
          <p:cNvSpPr/>
          <p:nvPr/>
        </p:nvSpPr>
        <p:spPr>
          <a:xfrm>
            <a:off x="3200400" y="1481328"/>
            <a:ext cx="1965960" cy="667512"/>
          </a:xfrm>
          <a:prstGeom prst="rect">
            <a:avLst/>
          </a:prstGeom>
          <a:solidFill>
            <a:srgbClr val="E6D3AA"/>
          </a:solidFill>
          <a:ln w="9525">
            <a:solidFill>
              <a:srgbClr val="C9D3DF"/>
            </a:solidFill>
            <a:prstDash val="solid"/>
          </a:ln>
        </p:spPr>
      </p:sp>
      <p:sp>
        <p:nvSpPr>
          <p:cNvPr id="8" name="bang78_t0_2"/>
          <p:cNvSpPr txBox="1"/>
          <p:nvPr/>
        </p:nvSpPr>
        <p:spPr>
          <a:xfrm>
            <a:off x="3255264" y="1527048"/>
            <a:ext cx="185623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Thực thể A</a:t>
            </a:r>
            <a:endParaRPr lang="en-US" sz="1200" dirty="0"/>
          </a:p>
        </p:txBody>
      </p:sp>
      <p:sp>
        <p:nvSpPr>
          <p:cNvPr id="9" name="bang78_o0_3"/>
          <p:cNvSpPr/>
          <p:nvPr/>
        </p:nvSpPr>
        <p:spPr>
          <a:xfrm>
            <a:off x="5166360" y="1481328"/>
            <a:ext cx="2148840" cy="667512"/>
          </a:xfrm>
          <a:prstGeom prst="rect">
            <a:avLst/>
          </a:prstGeom>
          <a:solidFill>
            <a:srgbClr val="E6D3AA"/>
          </a:solidFill>
          <a:ln w="9525">
            <a:solidFill>
              <a:srgbClr val="C9D3DF"/>
            </a:solidFill>
            <a:prstDash val="solid"/>
          </a:ln>
        </p:spPr>
      </p:sp>
      <p:sp>
        <p:nvSpPr>
          <p:cNvPr id="10" name="bang78_t0_3"/>
          <p:cNvSpPr txBox="1"/>
          <p:nvPr/>
        </p:nvSpPr>
        <p:spPr>
          <a:xfrm>
            <a:off x="5221224" y="1527048"/>
            <a:ext cx="203911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Thực thể B</a:t>
            </a:r>
            <a:endParaRPr lang="en-US" sz="1200" dirty="0"/>
          </a:p>
        </p:txBody>
      </p:sp>
      <p:sp>
        <p:nvSpPr>
          <p:cNvPr id="11" name="bang78_o0_4"/>
          <p:cNvSpPr/>
          <p:nvPr/>
        </p:nvSpPr>
        <p:spPr>
          <a:xfrm>
            <a:off x="7315200" y="1481328"/>
            <a:ext cx="960120" cy="667512"/>
          </a:xfrm>
          <a:prstGeom prst="rect">
            <a:avLst/>
          </a:prstGeom>
          <a:solidFill>
            <a:srgbClr val="E6D3AA"/>
          </a:solidFill>
          <a:ln w="9525">
            <a:solidFill>
              <a:srgbClr val="C9D3DF"/>
            </a:solidFill>
            <a:prstDash val="solid"/>
          </a:ln>
        </p:spPr>
      </p:sp>
      <p:sp>
        <p:nvSpPr>
          <p:cNvPr id="12" name="bang78_t0_4"/>
          <p:cNvSpPr txBox="1"/>
          <p:nvPr/>
        </p:nvSpPr>
        <p:spPr>
          <a:xfrm>
            <a:off x="7370064" y="1527048"/>
            <a:ext cx="85039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Mỗi A có bao nhiêu B</a:t>
            </a:r>
            <a:endParaRPr lang="en-US" sz="1200" dirty="0"/>
          </a:p>
        </p:txBody>
      </p:sp>
      <p:sp>
        <p:nvSpPr>
          <p:cNvPr id="13" name="bang78_o0_5"/>
          <p:cNvSpPr/>
          <p:nvPr/>
        </p:nvSpPr>
        <p:spPr>
          <a:xfrm>
            <a:off x="8275320" y="1481328"/>
            <a:ext cx="960120" cy="667512"/>
          </a:xfrm>
          <a:prstGeom prst="rect">
            <a:avLst/>
          </a:prstGeom>
          <a:solidFill>
            <a:srgbClr val="E6D3AA"/>
          </a:solidFill>
          <a:ln w="9525">
            <a:solidFill>
              <a:srgbClr val="C9D3DF"/>
            </a:solidFill>
            <a:prstDash val="solid"/>
          </a:ln>
        </p:spPr>
      </p:sp>
      <p:sp>
        <p:nvSpPr>
          <p:cNvPr id="14" name="bang78_t0_5"/>
          <p:cNvSpPr txBox="1"/>
          <p:nvPr/>
        </p:nvSpPr>
        <p:spPr>
          <a:xfrm>
            <a:off x="8330184" y="1527048"/>
            <a:ext cx="85039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Mỗi B có bao nhiêu A</a:t>
            </a:r>
            <a:endParaRPr lang="en-US" sz="1200" dirty="0"/>
          </a:p>
        </p:txBody>
      </p:sp>
      <p:sp>
        <p:nvSpPr>
          <p:cNvPr id="15" name="bang78_o0_6"/>
          <p:cNvSpPr/>
          <p:nvPr/>
        </p:nvSpPr>
        <p:spPr>
          <a:xfrm>
            <a:off x="9235440" y="1481328"/>
            <a:ext cx="1828800" cy="667512"/>
          </a:xfrm>
          <a:prstGeom prst="rect">
            <a:avLst/>
          </a:prstGeom>
          <a:solidFill>
            <a:srgbClr val="E6D3AA"/>
          </a:solidFill>
          <a:ln w="9525">
            <a:solidFill>
              <a:srgbClr val="C9D3DF"/>
            </a:solidFill>
            <a:prstDash val="solid"/>
          </a:ln>
        </p:spPr>
      </p:sp>
      <p:sp>
        <p:nvSpPr>
          <p:cNvPr id="16" name="bang78_t0_6"/>
          <p:cNvSpPr txBox="1"/>
          <p:nvPr/>
        </p:nvSpPr>
        <p:spPr>
          <a:xfrm>
            <a:off x="9290304" y="1527048"/>
            <a:ext cx="171907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Thuộc tính liên kết</a:t>
            </a:r>
            <a:endParaRPr lang="en-US" sz="1200" dirty="0"/>
          </a:p>
        </p:txBody>
      </p:sp>
      <p:sp>
        <p:nvSpPr>
          <p:cNvPr id="17" name="bang78_o0_7"/>
          <p:cNvSpPr/>
          <p:nvPr/>
        </p:nvSpPr>
        <p:spPr>
          <a:xfrm>
            <a:off x="11064240" y="1481328"/>
            <a:ext cx="667512" cy="667512"/>
          </a:xfrm>
          <a:prstGeom prst="rect">
            <a:avLst/>
          </a:prstGeom>
          <a:solidFill>
            <a:srgbClr val="E6D3AA"/>
          </a:solidFill>
          <a:ln w="9525">
            <a:solidFill>
              <a:srgbClr val="C9D3DF"/>
            </a:solidFill>
            <a:prstDash val="solid"/>
          </a:ln>
        </p:spPr>
      </p:sp>
      <p:sp>
        <p:nvSpPr>
          <p:cNvPr id="18" name="bang78_t0_7"/>
          <p:cNvSpPr txBox="1"/>
          <p:nvPr/>
        </p:nvSpPr>
        <p:spPr>
          <a:xfrm>
            <a:off x="11119104" y="1527048"/>
            <a:ext cx="557784"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QT</a:t>
            </a:r>
            <a:endParaRPr lang="en-US" sz="1200" dirty="0"/>
          </a:p>
        </p:txBody>
      </p:sp>
      <p:sp>
        <p:nvSpPr>
          <p:cNvPr id="19" name="bang78_o1_0"/>
          <p:cNvSpPr/>
          <p:nvPr/>
        </p:nvSpPr>
        <p:spPr>
          <a:xfrm>
            <a:off x="457200" y="2148840"/>
            <a:ext cx="914400" cy="311150"/>
          </a:xfrm>
          <a:prstGeom prst="rect">
            <a:avLst/>
          </a:prstGeom>
          <a:solidFill>
            <a:srgbClr val="FFFFFF"/>
          </a:solidFill>
          <a:ln w="9525">
            <a:solidFill>
              <a:srgbClr val="C9D3DF"/>
            </a:solidFill>
            <a:prstDash val="solid"/>
          </a:ln>
        </p:spPr>
      </p:sp>
      <p:sp>
        <p:nvSpPr>
          <p:cNvPr id="20" name="bang78_t1_0"/>
          <p:cNvSpPr txBox="1"/>
          <p:nvPr/>
        </p:nvSpPr>
        <p:spPr>
          <a:xfrm>
            <a:off x="512064" y="2194560"/>
            <a:ext cx="8046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LK10</a:t>
            </a:r>
            <a:endParaRPr lang="en-US" sz="1300" dirty="0"/>
          </a:p>
        </p:txBody>
      </p:sp>
      <p:sp>
        <p:nvSpPr>
          <p:cNvPr id="21" name="bang78_o1_1"/>
          <p:cNvSpPr/>
          <p:nvPr/>
        </p:nvSpPr>
        <p:spPr>
          <a:xfrm>
            <a:off x="1371600" y="2148840"/>
            <a:ext cx="1828800" cy="311150"/>
          </a:xfrm>
          <a:prstGeom prst="rect">
            <a:avLst/>
          </a:prstGeom>
          <a:solidFill>
            <a:srgbClr val="FFFFFF"/>
          </a:solidFill>
          <a:ln w="9525">
            <a:solidFill>
              <a:srgbClr val="C9D3DF"/>
            </a:solidFill>
            <a:prstDash val="solid"/>
          </a:ln>
        </p:spPr>
      </p:sp>
      <p:sp>
        <p:nvSpPr>
          <p:cNvPr id="22" name="bang78_t1_1"/>
          <p:cNvSpPr txBox="1"/>
          <p:nvPr/>
        </p:nvSpPr>
        <p:spPr>
          <a:xfrm>
            <a:off x="1426464" y="2194560"/>
            <a:ext cx="17190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Sở hữu</a:t>
            </a:r>
            <a:endParaRPr lang="en-US" sz="1300" dirty="0"/>
          </a:p>
        </p:txBody>
      </p:sp>
      <p:sp>
        <p:nvSpPr>
          <p:cNvPr id="23" name="bang78_o1_2"/>
          <p:cNvSpPr/>
          <p:nvPr/>
        </p:nvSpPr>
        <p:spPr>
          <a:xfrm>
            <a:off x="3200400" y="2148840"/>
            <a:ext cx="1965960" cy="311150"/>
          </a:xfrm>
          <a:prstGeom prst="rect">
            <a:avLst/>
          </a:prstGeom>
          <a:solidFill>
            <a:srgbClr val="FFFFFF"/>
          </a:solidFill>
          <a:ln w="9525">
            <a:solidFill>
              <a:srgbClr val="C9D3DF"/>
            </a:solidFill>
            <a:prstDash val="solid"/>
          </a:ln>
        </p:spPr>
      </p:sp>
      <p:sp>
        <p:nvSpPr>
          <p:cNvPr id="24" name="bang78_t1_2"/>
          <p:cNvSpPr txBox="1"/>
          <p:nvPr/>
        </p:nvSpPr>
        <p:spPr>
          <a:xfrm>
            <a:off x="3255264" y="2194560"/>
            <a:ext cx="185623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KHACH_HANG</a:t>
            </a:r>
            <a:endParaRPr lang="en-US" sz="1300" dirty="0"/>
          </a:p>
        </p:txBody>
      </p:sp>
      <p:sp>
        <p:nvSpPr>
          <p:cNvPr id="25" name="bang78_o1_3"/>
          <p:cNvSpPr/>
          <p:nvPr/>
        </p:nvSpPr>
        <p:spPr>
          <a:xfrm>
            <a:off x="5166360" y="2148840"/>
            <a:ext cx="2148840" cy="311150"/>
          </a:xfrm>
          <a:prstGeom prst="rect">
            <a:avLst/>
          </a:prstGeom>
          <a:solidFill>
            <a:srgbClr val="FFFFFF"/>
          </a:solidFill>
          <a:ln w="9525">
            <a:solidFill>
              <a:srgbClr val="C9D3DF"/>
            </a:solidFill>
            <a:prstDash val="solid"/>
          </a:ln>
        </p:spPr>
      </p:sp>
      <p:sp>
        <p:nvSpPr>
          <p:cNvPr id="26" name="bang78_t1_3"/>
          <p:cNvSpPr txBox="1"/>
          <p:nvPr/>
        </p:nvSpPr>
        <p:spPr>
          <a:xfrm>
            <a:off x="5221224" y="2194560"/>
            <a:ext cx="203911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THE_HOI_VIEN</a:t>
            </a:r>
            <a:endParaRPr lang="en-US" sz="1300" dirty="0"/>
          </a:p>
        </p:txBody>
      </p:sp>
      <p:sp>
        <p:nvSpPr>
          <p:cNvPr id="27" name="bang78_o1_4"/>
          <p:cNvSpPr/>
          <p:nvPr/>
        </p:nvSpPr>
        <p:spPr>
          <a:xfrm>
            <a:off x="7315200" y="2148840"/>
            <a:ext cx="960120" cy="311150"/>
          </a:xfrm>
          <a:prstGeom prst="rect">
            <a:avLst/>
          </a:prstGeom>
          <a:solidFill>
            <a:srgbClr val="FFFFFF"/>
          </a:solidFill>
          <a:ln w="9525">
            <a:solidFill>
              <a:srgbClr val="C9D3DF"/>
            </a:solidFill>
            <a:prstDash val="solid"/>
          </a:ln>
        </p:spPr>
      </p:sp>
      <p:sp>
        <p:nvSpPr>
          <p:cNvPr id="28" name="bang78_t1_4"/>
          <p:cNvSpPr txBox="1"/>
          <p:nvPr/>
        </p:nvSpPr>
        <p:spPr>
          <a:xfrm>
            <a:off x="7370064" y="2194560"/>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0..1</a:t>
            </a:r>
            <a:endParaRPr lang="en-US" sz="1300" dirty="0"/>
          </a:p>
        </p:txBody>
      </p:sp>
      <p:sp>
        <p:nvSpPr>
          <p:cNvPr id="29" name="bang78_o1_5"/>
          <p:cNvSpPr/>
          <p:nvPr/>
        </p:nvSpPr>
        <p:spPr>
          <a:xfrm>
            <a:off x="8275320" y="2148840"/>
            <a:ext cx="960120" cy="311150"/>
          </a:xfrm>
          <a:prstGeom prst="rect">
            <a:avLst/>
          </a:prstGeom>
          <a:solidFill>
            <a:srgbClr val="FFFFFF"/>
          </a:solidFill>
          <a:ln w="9525">
            <a:solidFill>
              <a:srgbClr val="C9D3DF"/>
            </a:solidFill>
            <a:prstDash val="solid"/>
          </a:ln>
        </p:spPr>
      </p:sp>
      <p:sp>
        <p:nvSpPr>
          <p:cNvPr id="30" name="bang78_t1_5"/>
          <p:cNvSpPr txBox="1"/>
          <p:nvPr/>
        </p:nvSpPr>
        <p:spPr>
          <a:xfrm>
            <a:off x="8330184" y="2194560"/>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1..1</a:t>
            </a:r>
            <a:endParaRPr lang="en-US" sz="1300" dirty="0"/>
          </a:p>
        </p:txBody>
      </p:sp>
      <p:sp>
        <p:nvSpPr>
          <p:cNvPr id="31" name="bang78_o1_6"/>
          <p:cNvSpPr/>
          <p:nvPr/>
        </p:nvSpPr>
        <p:spPr>
          <a:xfrm>
            <a:off x="9235440" y="2148840"/>
            <a:ext cx="1828800" cy="311150"/>
          </a:xfrm>
          <a:prstGeom prst="rect">
            <a:avLst/>
          </a:prstGeom>
          <a:solidFill>
            <a:srgbClr val="FFFFFF"/>
          </a:solidFill>
          <a:ln w="9525">
            <a:solidFill>
              <a:srgbClr val="C9D3DF"/>
            </a:solidFill>
            <a:prstDash val="solid"/>
          </a:ln>
        </p:spPr>
      </p:sp>
      <p:sp>
        <p:nvSpPr>
          <p:cNvPr id="32" name="bang78_o1_7"/>
          <p:cNvSpPr/>
          <p:nvPr/>
        </p:nvSpPr>
        <p:spPr>
          <a:xfrm>
            <a:off x="11064240" y="2148840"/>
            <a:ext cx="667512" cy="311150"/>
          </a:xfrm>
          <a:prstGeom prst="rect">
            <a:avLst/>
          </a:prstGeom>
          <a:solidFill>
            <a:srgbClr val="FFFFFF"/>
          </a:solidFill>
          <a:ln w="9525">
            <a:solidFill>
              <a:srgbClr val="C9D3DF"/>
            </a:solidFill>
            <a:prstDash val="solid"/>
          </a:ln>
        </p:spPr>
      </p:sp>
      <p:sp>
        <p:nvSpPr>
          <p:cNvPr id="33" name="bang78_t1_7"/>
          <p:cNvSpPr txBox="1"/>
          <p:nvPr/>
        </p:nvSpPr>
        <p:spPr>
          <a:xfrm>
            <a:off x="11119104" y="2194560"/>
            <a:ext cx="557784"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QT12</a:t>
            </a:r>
            <a:endParaRPr lang="en-US" sz="1300" dirty="0"/>
          </a:p>
        </p:txBody>
      </p:sp>
      <p:sp>
        <p:nvSpPr>
          <p:cNvPr id="34" name="bang78_o2_0"/>
          <p:cNvSpPr/>
          <p:nvPr/>
        </p:nvSpPr>
        <p:spPr>
          <a:xfrm>
            <a:off x="457200" y="2459990"/>
            <a:ext cx="914400" cy="311150"/>
          </a:xfrm>
          <a:prstGeom prst="rect">
            <a:avLst/>
          </a:prstGeom>
          <a:solidFill>
            <a:srgbClr val="F7F0E1"/>
          </a:solidFill>
          <a:ln w="9525">
            <a:solidFill>
              <a:srgbClr val="C9D3DF"/>
            </a:solidFill>
            <a:prstDash val="solid"/>
          </a:ln>
        </p:spPr>
      </p:sp>
      <p:sp>
        <p:nvSpPr>
          <p:cNvPr id="35" name="bang78_t2_0"/>
          <p:cNvSpPr txBox="1"/>
          <p:nvPr/>
        </p:nvSpPr>
        <p:spPr>
          <a:xfrm>
            <a:off x="512064" y="2505710"/>
            <a:ext cx="8046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LK11</a:t>
            </a:r>
            <a:endParaRPr lang="en-US" sz="1300" dirty="0"/>
          </a:p>
        </p:txBody>
      </p:sp>
      <p:sp>
        <p:nvSpPr>
          <p:cNvPr id="36" name="bang78_o2_1"/>
          <p:cNvSpPr/>
          <p:nvPr/>
        </p:nvSpPr>
        <p:spPr>
          <a:xfrm>
            <a:off x="1371600" y="2459990"/>
            <a:ext cx="1828800" cy="311150"/>
          </a:xfrm>
          <a:prstGeom prst="rect">
            <a:avLst/>
          </a:prstGeom>
          <a:solidFill>
            <a:srgbClr val="F7F0E1"/>
          </a:solidFill>
          <a:ln w="9525">
            <a:solidFill>
              <a:srgbClr val="C9D3DF"/>
            </a:solidFill>
            <a:prstDash val="solid"/>
          </a:ln>
        </p:spPr>
      </p:sp>
      <p:sp>
        <p:nvSpPr>
          <p:cNvPr id="37" name="bang78_t2_1"/>
          <p:cNvSpPr txBox="1"/>
          <p:nvPr/>
        </p:nvSpPr>
        <p:spPr>
          <a:xfrm>
            <a:off x="1426464" y="2505710"/>
            <a:ext cx="17190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Ghi nhận</a:t>
            </a:r>
            <a:endParaRPr lang="en-US" sz="1300" dirty="0"/>
          </a:p>
        </p:txBody>
      </p:sp>
      <p:sp>
        <p:nvSpPr>
          <p:cNvPr id="38" name="bang78_o2_2"/>
          <p:cNvSpPr/>
          <p:nvPr/>
        </p:nvSpPr>
        <p:spPr>
          <a:xfrm>
            <a:off x="3200400" y="2459990"/>
            <a:ext cx="1965960" cy="311150"/>
          </a:xfrm>
          <a:prstGeom prst="rect">
            <a:avLst/>
          </a:prstGeom>
          <a:solidFill>
            <a:srgbClr val="F7F0E1"/>
          </a:solidFill>
          <a:ln w="9525">
            <a:solidFill>
              <a:srgbClr val="C9D3DF"/>
            </a:solidFill>
            <a:prstDash val="solid"/>
          </a:ln>
        </p:spPr>
      </p:sp>
      <p:sp>
        <p:nvSpPr>
          <p:cNvPr id="39" name="bang78_t2_2"/>
          <p:cNvSpPr txBox="1"/>
          <p:nvPr/>
        </p:nvSpPr>
        <p:spPr>
          <a:xfrm>
            <a:off x="3255264" y="2505710"/>
            <a:ext cx="185623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THE_HOI_VIEN</a:t>
            </a:r>
            <a:endParaRPr lang="en-US" sz="1300" dirty="0"/>
          </a:p>
        </p:txBody>
      </p:sp>
      <p:sp>
        <p:nvSpPr>
          <p:cNvPr id="40" name="bang78_o2_3"/>
          <p:cNvSpPr/>
          <p:nvPr/>
        </p:nvSpPr>
        <p:spPr>
          <a:xfrm>
            <a:off x="5166360" y="2459990"/>
            <a:ext cx="2148840" cy="311150"/>
          </a:xfrm>
          <a:prstGeom prst="rect">
            <a:avLst/>
          </a:prstGeom>
          <a:solidFill>
            <a:srgbClr val="F7F0E1"/>
          </a:solidFill>
          <a:ln w="9525">
            <a:solidFill>
              <a:srgbClr val="C9D3DF"/>
            </a:solidFill>
            <a:prstDash val="solid"/>
          </a:ln>
        </p:spPr>
      </p:sp>
      <p:sp>
        <p:nvSpPr>
          <p:cNvPr id="41" name="bang78_t2_3"/>
          <p:cNvSpPr txBox="1"/>
          <p:nvPr/>
        </p:nvSpPr>
        <p:spPr>
          <a:xfrm>
            <a:off x="5221224" y="2505710"/>
            <a:ext cx="203911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LICH_SU_TICH_DIEM</a:t>
            </a:r>
            <a:endParaRPr lang="en-US" sz="1300" dirty="0"/>
          </a:p>
        </p:txBody>
      </p:sp>
      <p:sp>
        <p:nvSpPr>
          <p:cNvPr id="42" name="bang78_o2_4"/>
          <p:cNvSpPr/>
          <p:nvPr/>
        </p:nvSpPr>
        <p:spPr>
          <a:xfrm>
            <a:off x="7315200" y="2459990"/>
            <a:ext cx="960120" cy="311150"/>
          </a:xfrm>
          <a:prstGeom prst="rect">
            <a:avLst/>
          </a:prstGeom>
          <a:solidFill>
            <a:srgbClr val="F7F0E1"/>
          </a:solidFill>
          <a:ln w="9525">
            <a:solidFill>
              <a:srgbClr val="C9D3DF"/>
            </a:solidFill>
            <a:prstDash val="solid"/>
          </a:ln>
        </p:spPr>
      </p:sp>
      <p:sp>
        <p:nvSpPr>
          <p:cNvPr id="43" name="bang78_t2_4"/>
          <p:cNvSpPr txBox="1"/>
          <p:nvPr/>
        </p:nvSpPr>
        <p:spPr>
          <a:xfrm>
            <a:off x="7370064" y="2505710"/>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44" name="bang78_o2_5"/>
          <p:cNvSpPr/>
          <p:nvPr/>
        </p:nvSpPr>
        <p:spPr>
          <a:xfrm>
            <a:off x="8275320" y="2459990"/>
            <a:ext cx="960120" cy="311150"/>
          </a:xfrm>
          <a:prstGeom prst="rect">
            <a:avLst/>
          </a:prstGeom>
          <a:solidFill>
            <a:srgbClr val="F7F0E1"/>
          </a:solidFill>
          <a:ln w="9525">
            <a:solidFill>
              <a:srgbClr val="C9D3DF"/>
            </a:solidFill>
            <a:prstDash val="solid"/>
          </a:ln>
        </p:spPr>
      </p:sp>
      <p:sp>
        <p:nvSpPr>
          <p:cNvPr id="45" name="bang78_t2_5"/>
          <p:cNvSpPr txBox="1"/>
          <p:nvPr/>
        </p:nvSpPr>
        <p:spPr>
          <a:xfrm>
            <a:off x="8330184" y="2505710"/>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1..1</a:t>
            </a:r>
            <a:endParaRPr lang="en-US" sz="1300" dirty="0"/>
          </a:p>
        </p:txBody>
      </p:sp>
      <p:sp>
        <p:nvSpPr>
          <p:cNvPr id="46" name="bang78_o2_6"/>
          <p:cNvSpPr/>
          <p:nvPr/>
        </p:nvSpPr>
        <p:spPr>
          <a:xfrm>
            <a:off x="9235440" y="2459990"/>
            <a:ext cx="1828800" cy="311150"/>
          </a:xfrm>
          <a:prstGeom prst="rect">
            <a:avLst/>
          </a:prstGeom>
          <a:solidFill>
            <a:srgbClr val="F7F0E1"/>
          </a:solidFill>
          <a:ln w="9525">
            <a:solidFill>
              <a:srgbClr val="C9D3DF"/>
            </a:solidFill>
            <a:prstDash val="solid"/>
          </a:ln>
        </p:spPr>
      </p:sp>
      <p:sp>
        <p:nvSpPr>
          <p:cNvPr id="47" name="bang78_o2_7"/>
          <p:cNvSpPr/>
          <p:nvPr/>
        </p:nvSpPr>
        <p:spPr>
          <a:xfrm>
            <a:off x="11064240" y="2459990"/>
            <a:ext cx="667512" cy="311150"/>
          </a:xfrm>
          <a:prstGeom prst="rect">
            <a:avLst/>
          </a:prstGeom>
          <a:solidFill>
            <a:srgbClr val="F7F0E1"/>
          </a:solidFill>
          <a:ln w="9525">
            <a:solidFill>
              <a:srgbClr val="C9D3DF"/>
            </a:solidFill>
            <a:prstDash val="solid"/>
          </a:ln>
        </p:spPr>
      </p:sp>
      <p:sp>
        <p:nvSpPr>
          <p:cNvPr id="48" name="bang78_t2_7"/>
          <p:cNvSpPr txBox="1"/>
          <p:nvPr/>
        </p:nvSpPr>
        <p:spPr>
          <a:xfrm>
            <a:off x="11119104" y="2505710"/>
            <a:ext cx="557784"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QT14</a:t>
            </a:r>
            <a:endParaRPr lang="en-US" sz="1300" dirty="0"/>
          </a:p>
        </p:txBody>
      </p:sp>
      <p:sp>
        <p:nvSpPr>
          <p:cNvPr id="49" name="bang78_o3_0"/>
          <p:cNvSpPr/>
          <p:nvPr/>
        </p:nvSpPr>
        <p:spPr>
          <a:xfrm>
            <a:off x="457200" y="2771140"/>
            <a:ext cx="914400" cy="512572"/>
          </a:xfrm>
          <a:prstGeom prst="rect">
            <a:avLst/>
          </a:prstGeom>
          <a:solidFill>
            <a:srgbClr val="FFFFFF"/>
          </a:solidFill>
          <a:ln w="9525">
            <a:solidFill>
              <a:srgbClr val="C9D3DF"/>
            </a:solidFill>
            <a:prstDash val="solid"/>
          </a:ln>
        </p:spPr>
      </p:sp>
      <p:sp>
        <p:nvSpPr>
          <p:cNvPr id="50" name="bang78_t3_0"/>
          <p:cNvSpPr txBox="1"/>
          <p:nvPr/>
        </p:nvSpPr>
        <p:spPr>
          <a:xfrm>
            <a:off x="512064" y="2816860"/>
            <a:ext cx="8046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LK12 (*)</a:t>
            </a:r>
            <a:endParaRPr lang="en-US" sz="1300" dirty="0"/>
          </a:p>
        </p:txBody>
      </p:sp>
      <p:sp>
        <p:nvSpPr>
          <p:cNvPr id="51" name="bang78_o3_1"/>
          <p:cNvSpPr/>
          <p:nvPr/>
        </p:nvSpPr>
        <p:spPr>
          <a:xfrm>
            <a:off x="1371600" y="2771140"/>
            <a:ext cx="1828800" cy="512572"/>
          </a:xfrm>
          <a:prstGeom prst="rect">
            <a:avLst/>
          </a:prstGeom>
          <a:solidFill>
            <a:srgbClr val="FFFFFF"/>
          </a:solidFill>
          <a:ln w="9525">
            <a:solidFill>
              <a:srgbClr val="C9D3DF"/>
            </a:solidFill>
            <a:prstDash val="solid"/>
          </a:ln>
        </p:spPr>
      </p:sp>
      <p:sp>
        <p:nvSpPr>
          <p:cNvPr id="52" name="bang78_t3_1"/>
          <p:cNvSpPr txBox="1"/>
          <p:nvPr/>
        </p:nvSpPr>
        <p:spPr>
          <a:xfrm>
            <a:off x="1426464" y="2816860"/>
            <a:ext cx="17190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Tích điểm từ</a:t>
            </a:r>
            <a:endParaRPr lang="en-US" sz="1300" dirty="0"/>
          </a:p>
        </p:txBody>
      </p:sp>
      <p:sp>
        <p:nvSpPr>
          <p:cNvPr id="53" name="bang78_o3_2"/>
          <p:cNvSpPr/>
          <p:nvPr/>
        </p:nvSpPr>
        <p:spPr>
          <a:xfrm>
            <a:off x="3200400" y="2771140"/>
            <a:ext cx="1965960" cy="512572"/>
          </a:xfrm>
          <a:prstGeom prst="rect">
            <a:avLst/>
          </a:prstGeom>
          <a:solidFill>
            <a:srgbClr val="FFFFFF"/>
          </a:solidFill>
          <a:ln w="9525">
            <a:solidFill>
              <a:srgbClr val="C9D3DF"/>
            </a:solidFill>
            <a:prstDash val="solid"/>
          </a:ln>
        </p:spPr>
      </p:sp>
      <p:sp>
        <p:nvSpPr>
          <p:cNvPr id="54" name="bang78_t3_2"/>
          <p:cNvSpPr txBox="1"/>
          <p:nvPr/>
        </p:nvSpPr>
        <p:spPr>
          <a:xfrm>
            <a:off x="3255264" y="2816860"/>
            <a:ext cx="185623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VE_MAY_BAY</a:t>
            </a:r>
            <a:endParaRPr lang="en-US" sz="1300" dirty="0"/>
          </a:p>
        </p:txBody>
      </p:sp>
      <p:sp>
        <p:nvSpPr>
          <p:cNvPr id="55" name="bang78_o3_3"/>
          <p:cNvSpPr/>
          <p:nvPr/>
        </p:nvSpPr>
        <p:spPr>
          <a:xfrm>
            <a:off x="5166360" y="2771140"/>
            <a:ext cx="2148840" cy="512572"/>
          </a:xfrm>
          <a:prstGeom prst="rect">
            <a:avLst/>
          </a:prstGeom>
          <a:solidFill>
            <a:srgbClr val="FFFFFF"/>
          </a:solidFill>
          <a:ln w="9525">
            <a:solidFill>
              <a:srgbClr val="C9D3DF"/>
            </a:solidFill>
            <a:prstDash val="solid"/>
          </a:ln>
        </p:spPr>
      </p:sp>
      <p:sp>
        <p:nvSpPr>
          <p:cNvPr id="56" name="bang78_t3_3"/>
          <p:cNvSpPr txBox="1"/>
          <p:nvPr/>
        </p:nvSpPr>
        <p:spPr>
          <a:xfrm>
            <a:off x="5221224" y="2816860"/>
            <a:ext cx="203911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LICH_SU_TICH_DIEM</a:t>
            </a:r>
            <a:endParaRPr lang="en-US" sz="1300" dirty="0"/>
          </a:p>
        </p:txBody>
      </p:sp>
      <p:sp>
        <p:nvSpPr>
          <p:cNvPr id="57" name="bang78_o3_4"/>
          <p:cNvSpPr/>
          <p:nvPr/>
        </p:nvSpPr>
        <p:spPr>
          <a:xfrm>
            <a:off x="7315200" y="2771140"/>
            <a:ext cx="960120" cy="512572"/>
          </a:xfrm>
          <a:prstGeom prst="rect">
            <a:avLst/>
          </a:prstGeom>
          <a:solidFill>
            <a:srgbClr val="FFFFFF"/>
          </a:solidFill>
          <a:ln w="9525">
            <a:solidFill>
              <a:srgbClr val="C9D3DF"/>
            </a:solidFill>
            <a:prstDash val="solid"/>
          </a:ln>
        </p:spPr>
      </p:sp>
      <p:sp>
        <p:nvSpPr>
          <p:cNvPr id="58" name="bang78_t3_4"/>
          <p:cNvSpPr txBox="1"/>
          <p:nvPr/>
        </p:nvSpPr>
        <p:spPr>
          <a:xfrm>
            <a:off x="7370064" y="2816860"/>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0..1</a:t>
            </a:r>
            <a:endParaRPr lang="en-US" sz="1300" dirty="0"/>
          </a:p>
        </p:txBody>
      </p:sp>
      <p:sp>
        <p:nvSpPr>
          <p:cNvPr id="59" name="bang78_o3_5"/>
          <p:cNvSpPr/>
          <p:nvPr/>
        </p:nvSpPr>
        <p:spPr>
          <a:xfrm>
            <a:off x="8275320" y="2771140"/>
            <a:ext cx="960120" cy="512572"/>
          </a:xfrm>
          <a:prstGeom prst="rect">
            <a:avLst/>
          </a:prstGeom>
          <a:solidFill>
            <a:srgbClr val="FFFFFF"/>
          </a:solidFill>
          <a:ln w="9525">
            <a:solidFill>
              <a:srgbClr val="C9D3DF"/>
            </a:solidFill>
            <a:prstDash val="solid"/>
          </a:ln>
        </p:spPr>
      </p:sp>
      <p:sp>
        <p:nvSpPr>
          <p:cNvPr id="60" name="bang78_t3_5"/>
          <p:cNvSpPr txBox="1"/>
          <p:nvPr/>
        </p:nvSpPr>
        <p:spPr>
          <a:xfrm>
            <a:off x="8330184" y="2816860"/>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0..1</a:t>
            </a:r>
            <a:endParaRPr lang="en-US" sz="1300" dirty="0"/>
          </a:p>
        </p:txBody>
      </p:sp>
      <p:sp>
        <p:nvSpPr>
          <p:cNvPr id="61" name="bang78_o3_6"/>
          <p:cNvSpPr/>
          <p:nvPr/>
        </p:nvSpPr>
        <p:spPr>
          <a:xfrm>
            <a:off x="9235440" y="2771140"/>
            <a:ext cx="1828800" cy="512572"/>
          </a:xfrm>
          <a:prstGeom prst="rect">
            <a:avLst/>
          </a:prstGeom>
          <a:solidFill>
            <a:srgbClr val="FFFFFF"/>
          </a:solidFill>
          <a:ln w="9525">
            <a:solidFill>
              <a:srgbClr val="C9D3DF"/>
            </a:solidFill>
            <a:prstDash val="solid"/>
          </a:ln>
        </p:spPr>
      </p:sp>
      <p:sp>
        <p:nvSpPr>
          <p:cNvPr id="62" name="bang78_o3_7"/>
          <p:cNvSpPr/>
          <p:nvPr/>
        </p:nvSpPr>
        <p:spPr>
          <a:xfrm>
            <a:off x="11064240" y="2771140"/>
            <a:ext cx="667512" cy="512572"/>
          </a:xfrm>
          <a:prstGeom prst="rect">
            <a:avLst/>
          </a:prstGeom>
          <a:solidFill>
            <a:srgbClr val="FFFFFF"/>
          </a:solidFill>
          <a:ln w="9525">
            <a:solidFill>
              <a:srgbClr val="C9D3DF"/>
            </a:solidFill>
            <a:prstDash val="solid"/>
          </a:ln>
        </p:spPr>
      </p:sp>
      <p:sp>
        <p:nvSpPr>
          <p:cNvPr id="63" name="bang78_t3_7"/>
          <p:cNvSpPr txBox="1"/>
          <p:nvPr/>
        </p:nvSpPr>
        <p:spPr>
          <a:xfrm>
            <a:off x="11119104" y="2816860"/>
            <a:ext cx="557784"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QT15</a:t>
            </a:r>
            <a:endParaRPr lang="en-US" sz="1300" dirty="0"/>
          </a:p>
        </p:txBody>
      </p:sp>
      <p:sp>
        <p:nvSpPr>
          <p:cNvPr id="64" name="txt79"/>
          <p:cNvSpPr txBox="1"/>
          <p:nvPr/>
        </p:nvSpPr>
        <p:spPr>
          <a:xfrm>
            <a:off x="457200" y="6035040"/>
            <a:ext cx="9144000" cy="274320"/>
          </a:xfrm>
          <a:prstGeom prst="rect">
            <a:avLst/>
          </a:prstGeom>
          <a:noFill/>
          <a:ln/>
        </p:spPr>
        <p:txBody>
          <a:bodyPr wrap="square" lIns="0" tIns="0" rIns="0" bIns="0" rtlCol="0" anchor="ctr"/>
          <a:lstStyle/>
          <a:p>
            <a:pPr indent="0" marL="0">
              <a:buNone/>
            </a:pPr>
            <a:r>
              <a:rPr lang="en-US" sz="1100" i="1" dirty="0">
                <a:solidFill>
                  <a:srgbClr val="5F6B7A"/>
                </a:solidFill>
                <a:latin typeface="Arial" pitchFamily="34" charset="0"/>
                <a:ea typeface="Arial" pitchFamily="34" charset="-122"/>
                <a:cs typeface="Arial" pitchFamily="34" charset="-120"/>
              </a:rPr>
              <a:t>(*) liên kết nối sang phân hệ khác.  Cột "Mỗi A có bao nhiêu B" ghi ở đầu B trên sơ đồ.</a:t>
            </a:r>
            <a:endParaRPr lang="en-US" sz="11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Lược đồ quan hệ (DBDL)</a:t>
            </a:r>
            <a:endParaRPr lang="en-US" sz="2600" dirty="0"/>
          </a:p>
        </p:txBody>
      </p:sp>
      <p:sp>
        <p:nvSpPr>
          <p:cNvPr id="3" name="txt80"/>
          <p:cNvSpPr txBox="1"/>
          <p:nvPr/>
        </p:nvSpPr>
        <p:spPr>
          <a:xfrm>
            <a:off x="457200" y="1435608"/>
            <a:ext cx="11277295" cy="4553712"/>
          </a:xfrm>
          <a:prstGeom prst="rect">
            <a:avLst/>
          </a:prstGeom>
          <a:noFill/>
          <a:ln/>
        </p:spPr>
        <p:txBody>
          <a:bodyPr wrap="square" lIns="0" tIns="0" rIns="0" bIns="0" rtlCol="0" anchor="t"/>
          <a:lstStyle/>
          <a:p>
            <a:pPr indent="0" marL="0">
              <a:buNone/>
            </a:pPr>
            <a:r>
              <a:rPr lang="en-US" sz="1400" b="1" dirty="0">
                <a:solidFill>
                  <a:srgbClr val="163F73"/>
                </a:solidFill>
                <a:latin typeface="Arial" pitchFamily="34" charset="0"/>
                <a:ea typeface="Arial" pitchFamily="34" charset="-122"/>
                <a:cs typeface="Arial" pitchFamily="34" charset="-120"/>
              </a:rPr>
              <a:t>KHACH_HANG</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MaKH</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SoGiayTo</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Email</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Ho</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TenDem</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Ten</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NgaySinh</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GioiTinh</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QuocTich</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[TH1]</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MaKH</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Alternate Key SoGiayTo</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Alternate Key Email</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SDT_KHACH_HANG</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u="sng" dirty="0">
                <a:solidFill>
                  <a:srgbClr val="1F2933"/>
                </a:solidFill>
                <a:latin typeface="Arial" pitchFamily="34" charset="0"/>
                <a:ea typeface="Arial" pitchFamily="34" charset="-122"/>
                <a:cs typeface="Arial" pitchFamily="34" charset="-120"/>
              </a:rPr>
              <a:t>MaKH</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SoDienThoai</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[TH9]</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(MaKH, SoDienThoai)</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MaKH references KHACH_HANG(MaKH)  NOT NULL</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THE_HOI_VIEN</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SoThe</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NgayCap</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HangThe</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DiemXetHang</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NgayHetHanHang</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TrangThai</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MaKH</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[TH1 + TH4(b)]</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SoThe</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Alternate Key MaKH</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MaKH references KHACH_HANG(MaKH)  NOT NULL, UNIQUE</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LICH_SU_TICH_DIEM</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u="sng" dirty="0">
                <a:solidFill>
                  <a:srgbClr val="1F2933"/>
                </a:solidFill>
                <a:latin typeface="Arial" pitchFamily="34" charset="0"/>
                <a:ea typeface="Arial" pitchFamily="34" charset="-122"/>
                <a:cs typeface="Arial" pitchFamily="34" charset="-120"/>
              </a:rPr>
              <a:t>SoThe</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STT</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ThoiGian</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LoaiGiaoDich</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SoDiem</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NoiDung</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SoVe</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[TH2 + TH4(c)]</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(SoThe, STT)</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SoThe references THE_HOI_VIEN(SoThe)  NOT NULL</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SoVe  references VE_MAY_BAY(SoVe)  NULL, UNIQUE</a:t>
            </a:r>
            <a:endParaRPr lang="en-US" sz="1400" dirty="0"/>
          </a:p>
        </p:txBody>
      </p:sp>
      <p:sp>
        <p:nvSpPr>
          <p:cNvPr id="4" name="txt81"/>
          <p:cNvSpPr txBox="1"/>
          <p:nvPr/>
        </p:nvSpPr>
        <p:spPr>
          <a:xfrm>
            <a:off x="457200" y="6035040"/>
            <a:ext cx="11277295" cy="274320"/>
          </a:xfrm>
          <a:prstGeom prst="rect">
            <a:avLst/>
          </a:prstGeom>
          <a:noFill/>
          <a:ln/>
        </p:spPr>
        <p:txBody>
          <a:bodyPr wrap="square" lIns="0" tIns="0" rIns="0" bIns="0" rtlCol="0" anchor="ctr"/>
          <a:lstStyle/>
          <a:p>
            <a:pPr indent="0" marL="0">
              <a:buNone/>
            </a:pPr>
            <a:r>
              <a:rPr lang="en-US" sz="1100" i="1" dirty="0">
                <a:solidFill>
                  <a:srgbClr val="5F6B7A"/>
                </a:solidFill>
                <a:latin typeface="Arial" pitchFamily="34" charset="0"/>
                <a:ea typeface="Arial" pitchFamily="34" charset="-122"/>
                <a:cs typeface="Arial" pitchFamily="34" charset="-120"/>
              </a:rPr>
              <a:t>Khóa chính gạch chân, khóa ngoại in nghiêng. NOT NULL / NULL theo bội số ở đầu bảng cha (1..1 bắt buộc, 0..1 được trống).</a:t>
            </a:r>
            <a:endParaRPr lang="en-US" sz="11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Phân hệ D. Nhân sự và phi hành đoàn</a:t>
            </a:r>
            <a:endParaRPr lang="en-US" sz="2600" dirty="0"/>
          </a:p>
        </p:txBody>
      </p:sp>
      <p:sp>
        <p:nvSpPr>
          <p:cNvPr id="3" name="mo_ta_nen"/>
          <p:cNvSpPr/>
          <p:nvPr/>
        </p:nvSpPr>
        <p:spPr>
          <a:xfrm>
            <a:off x="457200" y="1481328"/>
            <a:ext cx="3566160" cy="4873752"/>
          </a:xfrm>
          <a:prstGeom prst="rect">
            <a:avLst/>
          </a:prstGeom>
          <a:solidFill>
            <a:srgbClr val="F7F0E1"/>
          </a:solidFill>
          <a:ln w="12700">
            <a:solidFill>
              <a:srgbClr val="E6D3AA"/>
            </a:solidFill>
            <a:prstDash val="solid"/>
          </a:ln>
        </p:spPr>
      </p:sp>
      <p:sp>
        <p:nvSpPr>
          <p:cNvPr id="4" name="txt82"/>
          <p:cNvSpPr txBox="1"/>
          <p:nvPr/>
        </p:nvSpPr>
        <p:spPr>
          <a:xfrm>
            <a:off x="685800" y="1664208"/>
            <a:ext cx="3108960" cy="320040"/>
          </a:xfrm>
          <a:prstGeom prst="rect">
            <a:avLst/>
          </a:prstGeom>
          <a:noFill/>
          <a:ln/>
        </p:spPr>
        <p:txBody>
          <a:bodyPr wrap="square" lIns="0" tIns="0" rIns="0" bIns="0" rtlCol="0" anchor="ctr"/>
          <a:lstStyle/>
          <a:p>
            <a:pPr indent="0" marL="0">
              <a:buNone/>
            </a:pPr>
            <a:r>
              <a:rPr lang="en-US" sz="1400" b="1" dirty="0">
                <a:solidFill>
                  <a:srgbClr val="8A6A2F"/>
                </a:solidFill>
                <a:latin typeface="Arial" pitchFamily="34" charset="0"/>
                <a:ea typeface="Arial" pitchFamily="34" charset="-122"/>
                <a:cs typeface="Arial" pitchFamily="34" charset="-120"/>
              </a:rPr>
              <a:t>Mô tả</a:t>
            </a:r>
            <a:endParaRPr lang="en-US" sz="1400" dirty="0"/>
          </a:p>
        </p:txBody>
      </p:sp>
      <p:sp>
        <p:nvSpPr>
          <p:cNvPr id="5" name="txt83"/>
          <p:cNvSpPr txBox="1"/>
          <p:nvPr/>
        </p:nvSpPr>
        <p:spPr>
          <a:xfrm>
            <a:off x="685800" y="2029968"/>
            <a:ext cx="3108960" cy="274320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Quản lý hồ sơ nhân viên theo phòng ban và cấp quản lý. Nhân viên chia thành phi công, tiếp viên và nhân viên mặt đất. Phi công có giấy phép theo loại máy bay. Mỗi chuyến bay được phân công cơ trưởng, cơ phó và tổ tiếp viên.</a:t>
            </a:r>
            <a:endParaRPr lang="en-US" sz="1300" dirty="0"/>
          </a:p>
        </p:txBody>
      </p:sp>
      <p:sp>
        <p:nvSpPr>
          <p:cNvPr id="6" name="txt84"/>
          <p:cNvSpPr txBox="1"/>
          <p:nvPr/>
        </p:nvSpPr>
        <p:spPr>
          <a:xfrm>
            <a:off x="685800" y="4910328"/>
            <a:ext cx="3108960" cy="320040"/>
          </a:xfrm>
          <a:prstGeom prst="rect">
            <a:avLst/>
          </a:prstGeom>
          <a:noFill/>
          <a:ln/>
        </p:spPr>
        <p:txBody>
          <a:bodyPr wrap="square" lIns="0" tIns="0" rIns="0" bIns="0" rtlCol="0" anchor="ctr"/>
          <a:lstStyle/>
          <a:p>
            <a:pPr indent="0" marL="0">
              <a:buNone/>
            </a:pPr>
            <a:r>
              <a:rPr lang="en-US" sz="1400" b="1" dirty="0">
                <a:solidFill>
                  <a:srgbClr val="8A6A2F"/>
                </a:solidFill>
                <a:latin typeface="Arial" pitchFamily="34" charset="0"/>
                <a:ea typeface="Arial" pitchFamily="34" charset="-122"/>
                <a:cs typeface="Arial" pitchFamily="34" charset="-120"/>
              </a:rPr>
              <a:t>Thực thể</a:t>
            </a:r>
            <a:endParaRPr lang="en-US" sz="1400" dirty="0"/>
          </a:p>
        </p:txBody>
      </p:sp>
      <p:sp>
        <p:nvSpPr>
          <p:cNvPr id="7" name="txt85"/>
          <p:cNvSpPr txBox="1"/>
          <p:nvPr/>
        </p:nvSpPr>
        <p:spPr>
          <a:xfrm>
            <a:off x="685800" y="5248656"/>
            <a:ext cx="3108960" cy="1371600"/>
          </a:xfrm>
          <a:prstGeom prst="rect">
            <a:avLst/>
          </a:prstGeom>
          <a:noFill/>
          <a:ln/>
        </p:spPr>
        <p:txBody>
          <a:bodyPr wrap="square" lIns="0" tIns="0" rIns="0" bIns="0" rtlCol="0" anchor="t"/>
          <a:lstStyle/>
          <a:p>
            <a:pPr indent="0" marL="0">
              <a:buNone/>
            </a:pPr>
            <a:r>
              <a:rPr lang="en-US" sz="1200" b="1" dirty="0">
                <a:solidFill>
                  <a:srgbClr val="163F73"/>
                </a:solidFill>
                <a:latin typeface="Arial" pitchFamily="34" charset="0"/>
                <a:ea typeface="Arial" pitchFamily="34" charset="-122"/>
                <a:cs typeface="Arial" pitchFamily="34" charset="-120"/>
              </a:rPr>
              <a:t>NHAN_VIEN</a:t>
            </a:r>
            <a:endParaRPr lang="en-US" sz="1200" dirty="0"/>
          </a:p>
          <a:p>
            <a:pPr indent="0" marL="0">
              <a:buNone/>
            </a:pPr>
            <a:r>
              <a:rPr lang="en-US" sz="1200" b="1" dirty="0">
                <a:solidFill>
                  <a:srgbClr val="163F73"/>
                </a:solidFill>
                <a:latin typeface="Arial" pitchFamily="34" charset="0"/>
                <a:ea typeface="Arial" pitchFamily="34" charset="-122"/>
                <a:cs typeface="Arial" pitchFamily="34" charset="-120"/>
              </a:rPr>
              <a:t>PHI_CONG (lớp con)</a:t>
            </a:r>
            <a:endParaRPr lang="en-US" sz="1200" dirty="0"/>
          </a:p>
          <a:p>
            <a:pPr indent="0" marL="0">
              <a:buNone/>
            </a:pPr>
            <a:r>
              <a:rPr lang="en-US" sz="1200" b="1" dirty="0">
                <a:solidFill>
                  <a:srgbClr val="163F73"/>
                </a:solidFill>
                <a:latin typeface="Arial" pitchFamily="34" charset="0"/>
                <a:ea typeface="Arial" pitchFamily="34" charset="-122"/>
                <a:cs typeface="Arial" pitchFamily="34" charset="-120"/>
              </a:rPr>
              <a:t>TIEP_VIEN (lớp con)</a:t>
            </a:r>
            <a:endParaRPr lang="en-US" sz="1200" dirty="0"/>
          </a:p>
          <a:p>
            <a:pPr indent="0" marL="0">
              <a:buNone/>
            </a:pPr>
            <a:r>
              <a:rPr lang="en-US" sz="1200" b="1" dirty="0">
                <a:solidFill>
                  <a:srgbClr val="163F73"/>
                </a:solidFill>
                <a:latin typeface="Arial" pitchFamily="34" charset="0"/>
                <a:ea typeface="Arial" pitchFamily="34" charset="-122"/>
                <a:cs typeface="Arial" pitchFamily="34" charset="-120"/>
              </a:rPr>
              <a:t>PHONG_BAN</a:t>
            </a:r>
            <a:endParaRPr lang="en-US" sz="1200" dirty="0"/>
          </a:p>
          <a:p>
            <a:pPr indent="0" marL="0">
              <a:buNone/>
            </a:pPr>
            <a:r>
              <a:rPr lang="en-US" sz="1200" b="1" dirty="0">
                <a:solidFill>
                  <a:srgbClr val="163F73"/>
                </a:solidFill>
                <a:latin typeface="Arial" pitchFamily="34" charset="0"/>
                <a:ea typeface="Arial" pitchFamily="34" charset="-122"/>
                <a:cs typeface="Arial" pitchFamily="34" charset="-120"/>
              </a:rPr>
              <a:t>GIAY_PHEP_BAY (thực thể yếu)</a:t>
            </a:r>
            <a:endParaRPr lang="en-US" sz="1200" dirty="0"/>
          </a:p>
        </p:txBody>
      </p:sp>
      <p:sp>
        <p:nvSpPr>
          <p:cNvPr id="8" name="bang86_o0_0"/>
          <p:cNvSpPr/>
          <p:nvPr/>
        </p:nvSpPr>
        <p:spPr>
          <a:xfrm>
            <a:off x="4251960" y="1481328"/>
            <a:ext cx="685800" cy="295656"/>
          </a:xfrm>
          <a:prstGeom prst="rect">
            <a:avLst/>
          </a:prstGeom>
          <a:solidFill>
            <a:srgbClr val="E6D3AA"/>
          </a:solidFill>
          <a:ln w="9525">
            <a:solidFill>
              <a:srgbClr val="C9D3DF"/>
            </a:solidFill>
            <a:prstDash val="solid"/>
          </a:ln>
        </p:spPr>
      </p:sp>
      <p:sp>
        <p:nvSpPr>
          <p:cNvPr id="9" name="bang86_t0_0"/>
          <p:cNvSpPr txBox="1"/>
          <p:nvPr/>
        </p:nvSpPr>
        <p:spPr>
          <a:xfrm>
            <a:off x="4306824" y="1527048"/>
            <a:ext cx="576072" cy="204216"/>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Mã</a:t>
            </a:r>
            <a:endParaRPr lang="en-US" sz="1200" dirty="0"/>
          </a:p>
        </p:txBody>
      </p:sp>
      <p:sp>
        <p:nvSpPr>
          <p:cNvPr id="10" name="bang86_o0_1"/>
          <p:cNvSpPr/>
          <p:nvPr/>
        </p:nvSpPr>
        <p:spPr>
          <a:xfrm>
            <a:off x="4937760" y="1481328"/>
            <a:ext cx="6796735" cy="295656"/>
          </a:xfrm>
          <a:prstGeom prst="rect">
            <a:avLst/>
          </a:prstGeom>
          <a:solidFill>
            <a:srgbClr val="E6D3AA"/>
          </a:solidFill>
          <a:ln w="9525">
            <a:solidFill>
              <a:srgbClr val="C9D3DF"/>
            </a:solidFill>
            <a:prstDash val="solid"/>
          </a:ln>
        </p:spPr>
      </p:sp>
      <p:sp>
        <p:nvSpPr>
          <p:cNvPr id="11" name="bang86_t0_1"/>
          <p:cNvSpPr txBox="1"/>
          <p:nvPr/>
        </p:nvSpPr>
        <p:spPr>
          <a:xfrm>
            <a:off x="4992624" y="1527048"/>
            <a:ext cx="6687007" cy="204216"/>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Quy tắc nghiệp vụ</a:t>
            </a:r>
            <a:endParaRPr lang="en-US" sz="1200" dirty="0"/>
          </a:p>
        </p:txBody>
      </p:sp>
      <p:sp>
        <p:nvSpPr>
          <p:cNvPr id="12" name="bang86_o1_0"/>
          <p:cNvSpPr/>
          <p:nvPr/>
        </p:nvSpPr>
        <p:spPr>
          <a:xfrm>
            <a:off x="4251960" y="1776984"/>
            <a:ext cx="685800" cy="481584"/>
          </a:xfrm>
          <a:prstGeom prst="rect">
            <a:avLst/>
          </a:prstGeom>
          <a:solidFill>
            <a:srgbClr val="FFFFFF"/>
          </a:solidFill>
          <a:ln w="9525">
            <a:solidFill>
              <a:srgbClr val="C9D3DF"/>
            </a:solidFill>
            <a:prstDash val="solid"/>
          </a:ln>
        </p:spPr>
      </p:sp>
      <p:sp>
        <p:nvSpPr>
          <p:cNvPr id="13" name="bang86_t1_0"/>
          <p:cNvSpPr txBox="1"/>
          <p:nvPr/>
        </p:nvSpPr>
        <p:spPr>
          <a:xfrm>
            <a:off x="4306824" y="1822704"/>
            <a:ext cx="57607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QT16</a:t>
            </a:r>
            <a:endParaRPr lang="en-US" sz="1200" dirty="0"/>
          </a:p>
        </p:txBody>
      </p:sp>
      <p:sp>
        <p:nvSpPr>
          <p:cNvPr id="14" name="bang86_o1_1"/>
          <p:cNvSpPr/>
          <p:nvPr/>
        </p:nvSpPr>
        <p:spPr>
          <a:xfrm>
            <a:off x="4937760" y="1776984"/>
            <a:ext cx="6796735" cy="481584"/>
          </a:xfrm>
          <a:prstGeom prst="rect">
            <a:avLst/>
          </a:prstGeom>
          <a:solidFill>
            <a:srgbClr val="FFFFFF"/>
          </a:solidFill>
          <a:ln w="9525">
            <a:solidFill>
              <a:srgbClr val="C9D3DF"/>
            </a:solidFill>
            <a:prstDash val="solid"/>
          </a:ln>
        </p:spPr>
      </p:sp>
      <p:sp>
        <p:nvSpPr>
          <p:cNvPr id="15" name="bang86_t1_1"/>
          <p:cNvSpPr txBox="1"/>
          <p:nvPr/>
        </p:nvSpPr>
        <p:spPr>
          <a:xfrm>
            <a:off x="4992624" y="1822704"/>
            <a:ext cx="6687007"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Mỗi nhân viên có mã và số CCCD không trùng nhau, có 1 hoặc 2 số điện thoại.</a:t>
            </a:r>
            <a:endParaRPr lang="en-US" sz="1200" dirty="0"/>
          </a:p>
        </p:txBody>
      </p:sp>
      <p:sp>
        <p:nvSpPr>
          <p:cNvPr id="16" name="bang86_o2_0"/>
          <p:cNvSpPr/>
          <p:nvPr/>
        </p:nvSpPr>
        <p:spPr>
          <a:xfrm>
            <a:off x="4251960" y="2258568"/>
            <a:ext cx="685800" cy="481584"/>
          </a:xfrm>
          <a:prstGeom prst="rect">
            <a:avLst/>
          </a:prstGeom>
          <a:solidFill>
            <a:srgbClr val="F7F0E1"/>
          </a:solidFill>
          <a:ln w="9525">
            <a:solidFill>
              <a:srgbClr val="C9D3DF"/>
            </a:solidFill>
            <a:prstDash val="solid"/>
          </a:ln>
        </p:spPr>
      </p:sp>
      <p:sp>
        <p:nvSpPr>
          <p:cNvPr id="17" name="bang86_t2_0"/>
          <p:cNvSpPr txBox="1"/>
          <p:nvPr/>
        </p:nvSpPr>
        <p:spPr>
          <a:xfrm>
            <a:off x="4306824" y="2304288"/>
            <a:ext cx="57607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QT17</a:t>
            </a:r>
            <a:endParaRPr lang="en-US" sz="1200" dirty="0"/>
          </a:p>
        </p:txBody>
      </p:sp>
      <p:sp>
        <p:nvSpPr>
          <p:cNvPr id="18" name="bang86_o2_1"/>
          <p:cNvSpPr/>
          <p:nvPr/>
        </p:nvSpPr>
        <p:spPr>
          <a:xfrm>
            <a:off x="4937760" y="2258568"/>
            <a:ext cx="6796735" cy="481584"/>
          </a:xfrm>
          <a:prstGeom prst="rect">
            <a:avLst/>
          </a:prstGeom>
          <a:solidFill>
            <a:srgbClr val="F7F0E1"/>
          </a:solidFill>
          <a:ln w="9525">
            <a:solidFill>
              <a:srgbClr val="C9D3DF"/>
            </a:solidFill>
            <a:prstDash val="solid"/>
          </a:ln>
        </p:spPr>
      </p:sp>
      <p:sp>
        <p:nvSpPr>
          <p:cNvPr id="19" name="bang86_t2_1"/>
          <p:cNvSpPr txBox="1"/>
          <p:nvPr/>
        </p:nvSpPr>
        <p:spPr>
          <a:xfrm>
            <a:off x="4992624" y="2304288"/>
            <a:ext cx="6687007"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Mỗi nhân viên thuộc đúng 1 phòng ban; mỗi phòng ban có ít nhất 1 nhân viên.</a:t>
            </a:r>
            <a:endParaRPr lang="en-US" sz="1200" dirty="0"/>
          </a:p>
        </p:txBody>
      </p:sp>
      <p:sp>
        <p:nvSpPr>
          <p:cNvPr id="20" name="bang86_o3_0"/>
          <p:cNvSpPr/>
          <p:nvPr/>
        </p:nvSpPr>
        <p:spPr>
          <a:xfrm>
            <a:off x="4251960" y="2740152"/>
            <a:ext cx="685800" cy="481584"/>
          </a:xfrm>
          <a:prstGeom prst="rect">
            <a:avLst/>
          </a:prstGeom>
          <a:solidFill>
            <a:srgbClr val="FFFFFF"/>
          </a:solidFill>
          <a:ln w="9525">
            <a:solidFill>
              <a:srgbClr val="C9D3DF"/>
            </a:solidFill>
            <a:prstDash val="solid"/>
          </a:ln>
        </p:spPr>
      </p:sp>
      <p:sp>
        <p:nvSpPr>
          <p:cNvPr id="21" name="bang86_t3_0"/>
          <p:cNvSpPr txBox="1"/>
          <p:nvPr/>
        </p:nvSpPr>
        <p:spPr>
          <a:xfrm>
            <a:off x="4306824" y="2785872"/>
            <a:ext cx="57607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QT18</a:t>
            </a:r>
            <a:endParaRPr lang="en-US" sz="1200" dirty="0"/>
          </a:p>
        </p:txBody>
      </p:sp>
      <p:sp>
        <p:nvSpPr>
          <p:cNvPr id="22" name="bang86_o3_1"/>
          <p:cNvSpPr/>
          <p:nvPr/>
        </p:nvSpPr>
        <p:spPr>
          <a:xfrm>
            <a:off x="4937760" y="2740152"/>
            <a:ext cx="6796735" cy="481584"/>
          </a:xfrm>
          <a:prstGeom prst="rect">
            <a:avLst/>
          </a:prstGeom>
          <a:solidFill>
            <a:srgbClr val="FFFFFF"/>
          </a:solidFill>
          <a:ln w="9525">
            <a:solidFill>
              <a:srgbClr val="C9D3DF"/>
            </a:solidFill>
            <a:prstDash val="solid"/>
          </a:ln>
        </p:spPr>
      </p:sp>
      <p:sp>
        <p:nvSpPr>
          <p:cNvPr id="23" name="bang86_t3_1"/>
          <p:cNvSpPr txBox="1"/>
          <p:nvPr/>
        </p:nvSpPr>
        <p:spPr>
          <a:xfrm>
            <a:off x="4992624" y="2785872"/>
            <a:ext cx="6687007"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Mỗi phòng ban có đúng 1 trưởng phòng là một nhân viên; mỗi nhân viên làm trưởng tối đa 1 phòng ban.</a:t>
            </a:r>
            <a:endParaRPr lang="en-US" sz="1200" dirty="0"/>
          </a:p>
        </p:txBody>
      </p:sp>
      <p:sp>
        <p:nvSpPr>
          <p:cNvPr id="24" name="bang86_o4_0"/>
          <p:cNvSpPr/>
          <p:nvPr/>
        </p:nvSpPr>
        <p:spPr>
          <a:xfrm>
            <a:off x="4251960" y="3221736"/>
            <a:ext cx="685800" cy="481584"/>
          </a:xfrm>
          <a:prstGeom prst="rect">
            <a:avLst/>
          </a:prstGeom>
          <a:solidFill>
            <a:srgbClr val="F7F0E1"/>
          </a:solidFill>
          <a:ln w="9525">
            <a:solidFill>
              <a:srgbClr val="C9D3DF"/>
            </a:solidFill>
            <a:prstDash val="solid"/>
          </a:ln>
        </p:spPr>
      </p:sp>
      <p:sp>
        <p:nvSpPr>
          <p:cNvPr id="25" name="bang86_t4_0"/>
          <p:cNvSpPr txBox="1"/>
          <p:nvPr/>
        </p:nvSpPr>
        <p:spPr>
          <a:xfrm>
            <a:off x="4306824" y="3267456"/>
            <a:ext cx="57607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QT19</a:t>
            </a:r>
            <a:endParaRPr lang="en-US" sz="1200" dirty="0"/>
          </a:p>
        </p:txBody>
      </p:sp>
      <p:sp>
        <p:nvSpPr>
          <p:cNvPr id="26" name="bang86_o4_1"/>
          <p:cNvSpPr/>
          <p:nvPr/>
        </p:nvSpPr>
        <p:spPr>
          <a:xfrm>
            <a:off x="4937760" y="3221736"/>
            <a:ext cx="6796735" cy="481584"/>
          </a:xfrm>
          <a:prstGeom prst="rect">
            <a:avLst/>
          </a:prstGeom>
          <a:solidFill>
            <a:srgbClr val="F7F0E1"/>
          </a:solidFill>
          <a:ln w="9525">
            <a:solidFill>
              <a:srgbClr val="C9D3DF"/>
            </a:solidFill>
            <a:prstDash val="solid"/>
          </a:ln>
        </p:spPr>
      </p:sp>
      <p:sp>
        <p:nvSpPr>
          <p:cNvPr id="27" name="bang86_t4_1"/>
          <p:cNvSpPr txBox="1"/>
          <p:nvPr/>
        </p:nvSpPr>
        <p:spPr>
          <a:xfrm>
            <a:off x="4992624" y="3267456"/>
            <a:ext cx="6687007"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Mỗi nhân viên có 0 hoặc 1 người quản lý trực tiếp; mỗi người quản lý phụ trách 0 hoặc nhiều nhân viên cấp dưới.</a:t>
            </a:r>
            <a:endParaRPr lang="en-US" sz="1200" dirty="0"/>
          </a:p>
        </p:txBody>
      </p:sp>
      <p:sp>
        <p:nvSpPr>
          <p:cNvPr id="28" name="bang86_o5_0"/>
          <p:cNvSpPr/>
          <p:nvPr/>
        </p:nvSpPr>
        <p:spPr>
          <a:xfrm>
            <a:off x="4251960" y="3703320"/>
            <a:ext cx="685800" cy="481584"/>
          </a:xfrm>
          <a:prstGeom prst="rect">
            <a:avLst/>
          </a:prstGeom>
          <a:solidFill>
            <a:srgbClr val="FFFFFF"/>
          </a:solidFill>
          <a:ln w="9525">
            <a:solidFill>
              <a:srgbClr val="C9D3DF"/>
            </a:solidFill>
            <a:prstDash val="solid"/>
          </a:ln>
        </p:spPr>
      </p:sp>
      <p:sp>
        <p:nvSpPr>
          <p:cNvPr id="29" name="bang86_t5_0"/>
          <p:cNvSpPr txBox="1"/>
          <p:nvPr/>
        </p:nvSpPr>
        <p:spPr>
          <a:xfrm>
            <a:off x="4306824" y="3749040"/>
            <a:ext cx="57607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QT20</a:t>
            </a:r>
            <a:endParaRPr lang="en-US" sz="1200" dirty="0"/>
          </a:p>
        </p:txBody>
      </p:sp>
      <p:sp>
        <p:nvSpPr>
          <p:cNvPr id="30" name="bang86_o5_1"/>
          <p:cNvSpPr/>
          <p:nvPr/>
        </p:nvSpPr>
        <p:spPr>
          <a:xfrm>
            <a:off x="4937760" y="3703320"/>
            <a:ext cx="6796735" cy="481584"/>
          </a:xfrm>
          <a:prstGeom prst="rect">
            <a:avLst/>
          </a:prstGeom>
          <a:solidFill>
            <a:srgbClr val="FFFFFF"/>
          </a:solidFill>
          <a:ln w="9525">
            <a:solidFill>
              <a:srgbClr val="C9D3DF"/>
            </a:solidFill>
            <a:prstDash val="solid"/>
          </a:ln>
        </p:spPr>
      </p:sp>
      <p:sp>
        <p:nvSpPr>
          <p:cNvPr id="31" name="bang86_t5_1"/>
          <p:cNvSpPr txBox="1"/>
          <p:nvPr/>
        </p:nvSpPr>
        <p:spPr>
          <a:xfrm>
            <a:off x="4992624" y="3749040"/>
            <a:ext cx="6687007"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Nhân viên có thể là phi công hoặc tiếp viên, không thể là cả hai; nhân viên mặt đất không thuộc loại nào.</a:t>
            </a:r>
            <a:endParaRPr lang="en-US" sz="1200" dirty="0"/>
          </a:p>
        </p:txBody>
      </p:sp>
      <p:sp>
        <p:nvSpPr>
          <p:cNvPr id="32" name="bang86_o6_0"/>
          <p:cNvSpPr/>
          <p:nvPr/>
        </p:nvSpPr>
        <p:spPr>
          <a:xfrm>
            <a:off x="4251960" y="4184904"/>
            <a:ext cx="685800" cy="481584"/>
          </a:xfrm>
          <a:prstGeom prst="rect">
            <a:avLst/>
          </a:prstGeom>
          <a:solidFill>
            <a:srgbClr val="F7F0E1"/>
          </a:solidFill>
          <a:ln w="9525">
            <a:solidFill>
              <a:srgbClr val="C9D3DF"/>
            </a:solidFill>
            <a:prstDash val="solid"/>
          </a:ln>
        </p:spPr>
      </p:sp>
      <p:sp>
        <p:nvSpPr>
          <p:cNvPr id="33" name="bang86_t6_0"/>
          <p:cNvSpPr txBox="1"/>
          <p:nvPr/>
        </p:nvSpPr>
        <p:spPr>
          <a:xfrm>
            <a:off x="4306824" y="4230624"/>
            <a:ext cx="576072"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QT21</a:t>
            </a:r>
            <a:endParaRPr lang="en-US" sz="1200" dirty="0"/>
          </a:p>
        </p:txBody>
      </p:sp>
      <p:sp>
        <p:nvSpPr>
          <p:cNvPr id="34" name="bang86_o6_1"/>
          <p:cNvSpPr/>
          <p:nvPr/>
        </p:nvSpPr>
        <p:spPr>
          <a:xfrm>
            <a:off x="4937760" y="4184904"/>
            <a:ext cx="6796735" cy="481584"/>
          </a:xfrm>
          <a:prstGeom prst="rect">
            <a:avLst/>
          </a:prstGeom>
          <a:solidFill>
            <a:srgbClr val="F7F0E1"/>
          </a:solidFill>
          <a:ln w="9525">
            <a:solidFill>
              <a:srgbClr val="C9D3DF"/>
            </a:solidFill>
            <a:prstDash val="solid"/>
          </a:ln>
        </p:spPr>
      </p:sp>
      <p:sp>
        <p:nvSpPr>
          <p:cNvPr id="35" name="bang86_t6_1"/>
          <p:cNvSpPr txBox="1"/>
          <p:nvPr/>
        </p:nvSpPr>
        <p:spPr>
          <a:xfrm>
            <a:off x="4992624" y="4230624"/>
            <a:ext cx="6687007" cy="390144"/>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Mỗi phi công có ít nhất 1 giấy phép bay theo loại máy bay; mỗi giấy phép thuộc đúng 1 phi công và được đánh số trong phi công đó.</a:t>
            </a:r>
            <a:endParaRPr lang="en-US" sz="1200" dirty="0"/>
          </a:p>
        </p:txBody>
      </p:sp>
      <p:sp>
        <p:nvSpPr>
          <p:cNvPr id="36" name="bang86_o7_0"/>
          <p:cNvSpPr/>
          <p:nvPr/>
        </p:nvSpPr>
        <p:spPr>
          <a:xfrm>
            <a:off x="4251960" y="4666488"/>
            <a:ext cx="685800" cy="667512"/>
          </a:xfrm>
          <a:prstGeom prst="rect">
            <a:avLst/>
          </a:prstGeom>
          <a:solidFill>
            <a:srgbClr val="FFFFFF"/>
          </a:solidFill>
          <a:ln w="9525">
            <a:solidFill>
              <a:srgbClr val="C9D3DF"/>
            </a:solidFill>
            <a:prstDash val="solid"/>
          </a:ln>
        </p:spPr>
      </p:sp>
      <p:sp>
        <p:nvSpPr>
          <p:cNvPr id="37" name="bang86_t7_0"/>
          <p:cNvSpPr txBox="1"/>
          <p:nvPr/>
        </p:nvSpPr>
        <p:spPr>
          <a:xfrm>
            <a:off x="4306824" y="4712208"/>
            <a:ext cx="576072" cy="576072"/>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QT22</a:t>
            </a:r>
            <a:endParaRPr lang="en-US" sz="1200" dirty="0"/>
          </a:p>
        </p:txBody>
      </p:sp>
      <p:sp>
        <p:nvSpPr>
          <p:cNvPr id="38" name="bang86_o7_1"/>
          <p:cNvSpPr/>
          <p:nvPr/>
        </p:nvSpPr>
        <p:spPr>
          <a:xfrm>
            <a:off x="4937760" y="4666488"/>
            <a:ext cx="6796735" cy="667512"/>
          </a:xfrm>
          <a:prstGeom prst="rect">
            <a:avLst/>
          </a:prstGeom>
          <a:solidFill>
            <a:srgbClr val="FFFFFF"/>
          </a:solidFill>
          <a:ln w="9525">
            <a:solidFill>
              <a:srgbClr val="C9D3DF"/>
            </a:solidFill>
            <a:prstDash val="solid"/>
          </a:ln>
        </p:spPr>
      </p:sp>
      <p:sp>
        <p:nvSpPr>
          <p:cNvPr id="39" name="bang86_t7_1"/>
          <p:cNvSpPr txBox="1"/>
          <p:nvPr/>
        </p:nvSpPr>
        <p:spPr>
          <a:xfrm>
            <a:off x="4992624" y="4712208"/>
            <a:ext cx="6687007" cy="576072"/>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Mỗi chuyến bay có từ 2 đến 4 phi công, trong đó đúng 1 cơ trưởng; mỗi phi công lái 0 hoặc nhiều chuyến. Mỗi lần phân công ghi vai trò (cơ trưởng, cơ phó) và giờ bay thực tế.</a:t>
            </a:r>
            <a:endParaRPr lang="en-US" sz="1200" dirty="0"/>
          </a:p>
        </p:txBody>
      </p:sp>
      <p:sp>
        <p:nvSpPr>
          <p:cNvPr id="40" name="bang86_o8_0"/>
          <p:cNvSpPr/>
          <p:nvPr/>
        </p:nvSpPr>
        <p:spPr>
          <a:xfrm>
            <a:off x="4251960" y="5334000"/>
            <a:ext cx="685800" cy="667512"/>
          </a:xfrm>
          <a:prstGeom prst="rect">
            <a:avLst/>
          </a:prstGeom>
          <a:solidFill>
            <a:srgbClr val="F7F0E1"/>
          </a:solidFill>
          <a:ln w="9525">
            <a:solidFill>
              <a:srgbClr val="C9D3DF"/>
            </a:solidFill>
            <a:prstDash val="solid"/>
          </a:ln>
        </p:spPr>
      </p:sp>
      <p:sp>
        <p:nvSpPr>
          <p:cNvPr id="41" name="bang86_t8_0"/>
          <p:cNvSpPr txBox="1"/>
          <p:nvPr/>
        </p:nvSpPr>
        <p:spPr>
          <a:xfrm>
            <a:off x="4306824" y="5379720"/>
            <a:ext cx="576072" cy="576072"/>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QT23</a:t>
            </a:r>
            <a:endParaRPr lang="en-US" sz="1200" dirty="0"/>
          </a:p>
        </p:txBody>
      </p:sp>
      <p:sp>
        <p:nvSpPr>
          <p:cNvPr id="42" name="bang86_o8_1"/>
          <p:cNvSpPr/>
          <p:nvPr/>
        </p:nvSpPr>
        <p:spPr>
          <a:xfrm>
            <a:off x="4937760" y="5334000"/>
            <a:ext cx="6796735" cy="667512"/>
          </a:xfrm>
          <a:prstGeom prst="rect">
            <a:avLst/>
          </a:prstGeom>
          <a:solidFill>
            <a:srgbClr val="F7F0E1"/>
          </a:solidFill>
          <a:ln w="9525">
            <a:solidFill>
              <a:srgbClr val="C9D3DF"/>
            </a:solidFill>
            <a:prstDash val="solid"/>
          </a:ln>
        </p:spPr>
      </p:sp>
      <p:sp>
        <p:nvSpPr>
          <p:cNvPr id="43" name="bang86_t8_1"/>
          <p:cNvSpPr txBox="1"/>
          <p:nvPr/>
        </p:nvSpPr>
        <p:spPr>
          <a:xfrm>
            <a:off x="4992624" y="5379720"/>
            <a:ext cx="6687007" cy="576072"/>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Mỗi chuyến bay có ít nhất 2 tiếp viên, trong đó đúng 1 tiếp viên trưởng; mỗi tiếp viên phục vụ 0 hoặc nhiều chuyến. Mỗi lần phân công ghi vai trò và khoang phục vụ.</a:t>
            </a:r>
            <a:endParaRPr lang="en-US" sz="12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ERD phân hệ D</a:t>
            </a:r>
            <a:endParaRPr lang="en-US" sz="2600" dirty="0"/>
          </a:p>
        </p:txBody>
      </p:sp>
      <p:pic>
        <p:nvPicPr>
          <p:cNvPr id="3" name="erd_D" descr="erd_D">    </p:cNvPr>
          <p:cNvPicPr>
            <a:picLocks noChangeAspect="1"/>
          </p:cNvPicPr>
          <p:nvPr/>
        </p:nvPicPr>
        <p:blipFill>
          <a:blip r:embed="rId1"/>
          <a:stretch>
            <a:fillRect/>
          </a:stretch>
        </p:blipFill>
        <p:spPr>
          <a:xfrm>
            <a:off x="1794170" y="1389888"/>
            <a:ext cx="8603356" cy="4919472"/>
          </a:xfrm>
          <a:prstGeom prst="rect">
            <a:avLst/>
          </a:prstGeom>
        </p:spPr>
      </p:pic>
      <p:sp>
        <p:nvSpPr>
          <p:cNvPr id="4" name="txt87"/>
          <p:cNvSpPr txBox="1"/>
          <p:nvPr/>
        </p:nvSpPr>
        <p:spPr>
          <a:xfrm>
            <a:off x="457200" y="1389888"/>
            <a:ext cx="4114800" cy="274320"/>
          </a:xfrm>
          <a:prstGeom prst="rect">
            <a:avLst/>
          </a:prstGeom>
          <a:noFill/>
          <a:ln/>
        </p:spPr>
        <p:txBody>
          <a:bodyPr wrap="square" lIns="0" tIns="0" rIns="0" bIns="0" rtlCol="0" anchor="ctr"/>
          <a:lstStyle/>
          <a:p>
            <a:pPr indent="0" marL="0">
              <a:buNone/>
            </a:pPr>
            <a:r>
              <a:rPr lang="en-US" sz="1100" b="1" dirty="0">
                <a:solidFill>
                  <a:srgbClr val="8A6A2F"/>
                </a:solidFill>
                <a:latin typeface="Arial" pitchFamily="34" charset="0"/>
                <a:ea typeface="Arial" pitchFamily="34" charset="-122"/>
                <a:cs typeface="Arial" pitchFamily="34" charset="-120"/>
              </a:rPr>
              <a:t>NHAN_VIEN → PHI_CONG, TIEP_VIEN {Optional, Or}</a:t>
            </a:r>
            <a:endParaRPr lang="en-US" sz="11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Bảng liên kết và multiplicity</a:t>
            </a:r>
            <a:endParaRPr lang="en-US" sz="2600" dirty="0"/>
          </a:p>
        </p:txBody>
      </p:sp>
      <p:sp>
        <p:nvSpPr>
          <p:cNvPr id="3" name="bang88_o0_0"/>
          <p:cNvSpPr/>
          <p:nvPr/>
        </p:nvSpPr>
        <p:spPr>
          <a:xfrm>
            <a:off x="457200" y="1481328"/>
            <a:ext cx="914400" cy="667512"/>
          </a:xfrm>
          <a:prstGeom prst="rect">
            <a:avLst/>
          </a:prstGeom>
          <a:solidFill>
            <a:srgbClr val="E6D3AA"/>
          </a:solidFill>
          <a:ln w="9525">
            <a:solidFill>
              <a:srgbClr val="C9D3DF"/>
            </a:solidFill>
            <a:prstDash val="solid"/>
          </a:ln>
        </p:spPr>
      </p:sp>
      <p:sp>
        <p:nvSpPr>
          <p:cNvPr id="4" name="bang88_t0_0"/>
          <p:cNvSpPr txBox="1"/>
          <p:nvPr/>
        </p:nvSpPr>
        <p:spPr>
          <a:xfrm>
            <a:off x="512064" y="1527048"/>
            <a:ext cx="80467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Mã</a:t>
            </a:r>
            <a:endParaRPr lang="en-US" sz="1200" dirty="0"/>
          </a:p>
        </p:txBody>
      </p:sp>
      <p:sp>
        <p:nvSpPr>
          <p:cNvPr id="5" name="bang88_o0_1"/>
          <p:cNvSpPr/>
          <p:nvPr/>
        </p:nvSpPr>
        <p:spPr>
          <a:xfrm>
            <a:off x="1371600" y="1481328"/>
            <a:ext cx="1828800" cy="667512"/>
          </a:xfrm>
          <a:prstGeom prst="rect">
            <a:avLst/>
          </a:prstGeom>
          <a:solidFill>
            <a:srgbClr val="E6D3AA"/>
          </a:solidFill>
          <a:ln w="9525">
            <a:solidFill>
              <a:srgbClr val="C9D3DF"/>
            </a:solidFill>
            <a:prstDash val="solid"/>
          </a:ln>
        </p:spPr>
      </p:sp>
      <p:sp>
        <p:nvSpPr>
          <p:cNvPr id="6" name="bang88_t0_1"/>
          <p:cNvSpPr txBox="1"/>
          <p:nvPr/>
        </p:nvSpPr>
        <p:spPr>
          <a:xfrm>
            <a:off x="1426464" y="1527048"/>
            <a:ext cx="171907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Tên liên kết</a:t>
            </a:r>
            <a:endParaRPr lang="en-US" sz="1200" dirty="0"/>
          </a:p>
        </p:txBody>
      </p:sp>
      <p:sp>
        <p:nvSpPr>
          <p:cNvPr id="7" name="bang88_o0_2"/>
          <p:cNvSpPr/>
          <p:nvPr/>
        </p:nvSpPr>
        <p:spPr>
          <a:xfrm>
            <a:off x="3200400" y="1481328"/>
            <a:ext cx="1965960" cy="667512"/>
          </a:xfrm>
          <a:prstGeom prst="rect">
            <a:avLst/>
          </a:prstGeom>
          <a:solidFill>
            <a:srgbClr val="E6D3AA"/>
          </a:solidFill>
          <a:ln w="9525">
            <a:solidFill>
              <a:srgbClr val="C9D3DF"/>
            </a:solidFill>
            <a:prstDash val="solid"/>
          </a:ln>
        </p:spPr>
      </p:sp>
      <p:sp>
        <p:nvSpPr>
          <p:cNvPr id="8" name="bang88_t0_2"/>
          <p:cNvSpPr txBox="1"/>
          <p:nvPr/>
        </p:nvSpPr>
        <p:spPr>
          <a:xfrm>
            <a:off x="3255264" y="1527048"/>
            <a:ext cx="185623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Thực thể A</a:t>
            </a:r>
            <a:endParaRPr lang="en-US" sz="1200" dirty="0"/>
          </a:p>
        </p:txBody>
      </p:sp>
      <p:sp>
        <p:nvSpPr>
          <p:cNvPr id="9" name="bang88_o0_3"/>
          <p:cNvSpPr/>
          <p:nvPr/>
        </p:nvSpPr>
        <p:spPr>
          <a:xfrm>
            <a:off x="5166360" y="1481328"/>
            <a:ext cx="2148840" cy="667512"/>
          </a:xfrm>
          <a:prstGeom prst="rect">
            <a:avLst/>
          </a:prstGeom>
          <a:solidFill>
            <a:srgbClr val="E6D3AA"/>
          </a:solidFill>
          <a:ln w="9525">
            <a:solidFill>
              <a:srgbClr val="C9D3DF"/>
            </a:solidFill>
            <a:prstDash val="solid"/>
          </a:ln>
        </p:spPr>
      </p:sp>
      <p:sp>
        <p:nvSpPr>
          <p:cNvPr id="10" name="bang88_t0_3"/>
          <p:cNvSpPr txBox="1"/>
          <p:nvPr/>
        </p:nvSpPr>
        <p:spPr>
          <a:xfrm>
            <a:off x="5221224" y="1527048"/>
            <a:ext cx="203911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Thực thể B</a:t>
            </a:r>
            <a:endParaRPr lang="en-US" sz="1200" dirty="0"/>
          </a:p>
        </p:txBody>
      </p:sp>
      <p:sp>
        <p:nvSpPr>
          <p:cNvPr id="11" name="bang88_o0_4"/>
          <p:cNvSpPr/>
          <p:nvPr/>
        </p:nvSpPr>
        <p:spPr>
          <a:xfrm>
            <a:off x="7315200" y="1481328"/>
            <a:ext cx="960120" cy="667512"/>
          </a:xfrm>
          <a:prstGeom prst="rect">
            <a:avLst/>
          </a:prstGeom>
          <a:solidFill>
            <a:srgbClr val="E6D3AA"/>
          </a:solidFill>
          <a:ln w="9525">
            <a:solidFill>
              <a:srgbClr val="C9D3DF"/>
            </a:solidFill>
            <a:prstDash val="solid"/>
          </a:ln>
        </p:spPr>
      </p:sp>
      <p:sp>
        <p:nvSpPr>
          <p:cNvPr id="12" name="bang88_t0_4"/>
          <p:cNvSpPr txBox="1"/>
          <p:nvPr/>
        </p:nvSpPr>
        <p:spPr>
          <a:xfrm>
            <a:off x="7370064" y="1527048"/>
            <a:ext cx="85039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Mỗi A có bao nhiêu B</a:t>
            </a:r>
            <a:endParaRPr lang="en-US" sz="1200" dirty="0"/>
          </a:p>
        </p:txBody>
      </p:sp>
      <p:sp>
        <p:nvSpPr>
          <p:cNvPr id="13" name="bang88_o0_5"/>
          <p:cNvSpPr/>
          <p:nvPr/>
        </p:nvSpPr>
        <p:spPr>
          <a:xfrm>
            <a:off x="8275320" y="1481328"/>
            <a:ext cx="960120" cy="667512"/>
          </a:xfrm>
          <a:prstGeom prst="rect">
            <a:avLst/>
          </a:prstGeom>
          <a:solidFill>
            <a:srgbClr val="E6D3AA"/>
          </a:solidFill>
          <a:ln w="9525">
            <a:solidFill>
              <a:srgbClr val="C9D3DF"/>
            </a:solidFill>
            <a:prstDash val="solid"/>
          </a:ln>
        </p:spPr>
      </p:sp>
      <p:sp>
        <p:nvSpPr>
          <p:cNvPr id="14" name="bang88_t0_5"/>
          <p:cNvSpPr txBox="1"/>
          <p:nvPr/>
        </p:nvSpPr>
        <p:spPr>
          <a:xfrm>
            <a:off x="8330184" y="1527048"/>
            <a:ext cx="85039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Mỗi B có bao nhiêu A</a:t>
            </a:r>
            <a:endParaRPr lang="en-US" sz="1200" dirty="0"/>
          </a:p>
        </p:txBody>
      </p:sp>
      <p:sp>
        <p:nvSpPr>
          <p:cNvPr id="15" name="bang88_o0_6"/>
          <p:cNvSpPr/>
          <p:nvPr/>
        </p:nvSpPr>
        <p:spPr>
          <a:xfrm>
            <a:off x="9235440" y="1481328"/>
            <a:ext cx="1828800" cy="667512"/>
          </a:xfrm>
          <a:prstGeom prst="rect">
            <a:avLst/>
          </a:prstGeom>
          <a:solidFill>
            <a:srgbClr val="E6D3AA"/>
          </a:solidFill>
          <a:ln w="9525">
            <a:solidFill>
              <a:srgbClr val="C9D3DF"/>
            </a:solidFill>
            <a:prstDash val="solid"/>
          </a:ln>
        </p:spPr>
      </p:sp>
      <p:sp>
        <p:nvSpPr>
          <p:cNvPr id="16" name="bang88_t0_6"/>
          <p:cNvSpPr txBox="1"/>
          <p:nvPr/>
        </p:nvSpPr>
        <p:spPr>
          <a:xfrm>
            <a:off x="9290304" y="1527048"/>
            <a:ext cx="171907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Thuộc tính liên kết</a:t>
            </a:r>
            <a:endParaRPr lang="en-US" sz="1200" dirty="0"/>
          </a:p>
        </p:txBody>
      </p:sp>
      <p:sp>
        <p:nvSpPr>
          <p:cNvPr id="17" name="bang88_o0_7"/>
          <p:cNvSpPr/>
          <p:nvPr/>
        </p:nvSpPr>
        <p:spPr>
          <a:xfrm>
            <a:off x="11064240" y="1481328"/>
            <a:ext cx="667512" cy="667512"/>
          </a:xfrm>
          <a:prstGeom prst="rect">
            <a:avLst/>
          </a:prstGeom>
          <a:solidFill>
            <a:srgbClr val="E6D3AA"/>
          </a:solidFill>
          <a:ln w="9525">
            <a:solidFill>
              <a:srgbClr val="C9D3DF"/>
            </a:solidFill>
            <a:prstDash val="solid"/>
          </a:ln>
        </p:spPr>
      </p:sp>
      <p:sp>
        <p:nvSpPr>
          <p:cNvPr id="18" name="bang88_t0_7"/>
          <p:cNvSpPr txBox="1"/>
          <p:nvPr/>
        </p:nvSpPr>
        <p:spPr>
          <a:xfrm>
            <a:off x="11119104" y="1527048"/>
            <a:ext cx="557784"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QT</a:t>
            </a:r>
            <a:endParaRPr lang="en-US" sz="1200" dirty="0"/>
          </a:p>
        </p:txBody>
      </p:sp>
      <p:sp>
        <p:nvSpPr>
          <p:cNvPr id="19" name="bang88_o1_0"/>
          <p:cNvSpPr/>
          <p:nvPr/>
        </p:nvSpPr>
        <p:spPr>
          <a:xfrm>
            <a:off x="457200" y="2148840"/>
            <a:ext cx="914400" cy="311150"/>
          </a:xfrm>
          <a:prstGeom prst="rect">
            <a:avLst/>
          </a:prstGeom>
          <a:solidFill>
            <a:srgbClr val="FFFFFF"/>
          </a:solidFill>
          <a:ln w="9525">
            <a:solidFill>
              <a:srgbClr val="C9D3DF"/>
            </a:solidFill>
            <a:prstDash val="solid"/>
          </a:ln>
        </p:spPr>
      </p:sp>
      <p:sp>
        <p:nvSpPr>
          <p:cNvPr id="20" name="bang88_t1_0"/>
          <p:cNvSpPr txBox="1"/>
          <p:nvPr/>
        </p:nvSpPr>
        <p:spPr>
          <a:xfrm>
            <a:off x="512064" y="2194560"/>
            <a:ext cx="8046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LK13</a:t>
            </a:r>
            <a:endParaRPr lang="en-US" sz="1300" dirty="0"/>
          </a:p>
        </p:txBody>
      </p:sp>
      <p:sp>
        <p:nvSpPr>
          <p:cNvPr id="21" name="bang88_o1_1"/>
          <p:cNvSpPr/>
          <p:nvPr/>
        </p:nvSpPr>
        <p:spPr>
          <a:xfrm>
            <a:off x="1371600" y="2148840"/>
            <a:ext cx="1828800" cy="311150"/>
          </a:xfrm>
          <a:prstGeom prst="rect">
            <a:avLst/>
          </a:prstGeom>
          <a:solidFill>
            <a:srgbClr val="FFFFFF"/>
          </a:solidFill>
          <a:ln w="9525">
            <a:solidFill>
              <a:srgbClr val="C9D3DF"/>
            </a:solidFill>
            <a:prstDash val="solid"/>
          </a:ln>
        </p:spPr>
      </p:sp>
      <p:sp>
        <p:nvSpPr>
          <p:cNvPr id="22" name="bang88_t1_1"/>
          <p:cNvSpPr txBox="1"/>
          <p:nvPr/>
        </p:nvSpPr>
        <p:spPr>
          <a:xfrm>
            <a:off x="1426464" y="2194560"/>
            <a:ext cx="17190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Thuộc</a:t>
            </a:r>
            <a:endParaRPr lang="en-US" sz="1300" dirty="0"/>
          </a:p>
        </p:txBody>
      </p:sp>
      <p:sp>
        <p:nvSpPr>
          <p:cNvPr id="23" name="bang88_o1_2"/>
          <p:cNvSpPr/>
          <p:nvPr/>
        </p:nvSpPr>
        <p:spPr>
          <a:xfrm>
            <a:off x="3200400" y="2148840"/>
            <a:ext cx="1965960" cy="311150"/>
          </a:xfrm>
          <a:prstGeom prst="rect">
            <a:avLst/>
          </a:prstGeom>
          <a:solidFill>
            <a:srgbClr val="FFFFFF"/>
          </a:solidFill>
          <a:ln w="9525">
            <a:solidFill>
              <a:srgbClr val="C9D3DF"/>
            </a:solidFill>
            <a:prstDash val="solid"/>
          </a:ln>
        </p:spPr>
      </p:sp>
      <p:sp>
        <p:nvSpPr>
          <p:cNvPr id="24" name="bang88_t1_2"/>
          <p:cNvSpPr txBox="1"/>
          <p:nvPr/>
        </p:nvSpPr>
        <p:spPr>
          <a:xfrm>
            <a:off x="3255264" y="2194560"/>
            <a:ext cx="185623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NHAN_VIEN</a:t>
            </a:r>
            <a:endParaRPr lang="en-US" sz="1300" dirty="0"/>
          </a:p>
        </p:txBody>
      </p:sp>
      <p:sp>
        <p:nvSpPr>
          <p:cNvPr id="25" name="bang88_o1_3"/>
          <p:cNvSpPr/>
          <p:nvPr/>
        </p:nvSpPr>
        <p:spPr>
          <a:xfrm>
            <a:off x="5166360" y="2148840"/>
            <a:ext cx="2148840" cy="311150"/>
          </a:xfrm>
          <a:prstGeom prst="rect">
            <a:avLst/>
          </a:prstGeom>
          <a:solidFill>
            <a:srgbClr val="FFFFFF"/>
          </a:solidFill>
          <a:ln w="9525">
            <a:solidFill>
              <a:srgbClr val="C9D3DF"/>
            </a:solidFill>
            <a:prstDash val="solid"/>
          </a:ln>
        </p:spPr>
      </p:sp>
      <p:sp>
        <p:nvSpPr>
          <p:cNvPr id="26" name="bang88_t1_3"/>
          <p:cNvSpPr txBox="1"/>
          <p:nvPr/>
        </p:nvSpPr>
        <p:spPr>
          <a:xfrm>
            <a:off x="5221224" y="2194560"/>
            <a:ext cx="203911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PHONG_BAN</a:t>
            </a:r>
            <a:endParaRPr lang="en-US" sz="1300" dirty="0"/>
          </a:p>
        </p:txBody>
      </p:sp>
      <p:sp>
        <p:nvSpPr>
          <p:cNvPr id="27" name="bang88_o1_4"/>
          <p:cNvSpPr/>
          <p:nvPr/>
        </p:nvSpPr>
        <p:spPr>
          <a:xfrm>
            <a:off x="7315200" y="2148840"/>
            <a:ext cx="960120" cy="311150"/>
          </a:xfrm>
          <a:prstGeom prst="rect">
            <a:avLst/>
          </a:prstGeom>
          <a:solidFill>
            <a:srgbClr val="FFFFFF"/>
          </a:solidFill>
          <a:ln w="9525">
            <a:solidFill>
              <a:srgbClr val="C9D3DF"/>
            </a:solidFill>
            <a:prstDash val="solid"/>
          </a:ln>
        </p:spPr>
      </p:sp>
      <p:sp>
        <p:nvSpPr>
          <p:cNvPr id="28" name="bang88_t1_4"/>
          <p:cNvSpPr txBox="1"/>
          <p:nvPr/>
        </p:nvSpPr>
        <p:spPr>
          <a:xfrm>
            <a:off x="7370064" y="2194560"/>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1..1</a:t>
            </a:r>
            <a:endParaRPr lang="en-US" sz="1300" dirty="0"/>
          </a:p>
        </p:txBody>
      </p:sp>
      <p:sp>
        <p:nvSpPr>
          <p:cNvPr id="29" name="bang88_o1_5"/>
          <p:cNvSpPr/>
          <p:nvPr/>
        </p:nvSpPr>
        <p:spPr>
          <a:xfrm>
            <a:off x="8275320" y="2148840"/>
            <a:ext cx="960120" cy="311150"/>
          </a:xfrm>
          <a:prstGeom prst="rect">
            <a:avLst/>
          </a:prstGeom>
          <a:solidFill>
            <a:srgbClr val="FFFFFF"/>
          </a:solidFill>
          <a:ln w="9525">
            <a:solidFill>
              <a:srgbClr val="C9D3DF"/>
            </a:solidFill>
            <a:prstDash val="solid"/>
          </a:ln>
        </p:spPr>
      </p:sp>
      <p:sp>
        <p:nvSpPr>
          <p:cNvPr id="30" name="bang88_t1_5"/>
          <p:cNvSpPr txBox="1"/>
          <p:nvPr/>
        </p:nvSpPr>
        <p:spPr>
          <a:xfrm>
            <a:off x="8330184" y="2194560"/>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a:t>
            </a:r>
            <a:endParaRPr lang="en-US" sz="1300" dirty="0"/>
          </a:p>
        </p:txBody>
      </p:sp>
      <p:sp>
        <p:nvSpPr>
          <p:cNvPr id="31" name="bang88_o1_6"/>
          <p:cNvSpPr/>
          <p:nvPr/>
        </p:nvSpPr>
        <p:spPr>
          <a:xfrm>
            <a:off x="9235440" y="2148840"/>
            <a:ext cx="1828800" cy="311150"/>
          </a:xfrm>
          <a:prstGeom prst="rect">
            <a:avLst/>
          </a:prstGeom>
          <a:solidFill>
            <a:srgbClr val="FFFFFF"/>
          </a:solidFill>
          <a:ln w="9525">
            <a:solidFill>
              <a:srgbClr val="C9D3DF"/>
            </a:solidFill>
            <a:prstDash val="solid"/>
          </a:ln>
        </p:spPr>
      </p:sp>
      <p:sp>
        <p:nvSpPr>
          <p:cNvPr id="32" name="bang88_o1_7"/>
          <p:cNvSpPr/>
          <p:nvPr/>
        </p:nvSpPr>
        <p:spPr>
          <a:xfrm>
            <a:off x="11064240" y="2148840"/>
            <a:ext cx="667512" cy="311150"/>
          </a:xfrm>
          <a:prstGeom prst="rect">
            <a:avLst/>
          </a:prstGeom>
          <a:solidFill>
            <a:srgbClr val="FFFFFF"/>
          </a:solidFill>
          <a:ln w="9525">
            <a:solidFill>
              <a:srgbClr val="C9D3DF"/>
            </a:solidFill>
            <a:prstDash val="solid"/>
          </a:ln>
        </p:spPr>
      </p:sp>
      <p:sp>
        <p:nvSpPr>
          <p:cNvPr id="33" name="bang88_t1_7"/>
          <p:cNvSpPr txBox="1"/>
          <p:nvPr/>
        </p:nvSpPr>
        <p:spPr>
          <a:xfrm>
            <a:off x="11119104" y="2194560"/>
            <a:ext cx="557784"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QT17</a:t>
            </a:r>
            <a:endParaRPr lang="en-US" sz="1300" dirty="0"/>
          </a:p>
        </p:txBody>
      </p:sp>
      <p:sp>
        <p:nvSpPr>
          <p:cNvPr id="34" name="bang88_o2_0"/>
          <p:cNvSpPr/>
          <p:nvPr/>
        </p:nvSpPr>
        <p:spPr>
          <a:xfrm>
            <a:off x="457200" y="2459990"/>
            <a:ext cx="914400" cy="311150"/>
          </a:xfrm>
          <a:prstGeom prst="rect">
            <a:avLst/>
          </a:prstGeom>
          <a:solidFill>
            <a:srgbClr val="F7F0E1"/>
          </a:solidFill>
          <a:ln w="9525">
            <a:solidFill>
              <a:srgbClr val="C9D3DF"/>
            </a:solidFill>
            <a:prstDash val="solid"/>
          </a:ln>
        </p:spPr>
      </p:sp>
      <p:sp>
        <p:nvSpPr>
          <p:cNvPr id="35" name="bang88_t2_0"/>
          <p:cNvSpPr txBox="1"/>
          <p:nvPr/>
        </p:nvSpPr>
        <p:spPr>
          <a:xfrm>
            <a:off x="512064" y="2505710"/>
            <a:ext cx="8046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LK14</a:t>
            </a:r>
            <a:endParaRPr lang="en-US" sz="1300" dirty="0"/>
          </a:p>
        </p:txBody>
      </p:sp>
      <p:sp>
        <p:nvSpPr>
          <p:cNvPr id="36" name="bang88_o2_1"/>
          <p:cNvSpPr/>
          <p:nvPr/>
        </p:nvSpPr>
        <p:spPr>
          <a:xfrm>
            <a:off x="1371600" y="2459990"/>
            <a:ext cx="1828800" cy="311150"/>
          </a:xfrm>
          <a:prstGeom prst="rect">
            <a:avLst/>
          </a:prstGeom>
          <a:solidFill>
            <a:srgbClr val="F7F0E1"/>
          </a:solidFill>
          <a:ln w="9525">
            <a:solidFill>
              <a:srgbClr val="C9D3DF"/>
            </a:solidFill>
            <a:prstDash val="solid"/>
          </a:ln>
        </p:spPr>
      </p:sp>
      <p:sp>
        <p:nvSpPr>
          <p:cNvPr id="37" name="bang88_t2_1"/>
          <p:cNvSpPr txBox="1"/>
          <p:nvPr/>
        </p:nvSpPr>
        <p:spPr>
          <a:xfrm>
            <a:off x="1426464" y="2505710"/>
            <a:ext cx="17190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Trưởng phòng</a:t>
            </a:r>
            <a:endParaRPr lang="en-US" sz="1300" dirty="0"/>
          </a:p>
        </p:txBody>
      </p:sp>
      <p:sp>
        <p:nvSpPr>
          <p:cNvPr id="38" name="bang88_o2_2"/>
          <p:cNvSpPr/>
          <p:nvPr/>
        </p:nvSpPr>
        <p:spPr>
          <a:xfrm>
            <a:off x="3200400" y="2459990"/>
            <a:ext cx="1965960" cy="311150"/>
          </a:xfrm>
          <a:prstGeom prst="rect">
            <a:avLst/>
          </a:prstGeom>
          <a:solidFill>
            <a:srgbClr val="F7F0E1"/>
          </a:solidFill>
          <a:ln w="9525">
            <a:solidFill>
              <a:srgbClr val="C9D3DF"/>
            </a:solidFill>
            <a:prstDash val="solid"/>
          </a:ln>
        </p:spPr>
      </p:sp>
      <p:sp>
        <p:nvSpPr>
          <p:cNvPr id="39" name="bang88_t2_2"/>
          <p:cNvSpPr txBox="1"/>
          <p:nvPr/>
        </p:nvSpPr>
        <p:spPr>
          <a:xfrm>
            <a:off x="3255264" y="2505710"/>
            <a:ext cx="185623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NHAN_VIEN</a:t>
            </a:r>
            <a:endParaRPr lang="en-US" sz="1300" dirty="0"/>
          </a:p>
        </p:txBody>
      </p:sp>
      <p:sp>
        <p:nvSpPr>
          <p:cNvPr id="40" name="bang88_o2_3"/>
          <p:cNvSpPr/>
          <p:nvPr/>
        </p:nvSpPr>
        <p:spPr>
          <a:xfrm>
            <a:off x="5166360" y="2459990"/>
            <a:ext cx="2148840" cy="311150"/>
          </a:xfrm>
          <a:prstGeom prst="rect">
            <a:avLst/>
          </a:prstGeom>
          <a:solidFill>
            <a:srgbClr val="F7F0E1"/>
          </a:solidFill>
          <a:ln w="9525">
            <a:solidFill>
              <a:srgbClr val="C9D3DF"/>
            </a:solidFill>
            <a:prstDash val="solid"/>
          </a:ln>
        </p:spPr>
      </p:sp>
      <p:sp>
        <p:nvSpPr>
          <p:cNvPr id="41" name="bang88_t2_3"/>
          <p:cNvSpPr txBox="1"/>
          <p:nvPr/>
        </p:nvSpPr>
        <p:spPr>
          <a:xfrm>
            <a:off x="5221224" y="2505710"/>
            <a:ext cx="203911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PHONG_BAN</a:t>
            </a:r>
            <a:endParaRPr lang="en-US" sz="1300" dirty="0"/>
          </a:p>
        </p:txBody>
      </p:sp>
      <p:sp>
        <p:nvSpPr>
          <p:cNvPr id="42" name="bang88_o2_4"/>
          <p:cNvSpPr/>
          <p:nvPr/>
        </p:nvSpPr>
        <p:spPr>
          <a:xfrm>
            <a:off x="7315200" y="2459990"/>
            <a:ext cx="960120" cy="311150"/>
          </a:xfrm>
          <a:prstGeom prst="rect">
            <a:avLst/>
          </a:prstGeom>
          <a:solidFill>
            <a:srgbClr val="F7F0E1"/>
          </a:solidFill>
          <a:ln w="9525">
            <a:solidFill>
              <a:srgbClr val="C9D3DF"/>
            </a:solidFill>
            <a:prstDash val="solid"/>
          </a:ln>
        </p:spPr>
      </p:sp>
      <p:sp>
        <p:nvSpPr>
          <p:cNvPr id="43" name="bang88_t2_4"/>
          <p:cNvSpPr txBox="1"/>
          <p:nvPr/>
        </p:nvSpPr>
        <p:spPr>
          <a:xfrm>
            <a:off x="7370064" y="2505710"/>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0..1</a:t>
            </a:r>
            <a:endParaRPr lang="en-US" sz="1300" dirty="0"/>
          </a:p>
        </p:txBody>
      </p:sp>
      <p:sp>
        <p:nvSpPr>
          <p:cNvPr id="44" name="bang88_o2_5"/>
          <p:cNvSpPr/>
          <p:nvPr/>
        </p:nvSpPr>
        <p:spPr>
          <a:xfrm>
            <a:off x="8275320" y="2459990"/>
            <a:ext cx="960120" cy="311150"/>
          </a:xfrm>
          <a:prstGeom prst="rect">
            <a:avLst/>
          </a:prstGeom>
          <a:solidFill>
            <a:srgbClr val="F7F0E1"/>
          </a:solidFill>
          <a:ln w="9525">
            <a:solidFill>
              <a:srgbClr val="C9D3DF"/>
            </a:solidFill>
            <a:prstDash val="solid"/>
          </a:ln>
        </p:spPr>
      </p:sp>
      <p:sp>
        <p:nvSpPr>
          <p:cNvPr id="45" name="bang88_t2_5"/>
          <p:cNvSpPr txBox="1"/>
          <p:nvPr/>
        </p:nvSpPr>
        <p:spPr>
          <a:xfrm>
            <a:off x="8330184" y="2505710"/>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1..1</a:t>
            </a:r>
            <a:endParaRPr lang="en-US" sz="1300" dirty="0"/>
          </a:p>
        </p:txBody>
      </p:sp>
      <p:sp>
        <p:nvSpPr>
          <p:cNvPr id="46" name="bang88_o2_6"/>
          <p:cNvSpPr/>
          <p:nvPr/>
        </p:nvSpPr>
        <p:spPr>
          <a:xfrm>
            <a:off x="9235440" y="2459990"/>
            <a:ext cx="1828800" cy="311150"/>
          </a:xfrm>
          <a:prstGeom prst="rect">
            <a:avLst/>
          </a:prstGeom>
          <a:solidFill>
            <a:srgbClr val="F7F0E1"/>
          </a:solidFill>
          <a:ln w="9525">
            <a:solidFill>
              <a:srgbClr val="C9D3DF"/>
            </a:solidFill>
            <a:prstDash val="solid"/>
          </a:ln>
        </p:spPr>
      </p:sp>
      <p:sp>
        <p:nvSpPr>
          <p:cNvPr id="47" name="bang88_o2_7"/>
          <p:cNvSpPr/>
          <p:nvPr/>
        </p:nvSpPr>
        <p:spPr>
          <a:xfrm>
            <a:off x="11064240" y="2459990"/>
            <a:ext cx="667512" cy="311150"/>
          </a:xfrm>
          <a:prstGeom prst="rect">
            <a:avLst/>
          </a:prstGeom>
          <a:solidFill>
            <a:srgbClr val="F7F0E1"/>
          </a:solidFill>
          <a:ln w="9525">
            <a:solidFill>
              <a:srgbClr val="C9D3DF"/>
            </a:solidFill>
            <a:prstDash val="solid"/>
          </a:ln>
        </p:spPr>
      </p:sp>
      <p:sp>
        <p:nvSpPr>
          <p:cNvPr id="48" name="bang88_t2_7"/>
          <p:cNvSpPr txBox="1"/>
          <p:nvPr/>
        </p:nvSpPr>
        <p:spPr>
          <a:xfrm>
            <a:off x="11119104" y="2505710"/>
            <a:ext cx="557784"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QT18</a:t>
            </a:r>
            <a:endParaRPr lang="en-US" sz="1300" dirty="0"/>
          </a:p>
        </p:txBody>
      </p:sp>
      <p:sp>
        <p:nvSpPr>
          <p:cNvPr id="49" name="bang88_o3_0"/>
          <p:cNvSpPr/>
          <p:nvPr/>
        </p:nvSpPr>
        <p:spPr>
          <a:xfrm>
            <a:off x="457200" y="2771140"/>
            <a:ext cx="914400" cy="713994"/>
          </a:xfrm>
          <a:prstGeom prst="rect">
            <a:avLst/>
          </a:prstGeom>
          <a:solidFill>
            <a:srgbClr val="FFFFFF"/>
          </a:solidFill>
          <a:ln w="9525">
            <a:solidFill>
              <a:srgbClr val="C9D3DF"/>
            </a:solidFill>
            <a:prstDash val="solid"/>
          </a:ln>
        </p:spPr>
      </p:sp>
      <p:sp>
        <p:nvSpPr>
          <p:cNvPr id="50" name="bang88_t3_0"/>
          <p:cNvSpPr txBox="1"/>
          <p:nvPr/>
        </p:nvSpPr>
        <p:spPr>
          <a:xfrm>
            <a:off x="512064" y="2816860"/>
            <a:ext cx="80467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LK15</a:t>
            </a:r>
            <a:endParaRPr lang="en-US" sz="1300" dirty="0"/>
          </a:p>
        </p:txBody>
      </p:sp>
      <p:sp>
        <p:nvSpPr>
          <p:cNvPr id="51" name="bang88_o3_1"/>
          <p:cNvSpPr/>
          <p:nvPr/>
        </p:nvSpPr>
        <p:spPr>
          <a:xfrm>
            <a:off x="1371600" y="2771140"/>
            <a:ext cx="1828800" cy="713994"/>
          </a:xfrm>
          <a:prstGeom prst="rect">
            <a:avLst/>
          </a:prstGeom>
          <a:solidFill>
            <a:srgbClr val="FFFFFF"/>
          </a:solidFill>
          <a:ln w="9525">
            <a:solidFill>
              <a:srgbClr val="C9D3DF"/>
            </a:solidFill>
            <a:prstDash val="solid"/>
          </a:ln>
        </p:spPr>
      </p:sp>
      <p:sp>
        <p:nvSpPr>
          <p:cNvPr id="52" name="bang88_t3_1"/>
          <p:cNvSpPr txBox="1"/>
          <p:nvPr/>
        </p:nvSpPr>
        <p:spPr>
          <a:xfrm>
            <a:off x="1426464" y="2816860"/>
            <a:ext cx="171907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Quản lý</a:t>
            </a:r>
            <a:endParaRPr lang="en-US" sz="1300" dirty="0"/>
          </a:p>
          <a:p>
            <a:pPr indent="0" marL="0">
              <a:buNone/>
            </a:pPr>
            <a:r>
              <a:rPr lang="en-US" sz="1300" dirty="0">
                <a:solidFill>
                  <a:srgbClr val="1F2933"/>
                </a:solidFill>
                <a:latin typeface="Arial" pitchFamily="34" charset="0"/>
                <a:ea typeface="Arial" pitchFamily="34" charset="-122"/>
                <a:cs typeface="Arial" pitchFamily="34" charset="-120"/>
              </a:rPr>
              <a:t>(người quản lý / cấp dưới)</a:t>
            </a:r>
            <a:endParaRPr lang="en-US" sz="1300" dirty="0"/>
          </a:p>
        </p:txBody>
      </p:sp>
      <p:sp>
        <p:nvSpPr>
          <p:cNvPr id="53" name="bang88_o3_2"/>
          <p:cNvSpPr/>
          <p:nvPr/>
        </p:nvSpPr>
        <p:spPr>
          <a:xfrm>
            <a:off x="3200400" y="2771140"/>
            <a:ext cx="1965960" cy="713994"/>
          </a:xfrm>
          <a:prstGeom prst="rect">
            <a:avLst/>
          </a:prstGeom>
          <a:solidFill>
            <a:srgbClr val="FFFFFF"/>
          </a:solidFill>
          <a:ln w="9525">
            <a:solidFill>
              <a:srgbClr val="C9D3DF"/>
            </a:solidFill>
            <a:prstDash val="solid"/>
          </a:ln>
        </p:spPr>
      </p:sp>
      <p:sp>
        <p:nvSpPr>
          <p:cNvPr id="54" name="bang88_t3_2"/>
          <p:cNvSpPr txBox="1"/>
          <p:nvPr/>
        </p:nvSpPr>
        <p:spPr>
          <a:xfrm>
            <a:off x="3255264" y="2816860"/>
            <a:ext cx="185623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NHAN_VIEN</a:t>
            </a:r>
            <a:endParaRPr lang="en-US" sz="1300" dirty="0"/>
          </a:p>
        </p:txBody>
      </p:sp>
      <p:sp>
        <p:nvSpPr>
          <p:cNvPr id="55" name="bang88_o3_3"/>
          <p:cNvSpPr/>
          <p:nvPr/>
        </p:nvSpPr>
        <p:spPr>
          <a:xfrm>
            <a:off x="5166360" y="2771140"/>
            <a:ext cx="2148840" cy="713994"/>
          </a:xfrm>
          <a:prstGeom prst="rect">
            <a:avLst/>
          </a:prstGeom>
          <a:solidFill>
            <a:srgbClr val="FFFFFF"/>
          </a:solidFill>
          <a:ln w="9525">
            <a:solidFill>
              <a:srgbClr val="C9D3DF"/>
            </a:solidFill>
            <a:prstDash val="solid"/>
          </a:ln>
        </p:spPr>
      </p:sp>
      <p:sp>
        <p:nvSpPr>
          <p:cNvPr id="56" name="bang88_t3_3"/>
          <p:cNvSpPr txBox="1"/>
          <p:nvPr/>
        </p:nvSpPr>
        <p:spPr>
          <a:xfrm>
            <a:off x="5221224" y="2816860"/>
            <a:ext cx="203911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NHAN_VIEN</a:t>
            </a:r>
            <a:endParaRPr lang="en-US" sz="1300" dirty="0"/>
          </a:p>
        </p:txBody>
      </p:sp>
      <p:sp>
        <p:nvSpPr>
          <p:cNvPr id="57" name="bang88_o3_4"/>
          <p:cNvSpPr/>
          <p:nvPr/>
        </p:nvSpPr>
        <p:spPr>
          <a:xfrm>
            <a:off x="7315200" y="2771140"/>
            <a:ext cx="960120" cy="713994"/>
          </a:xfrm>
          <a:prstGeom prst="rect">
            <a:avLst/>
          </a:prstGeom>
          <a:solidFill>
            <a:srgbClr val="FFFFFF"/>
          </a:solidFill>
          <a:ln w="9525">
            <a:solidFill>
              <a:srgbClr val="C9D3DF"/>
            </a:solidFill>
            <a:prstDash val="solid"/>
          </a:ln>
        </p:spPr>
      </p:sp>
      <p:sp>
        <p:nvSpPr>
          <p:cNvPr id="58" name="bang88_t3_4"/>
          <p:cNvSpPr txBox="1"/>
          <p:nvPr/>
        </p:nvSpPr>
        <p:spPr>
          <a:xfrm>
            <a:off x="7370064" y="2816860"/>
            <a:ext cx="85039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59" name="bang88_o3_5"/>
          <p:cNvSpPr/>
          <p:nvPr/>
        </p:nvSpPr>
        <p:spPr>
          <a:xfrm>
            <a:off x="8275320" y="2771140"/>
            <a:ext cx="960120" cy="713994"/>
          </a:xfrm>
          <a:prstGeom prst="rect">
            <a:avLst/>
          </a:prstGeom>
          <a:solidFill>
            <a:srgbClr val="FFFFFF"/>
          </a:solidFill>
          <a:ln w="9525">
            <a:solidFill>
              <a:srgbClr val="C9D3DF"/>
            </a:solidFill>
            <a:prstDash val="solid"/>
          </a:ln>
        </p:spPr>
      </p:sp>
      <p:sp>
        <p:nvSpPr>
          <p:cNvPr id="60" name="bang88_t3_5"/>
          <p:cNvSpPr txBox="1"/>
          <p:nvPr/>
        </p:nvSpPr>
        <p:spPr>
          <a:xfrm>
            <a:off x="8330184" y="2816860"/>
            <a:ext cx="85039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0..1</a:t>
            </a:r>
            <a:endParaRPr lang="en-US" sz="1300" dirty="0"/>
          </a:p>
        </p:txBody>
      </p:sp>
      <p:sp>
        <p:nvSpPr>
          <p:cNvPr id="61" name="bang88_o3_6"/>
          <p:cNvSpPr/>
          <p:nvPr/>
        </p:nvSpPr>
        <p:spPr>
          <a:xfrm>
            <a:off x="9235440" y="2771140"/>
            <a:ext cx="1828800" cy="713994"/>
          </a:xfrm>
          <a:prstGeom prst="rect">
            <a:avLst/>
          </a:prstGeom>
          <a:solidFill>
            <a:srgbClr val="FFFFFF"/>
          </a:solidFill>
          <a:ln w="9525">
            <a:solidFill>
              <a:srgbClr val="C9D3DF"/>
            </a:solidFill>
            <a:prstDash val="solid"/>
          </a:ln>
        </p:spPr>
      </p:sp>
      <p:sp>
        <p:nvSpPr>
          <p:cNvPr id="62" name="bang88_o3_7"/>
          <p:cNvSpPr/>
          <p:nvPr/>
        </p:nvSpPr>
        <p:spPr>
          <a:xfrm>
            <a:off x="11064240" y="2771140"/>
            <a:ext cx="667512" cy="713994"/>
          </a:xfrm>
          <a:prstGeom prst="rect">
            <a:avLst/>
          </a:prstGeom>
          <a:solidFill>
            <a:srgbClr val="FFFFFF"/>
          </a:solidFill>
          <a:ln w="9525">
            <a:solidFill>
              <a:srgbClr val="C9D3DF"/>
            </a:solidFill>
            <a:prstDash val="solid"/>
          </a:ln>
        </p:spPr>
      </p:sp>
      <p:sp>
        <p:nvSpPr>
          <p:cNvPr id="63" name="bang88_t3_7"/>
          <p:cNvSpPr txBox="1"/>
          <p:nvPr/>
        </p:nvSpPr>
        <p:spPr>
          <a:xfrm>
            <a:off x="11119104" y="2816860"/>
            <a:ext cx="557784"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QT19</a:t>
            </a:r>
            <a:endParaRPr lang="en-US" sz="1300" dirty="0"/>
          </a:p>
        </p:txBody>
      </p:sp>
      <p:sp>
        <p:nvSpPr>
          <p:cNvPr id="64" name="bang88_o4_0"/>
          <p:cNvSpPr/>
          <p:nvPr/>
        </p:nvSpPr>
        <p:spPr>
          <a:xfrm>
            <a:off x="457200" y="3485134"/>
            <a:ext cx="914400" cy="311150"/>
          </a:xfrm>
          <a:prstGeom prst="rect">
            <a:avLst/>
          </a:prstGeom>
          <a:solidFill>
            <a:srgbClr val="F7F0E1"/>
          </a:solidFill>
          <a:ln w="9525">
            <a:solidFill>
              <a:srgbClr val="C9D3DF"/>
            </a:solidFill>
            <a:prstDash val="solid"/>
          </a:ln>
        </p:spPr>
      </p:sp>
      <p:sp>
        <p:nvSpPr>
          <p:cNvPr id="65" name="bang88_t4_0"/>
          <p:cNvSpPr txBox="1"/>
          <p:nvPr/>
        </p:nvSpPr>
        <p:spPr>
          <a:xfrm>
            <a:off x="512064" y="3530854"/>
            <a:ext cx="8046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LK16</a:t>
            </a:r>
            <a:endParaRPr lang="en-US" sz="1300" dirty="0"/>
          </a:p>
        </p:txBody>
      </p:sp>
      <p:sp>
        <p:nvSpPr>
          <p:cNvPr id="66" name="bang88_o4_1"/>
          <p:cNvSpPr/>
          <p:nvPr/>
        </p:nvSpPr>
        <p:spPr>
          <a:xfrm>
            <a:off x="1371600" y="3485134"/>
            <a:ext cx="1828800" cy="311150"/>
          </a:xfrm>
          <a:prstGeom prst="rect">
            <a:avLst/>
          </a:prstGeom>
          <a:solidFill>
            <a:srgbClr val="F7F0E1"/>
          </a:solidFill>
          <a:ln w="9525">
            <a:solidFill>
              <a:srgbClr val="C9D3DF"/>
            </a:solidFill>
            <a:prstDash val="solid"/>
          </a:ln>
        </p:spPr>
      </p:sp>
      <p:sp>
        <p:nvSpPr>
          <p:cNvPr id="67" name="bang88_t4_1"/>
          <p:cNvSpPr txBox="1"/>
          <p:nvPr/>
        </p:nvSpPr>
        <p:spPr>
          <a:xfrm>
            <a:off x="1426464" y="3530854"/>
            <a:ext cx="17190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Được cấp</a:t>
            </a:r>
            <a:endParaRPr lang="en-US" sz="1300" dirty="0"/>
          </a:p>
        </p:txBody>
      </p:sp>
      <p:sp>
        <p:nvSpPr>
          <p:cNvPr id="68" name="bang88_o4_2"/>
          <p:cNvSpPr/>
          <p:nvPr/>
        </p:nvSpPr>
        <p:spPr>
          <a:xfrm>
            <a:off x="3200400" y="3485134"/>
            <a:ext cx="1965960" cy="311150"/>
          </a:xfrm>
          <a:prstGeom prst="rect">
            <a:avLst/>
          </a:prstGeom>
          <a:solidFill>
            <a:srgbClr val="F7F0E1"/>
          </a:solidFill>
          <a:ln w="9525">
            <a:solidFill>
              <a:srgbClr val="C9D3DF"/>
            </a:solidFill>
            <a:prstDash val="solid"/>
          </a:ln>
        </p:spPr>
      </p:sp>
      <p:sp>
        <p:nvSpPr>
          <p:cNvPr id="69" name="bang88_t4_2"/>
          <p:cNvSpPr txBox="1"/>
          <p:nvPr/>
        </p:nvSpPr>
        <p:spPr>
          <a:xfrm>
            <a:off x="3255264" y="3530854"/>
            <a:ext cx="185623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PHI_CONG</a:t>
            </a:r>
            <a:endParaRPr lang="en-US" sz="1300" dirty="0"/>
          </a:p>
        </p:txBody>
      </p:sp>
      <p:sp>
        <p:nvSpPr>
          <p:cNvPr id="70" name="bang88_o4_3"/>
          <p:cNvSpPr/>
          <p:nvPr/>
        </p:nvSpPr>
        <p:spPr>
          <a:xfrm>
            <a:off x="5166360" y="3485134"/>
            <a:ext cx="2148840" cy="311150"/>
          </a:xfrm>
          <a:prstGeom prst="rect">
            <a:avLst/>
          </a:prstGeom>
          <a:solidFill>
            <a:srgbClr val="F7F0E1"/>
          </a:solidFill>
          <a:ln w="9525">
            <a:solidFill>
              <a:srgbClr val="C9D3DF"/>
            </a:solidFill>
            <a:prstDash val="solid"/>
          </a:ln>
        </p:spPr>
      </p:sp>
      <p:sp>
        <p:nvSpPr>
          <p:cNvPr id="71" name="bang88_t4_3"/>
          <p:cNvSpPr txBox="1"/>
          <p:nvPr/>
        </p:nvSpPr>
        <p:spPr>
          <a:xfrm>
            <a:off x="5221224" y="3530854"/>
            <a:ext cx="203911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GIAY_PHEP_BAY</a:t>
            </a:r>
            <a:endParaRPr lang="en-US" sz="1300" dirty="0"/>
          </a:p>
        </p:txBody>
      </p:sp>
      <p:sp>
        <p:nvSpPr>
          <p:cNvPr id="72" name="bang88_o4_4"/>
          <p:cNvSpPr/>
          <p:nvPr/>
        </p:nvSpPr>
        <p:spPr>
          <a:xfrm>
            <a:off x="7315200" y="3485134"/>
            <a:ext cx="960120" cy="311150"/>
          </a:xfrm>
          <a:prstGeom prst="rect">
            <a:avLst/>
          </a:prstGeom>
          <a:solidFill>
            <a:srgbClr val="F7F0E1"/>
          </a:solidFill>
          <a:ln w="9525">
            <a:solidFill>
              <a:srgbClr val="C9D3DF"/>
            </a:solidFill>
            <a:prstDash val="solid"/>
          </a:ln>
        </p:spPr>
      </p:sp>
      <p:sp>
        <p:nvSpPr>
          <p:cNvPr id="73" name="bang88_t4_4"/>
          <p:cNvSpPr txBox="1"/>
          <p:nvPr/>
        </p:nvSpPr>
        <p:spPr>
          <a:xfrm>
            <a:off x="7370064" y="3530854"/>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a:t>
            </a:r>
            <a:endParaRPr lang="en-US" sz="1300" dirty="0"/>
          </a:p>
        </p:txBody>
      </p:sp>
      <p:sp>
        <p:nvSpPr>
          <p:cNvPr id="74" name="bang88_o4_5"/>
          <p:cNvSpPr/>
          <p:nvPr/>
        </p:nvSpPr>
        <p:spPr>
          <a:xfrm>
            <a:off x="8275320" y="3485134"/>
            <a:ext cx="960120" cy="311150"/>
          </a:xfrm>
          <a:prstGeom prst="rect">
            <a:avLst/>
          </a:prstGeom>
          <a:solidFill>
            <a:srgbClr val="F7F0E1"/>
          </a:solidFill>
          <a:ln w="9525">
            <a:solidFill>
              <a:srgbClr val="C9D3DF"/>
            </a:solidFill>
            <a:prstDash val="solid"/>
          </a:ln>
        </p:spPr>
      </p:sp>
      <p:sp>
        <p:nvSpPr>
          <p:cNvPr id="75" name="bang88_t4_5"/>
          <p:cNvSpPr txBox="1"/>
          <p:nvPr/>
        </p:nvSpPr>
        <p:spPr>
          <a:xfrm>
            <a:off x="8330184" y="3530854"/>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1..1</a:t>
            </a:r>
            <a:endParaRPr lang="en-US" sz="1300" dirty="0"/>
          </a:p>
        </p:txBody>
      </p:sp>
      <p:sp>
        <p:nvSpPr>
          <p:cNvPr id="76" name="bang88_o4_6"/>
          <p:cNvSpPr/>
          <p:nvPr/>
        </p:nvSpPr>
        <p:spPr>
          <a:xfrm>
            <a:off x="9235440" y="3485134"/>
            <a:ext cx="1828800" cy="311150"/>
          </a:xfrm>
          <a:prstGeom prst="rect">
            <a:avLst/>
          </a:prstGeom>
          <a:solidFill>
            <a:srgbClr val="F7F0E1"/>
          </a:solidFill>
          <a:ln w="9525">
            <a:solidFill>
              <a:srgbClr val="C9D3DF"/>
            </a:solidFill>
            <a:prstDash val="solid"/>
          </a:ln>
        </p:spPr>
      </p:sp>
      <p:sp>
        <p:nvSpPr>
          <p:cNvPr id="77" name="bang88_o4_7"/>
          <p:cNvSpPr/>
          <p:nvPr/>
        </p:nvSpPr>
        <p:spPr>
          <a:xfrm>
            <a:off x="11064240" y="3485134"/>
            <a:ext cx="667512" cy="311150"/>
          </a:xfrm>
          <a:prstGeom prst="rect">
            <a:avLst/>
          </a:prstGeom>
          <a:solidFill>
            <a:srgbClr val="F7F0E1"/>
          </a:solidFill>
          <a:ln w="9525">
            <a:solidFill>
              <a:srgbClr val="C9D3DF"/>
            </a:solidFill>
            <a:prstDash val="solid"/>
          </a:ln>
        </p:spPr>
      </p:sp>
      <p:sp>
        <p:nvSpPr>
          <p:cNvPr id="78" name="bang88_t4_7"/>
          <p:cNvSpPr txBox="1"/>
          <p:nvPr/>
        </p:nvSpPr>
        <p:spPr>
          <a:xfrm>
            <a:off x="11119104" y="3530854"/>
            <a:ext cx="557784"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QT21</a:t>
            </a:r>
            <a:endParaRPr lang="en-US" sz="1300" dirty="0"/>
          </a:p>
        </p:txBody>
      </p:sp>
      <p:sp>
        <p:nvSpPr>
          <p:cNvPr id="79" name="bang88_o5_0"/>
          <p:cNvSpPr/>
          <p:nvPr/>
        </p:nvSpPr>
        <p:spPr>
          <a:xfrm>
            <a:off x="457200" y="3796284"/>
            <a:ext cx="914400" cy="713994"/>
          </a:xfrm>
          <a:prstGeom prst="rect">
            <a:avLst/>
          </a:prstGeom>
          <a:solidFill>
            <a:srgbClr val="FFFFFF"/>
          </a:solidFill>
          <a:ln w="9525">
            <a:solidFill>
              <a:srgbClr val="C9D3DF"/>
            </a:solidFill>
            <a:prstDash val="solid"/>
          </a:ln>
        </p:spPr>
      </p:sp>
      <p:sp>
        <p:nvSpPr>
          <p:cNvPr id="80" name="bang88_t5_0"/>
          <p:cNvSpPr txBox="1"/>
          <p:nvPr/>
        </p:nvSpPr>
        <p:spPr>
          <a:xfrm>
            <a:off x="512064" y="3842004"/>
            <a:ext cx="80467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LK17 (*)</a:t>
            </a:r>
            <a:endParaRPr lang="en-US" sz="1300" dirty="0"/>
          </a:p>
        </p:txBody>
      </p:sp>
      <p:sp>
        <p:nvSpPr>
          <p:cNvPr id="81" name="bang88_o5_1"/>
          <p:cNvSpPr/>
          <p:nvPr/>
        </p:nvSpPr>
        <p:spPr>
          <a:xfrm>
            <a:off x="1371600" y="3796284"/>
            <a:ext cx="1828800" cy="713994"/>
          </a:xfrm>
          <a:prstGeom prst="rect">
            <a:avLst/>
          </a:prstGeom>
          <a:solidFill>
            <a:srgbClr val="FFFFFF"/>
          </a:solidFill>
          <a:ln w="9525">
            <a:solidFill>
              <a:srgbClr val="C9D3DF"/>
            </a:solidFill>
            <a:prstDash val="solid"/>
          </a:ln>
        </p:spPr>
      </p:sp>
      <p:sp>
        <p:nvSpPr>
          <p:cNvPr id="82" name="bang88_t5_1"/>
          <p:cNvSpPr txBox="1"/>
          <p:nvPr/>
        </p:nvSpPr>
        <p:spPr>
          <a:xfrm>
            <a:off x="1426464" y="3842004"/>
            <a:ext cx="171907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Lái</a:t>
            </a:r>
            <a:endParaRPr lang="en-US" sz="1300" dirty="0"/>
          </a:p>
        </p:txBody>
      </p:sp>
      <p:sp>
        <p:nvSpPr>
          <p:cNvPr id="83" name="bang88_o5_2"/>
          <p:cNvSpPr/>
          <p:nvPr/>
        </p:nvSpPr>
        <p:spPr>
          <a:xfrm>
            <a:off x="3200400" y="3796284"/>
            <a:ext cx="1965960" cy="713994"/>
          </a:xfrm>
          <a:prstGeom prst="rect">
            <a:avLst/>
          </a:prstGeom>
          <a:solidFill>
            <a:srgbClr val="FFFFFF"/>
          </a:solidFill>
          <a:ln w="9525">
            <a:solidFill>
              <a:srgbClr val="C9D3DF"/>
            </a:solidFill>
            <a:prstDash val="solid"/>
          </a:ln>
        </p:spPr>
      </p:sp>
      <p:sp>
        <p:nvSpPr>
          <p:cNvPr id="84" name="bang88_t5_2"/>
          <p:cNvSpPr txBox="1"/>
          <p:nvPr/>
        </p:nvSpPr>
        <p:spPr>
          <a:xfrm>
            <a:off x="3255264" y="3842004"/>
            <a:ext cx="185623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PHI_CONG</a:t>
            </a:r>
            <a:endParaRPr lang="en-US" sz="1300" dirty="0"/>
          </a:p>
        </p:txBody>
      </p:sp>
      <p:sp>
        <p:nvSpPr>
          <p:cNvPr id="85" name="bang88_o5_3"/>
          <p:cNvSpPr/>
          <p:nvPr/>
        </p:nvSpPr>
        <p:spPr>
          <a:xfrm>
            <a:off x="5166360" y="3796284"/>
            <a:ext cx="2148840" cy="713994"/>
          </a:xfrm>
          <a:prstGeom prst="rect">
            <a:avLst/>
          </a:prstGeom>
          <a:solidFill>
            <a:srgbClr val="FFFFFF"/>
          </a:solidFill>
          <a:ln w="9525">
            <a:solidFill>
              <a:srgbClr val="C9D3DF"/>
            </a:solidFill>
            <a:prstDash val="solid"/>
          </a:ln>
        </p:spPr>
      </p:sp>
      <p:sp>
        <p:nvSpPr>
          <p:cNvPr id="86" name="bang88_t5_3"/>
          <p:cNvSpPr txBox="1"/>
          <p:nvPr/>
        </p:nvSpPr>
        <p:spPr>
          <a:xfrm>
            <a:off x="5221224" y="3842004"/>
            <a:ext cx="203911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CHUYEN_BAY</a:t>
            </a:r>
            <a:endParaRPr lang="en-US" sz="1300" dirty="0"/>
          </a:p>
        </p:txBody>
      </p:sp>
      <p:sp>
        <p:nvSpPr>
          <p:cNvPr id="87" name="bang88_o5_4"/>
          <p:cNvSpPr/>
          <p:nvPr/>
        </p:nvSpPr>
        <p:spPr>
          <a:xfrm>
            <a:off x="7315200" y="3796284"/>
            <a:ext cx="960120" cy="713994"/>
          </a:xfrm>
          <a:prstGeom prst="rect">
            <a:avLst/>
          </a:prstGeom>
          <a:solidFill>
            <a:srgbClr val="FFFFFF"/>
          </a:solidFill>
          <a:ln w="9525">
            <a:solidFill>
              <a:srgbClr val="C9D3DF"/>
            </a:solidFill>
            <a:prstDash val="solid"/>
          </a:ln>
        </p:spPr>
      </p:sp>
      <p:sp>
        <p:nvSpPr>
          <p:cNvPr id="88" name="bang88_t5_4"/>
          <p:cNvSpPr txBox="1"/>
          <p:nvPr/>
        </p:nvSpPr>
        <p:spPr>
          <a:xfrm>
            <a:off x="7370064" y="3842004"/>
            <a:ext cx="85039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89" name="bang88_o5_5"/>
          <p:cNvSpPr/>
          <p:nvPr/>
        </p:nvSpPr>
        <p:spPr>
          <a:xfrm>
            <a:off x="8275320" y="3796284"/>
            <a:ext cx="960120" cy="713994"/>
          </a:xfrm>
          <a:prstGeom prst="rect">
            <a:avLst/>
          </a:prstGeom>
          <a:solidFill>
            <a:srgbClr val="FFFFFF"/>
          </a:solidFill>
          <a:ln w="9525">
            <a:solidFill>
              <a:srgbClr val="C9D3DF"/>
            </a:solidFill>
            <a:prstDash val="solid"/>
          </a:ln>
        </p:spPr>
      </p:sp>
      <p:sp>
        <p:nvSpPr>
          <p:cNvPr id="90" name="bang88_t5_5"/>
          <p:cNvSpPr txBox="1"/>
          <p:nvPr/>
        </p:nvSpPr>
        <p:spPr>
          <a:xfrm>
            <a:off x="8330184" y="3842004"/>
            <a:ext cx="85039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2..4</a:t>
            </a:r>
            <a:endParaRPr lang="en-US" sz="1300" dirty="0"/>
          </a:p>
        </p:txBody>
      </p:sp>
      <p:sp>
        <p:nvSpPr>
          <p:cNvPr id="91" name="bang88_o5_6"/>
          <p:cNvSpPr/>
          <p:nvPr/>
        </p:nvSpPr>
        <p:spPr>
          <a:xfrm>
            <a:off x="9235440" y="3796284"/>
            <a:ext cx="1828800" cy="713994"/>
          </a:xfrm>
          <a:prstGeom prst="rect">
            <a:avLst/>
          </a:prstGeom>
          <a:solidFill>
            <a:srgbClr val="FFFFFF"/>
          </a:solidFill>
          <a:ln w="9525">
            <a:solidFill>
              <a:srgbClr val="C9D3DF"/>
            </a:solidFill>
            <a:prstDash val="solid"/>
          </a:ln>
        </p:spPr>
      </p:sp>
      <p:sp>
        <p:nvSpPr>
          <p:cNvPr id="92" name="bang88_t5_6"/>
          <p:cNvSpPr txBox="1"/>
          <p:nvPr/>
        </p:nvSpPr>
        <p:spPr>
          <a:xfrm>
            <a:off x="9290304" y="3842004"/>
            <a:ext cx="1719072"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PHAN_CONG_LAI: VaiTro, GioBayThucTe</a:t>
            </a:r>
            <a:endParaRPr lang="en-US" sz="1300" dirty="0"/>
          </a:p>
        </p:txBody>
      </p:sp>
      <p:sp>
        <p:nvSpPr>
          <p:cNvPr id="93" name="bang88_o5_7"/>
          <p:cNvSpPr/>
          <p:nvPr/>
        </p:nvSpPr>
        <p:spPr>
          <a:xfrm>
            <a:off x="11064240" y="3796284"/>
            <a:ext cx="667512" cy="713994"/>
          </a:xfrm>
          <a:prstGeom prst="rect">
            <a:avLst/>
          </a:prstGeom>
          <a:solidFill>
            <a:srgbClr val="FFFFFF"/>
          </a:solidFill>
          <a:ln w="9525">
            <a:solidFill>
              <a:srgbClr val="C9D3DF"/>
            </a:solidFill>
            <a:prstDash val="solid"/>
          </a:ln>
        </p:spPr>
      </p:sp>
      <p:sp>
        <p:nvSpPr>
          <p:cNvPr id="94" name="bang88_t5_7"/>
          <p:cNvSpPr txBox="1"/>
          <p:nvPr/>
        </p:nvSpPr>
        <p:spPr>
          <a:xfrm>
            <a:off x="11119104" y="3842004"/>
            <a:ext cx="557784" cy="622554"/>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QT22</a:t>
            </a:r>
            <a:endParaRPr lang="en-US" sz="1300" dirty="0"/>
          </a:p>
        </p:txBody>
      </p:sp>
      <p:sp>
        <p:nvSpPr>
          <p:cNvPr id="95" name="bang88_o6_0"/>
          <p:cNvSpPr/>
          <p:nvPr/>
        </p:nvSpPr>
        <p:spPr>
          <a:xfrm>
            <a:off x="457200" y="4510278"/>
            <a:ext cx="914400" cy="512572"/>
          </a:xfrm>
          <a:prstGeom prst="rect">
            <a:avLst/>
          </a:prstGeom>
          <a:solidFill>
            <a:srgbClr val="F7F0E1"/>
          </a:solidFill>
          <a:ln w="9525">
            <a:solidFill>
              <a:srgbClr val="C9D3DF"/>
            </a:solidFill>
            <a:prstDash val="solid"/>
          </a:ln>
        </p:spPr>
      </p:sp>
      <p:sp>
        <p:nvSpPr>
          <p:cNvPr id="96" name="bang88_t6_0"/>
          <p:cNvSpPr txBox="1"/>
          <p:nvPr/>
        </p:nvSpPr>
        <p:spPr>
          <a:xfrm>
            <a:off x="512064" y="4555998"/>
            <a:ext cx="8046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LK18 (*)</a:t>
            </a:r>
            <a:endParaRPr lang="en-US" sz="1300" dirty="0"/>
          </a:p>
        </p:txBody>
      </p:sp>
      <p:sp>
        <p:nvSpPr>
          <p:cNvPr id="97" name="bang88_o6_1"/>
          <p:cNvSpPr/>
          <p:nvPr/>
        </p:nvSpPr>
        <p:spPr>
          <a:xfrm>
            <a:off x="1371600" y="4510278"/>
            <a:ext cx="1828800" cy="512572"/>
          </a:xfrm>
          <a:prstGeom prst="rect">
            <a:avLst/>
          </a:prstGeom>
          <a:solidFill>
            <a:srgbClr val="F7F0E1"/>
          </a:solidFill>
          <a:ln w="9525">
            <a:solidFill>
              <a:srgbClr val="C9D3DF"/>
            </a:solidFill>
            <a:prstDash val="solid"/>
          </a:ln>
        </p:spPr>
      </p:sp>
      <p:sp>
        <p:nvSpPr>
          <p:cNvPr id="98" name="bang88_t6_1"/>
          <p:cNvSpPr txBox="1"/>
          <p:nvPr/>
        </p:nvSpPr>
        <p:spPr>
          <a:xfrm>
            <a:off x="1426464" y="4555998"/>
            <a:ext cx="17190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Phục vụ</a:t>
            </a:r>
            <a:endParaRPr lang="en-US" sz="1300" dirty="0"/>
          </a:p>
        </p:txBody>
      </p:sp>
      <p:sp>
        <p:nvSpPr>
          <p:cNvPr id="99" name="bang88_o6_2"/>
          <p:cNvSpPr/>
          <p:nvPr/>
        </p:nvSpPr>
        <p:spPr>
          <a:xfrm>
            <a:off x="3200400" y="4510278"/>
            <a:ext cx="1965960" cy="512572"/>
          </a:xfrm>
          <a:prstGeom prst="rect">
            <a:avLst/>
          </a:prstGeom>
          <a:solidFill>
            <a:srgbClr val="F7F0E1"/>
          </a:solidFill>
          <a:ln w="9525">
            <a:solidFill>
              <a:srgbClr val="C9D3DF"/>
            </a:solidFill>
            <a:prstDash val="solid"/>
          </a:ln>
        </p:spPr>
      </p:sp>
      <p:sp>
        <p:nvSpPr>
          <p:cNvPr id="100" name="bang88_t6_2"/>
          <p:cNvSpPr txBox="1"/>
          <p:nvPr/>
        </p:nvSpPr>
        <p:spPr>
          <a:xfrm>
            <a:off x="3255264" y="4555998"/>
            <a:ext cx="185623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TIEP_VIEN</a:t>
            </a:r>
            <a:endParaRPr lang="en-US" sz="1300" dirty="0"/>
          </a:p>
        </p:txBody>
      </p:sp>
      <p:sp>
        <p:nvSpPr>
          <p:cNvPr id="101" name="bang88_o6_3"/>
          <p:cNvSpPr/>
          <p:nvPr/>
        </p:nvSpPr>
        <p:spPr>
          <a:xfrm>
            <a:off x="5166360" y="4510278"/>
            <a:ext cx="2148840" cy="512572"/>
          </a:xfrm>
          <a:prstGeom prst="rect">
            <a:avLst/>
          </a:prstGeom>
          <a:solidFill>
            <a:srgbClr val="F7F0E1"/>
          </a:solidFill>
          <a:ln w="9525">
            <a:solidFill>
              <a:srgbClr val="C9D3DF"/>
            </a:solidFill>
            <a:prstDash val="solid"/>
          </a:ln>
        </p:spPr>
      </p:sp>
      <p:sp>
        <p:nvSpPr>
          <p:cNvPr id="102" name="bang88_t6_3"/>
          <p:cNvSpPr txBox="1"/>
          <p:nvPr/>
        </p:nvSpPr>
        <p:spPr>
          <a:xfrm>
            <a:off x="5221224" y="4555998"/>
            <a:ext cx="203911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CHUYEN_BAY</a:t>
            </a:r>
            <a:endParaRPr lang="en-US" sz="1300" dirty="0"/>
          </a:p>
        </p:txBody>
      </p:sp>
      <p:sp>
        <p:nvSpPr>
          <p:cNvPr id="103" name="bang88_o6_4"/>
          <p:cNvSpPr/>
          <p:nvPr/>
        </p:nvSpPr>
        <p:spPr>
          <a:xfrm>
            <a:off x="7315200" y="4510278"/>
            <a:ext cx="960120" cy="512572"/>
          </a:xfrm>
          <a:prstGeom prst="rect">
            <a:avLst/>
          </a:prstGeom>
          <a:solidFill>
            <a:srgbClr val="F7F0E1"/>
          </a:solidFill>
          <a:ln w="9525">
            <a:solidFill>
              <a:srgbClr val="C9D3DF"/>
            </a:solidFill>
            <a:prstDash val="solid"/>
          </a:ln>
        </p:spPr>
      </p:sp>
      <p:sp>
        <p:nvSpPr>
          <p:cNvPr id="104" name="bang88_t6_4"/>
          <p:cNvSpPr txBox="1"/>
          <p:nvPr/>
        </p:nvSpPr>
        <p:spPr>
          <a:xfrm>
            <a:off x="7370064" y="4555998"/>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105" name="bang88_o6_5"/>
          <p:cNvSpPr/>
          <p:nvPr/>
        </p:nvSpPr>
        <p:spPr>
          <a:xfrm>
            <a:off x="8275320" y="4510278"/>
            <a:ext cx="960120" cy="512572"/>
          </a:xfrm>
          <a:prstGeom prst="rect">
            <a:avLst/>
          </a:prstGeom>
          <a:solidFill>
            <a:srgbClr val="F7F0E1"/>
          </a:solidFill>
          <a:ln w="9525">
            <a:solidFill>
              <a:srgbClr val="C9D3DF"/>
            </a:solidFill>
            <a:prstDash val="solid"/>
          </a:ln>
        </p:spPr>
      </p:sp>
      <p:sp>
        <p:nvSpPr>
          <p:cNvPr id="106" name="bang88_t6_5"/>
          <p:cNvSpPr txBox="1"/>
          <p:nvPr/>
        </p:nvSpPr>
        <p:spPr>
          <a:xfrm>
            <a:off x="8330184" y="4555998"/>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2..*</a:t>
            </a:r>
            <a:endParaRPr lang="en-US" sz="1300" dirty="0"/>
          </a:p>
        </p:txBody>
      </p:sp>
      <p:sp>
        <p:nvSpPr>
          <p:cNvPr id="107" name="bang88_o6_6"/>
          <p:cNvSpPr/>
          <p:nvPr/>
        </p:nvSpPr>
        <p:spPr>
          <a:xfrm>
            <a:off x="9235440" y="4510278"/>
            <a:ext cx="1828800" cy="512572"/>
          </a:xfrm>
          <a:prstGeom prst="rect">
            <a:avLst/>
          </a:prstGeom>
          <a:solidFill>
            <a:srgbClr val="F7F0E1"/>
          </a:solidFill>
          <a:ln w="9525">
            <a:solidFill>
              <a:srgbClr val="C9D3DF"/>
            </a:solidFill>
            <a:prstDash val="solid"/>
          </a:ln>
        </p:spPr>
      </p:sp>
      <p:sp>
        <p:nvSpPr>
          <p:cNvPr id="108" name="bang88_t6_6"/>
          <p:cNvSpPr txBox="1"/>
          <p:nvPr/>
        </p:nvSpPr>
        <p:spPr>
          <a:xfrm>
            <a:off x="9290304" y="4555998"/>
            <a:ext cx="17190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PHAN_CONG_PV: VaiTro, KhoangPhucVu</a:t>
            </a:r>
            <a:endParaRPr lang="en-US" sz="1300" dirty="0"/>
          </a:p>
        </p:txBody>
      </p:sp>
      <p:sp>
        <p:nvSpPr>
          <p:cNvPr id="109" name="bang88_o6_7"/>
          <p:cNvSpPr/>
          <p:nvPr/>
        </p:nvSpPr>
        <p:spPr>
          <a:xfrm>
            <a:off x="11064240" y="4510278"/>
            <a:ext cx="667512" cy="512572"/>
          </a:xfrm>
          <a:prstGeom prst="rect">
            <a:avLst/>
          </a:prstGeom>
          <a:solidFill>
            <a:srgbClr val="F7F0E1"/>
          </a:solidFill>
          <a:ln w="9525">
            <a:solidFill>
              <a:srgbClr val="C9D3DF"/>
            </a:solidFill>
            <a:prstDash val="solid"/>
          </a:ln>
        </p:spPr>
      </p:sp>
      <p:sp>
        <p:nvSpPr>
          <p:cNvPr id="110" name="bang88_t6_7"/>
          <p:cNvSpPr txBox="1"/>
          <p:nvPr/>
        </p:nvSpPr>
        <p:spPr>
          <a:xfrm>
            <a:off x="11119104" y="4555998"/>
            <a:ext cx="557784"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QT23</a:t>
            </a:r>
            <a:endParaRPr lang="en-US" sz="1300" dirty="0"/>
          </a:p>
        </p:txBody>
      </p:sp>
      <p:sp>
        <p:nvSpPr>
          <p:cNvPr id="111" name="txt89"/>
          <p:cNvSpPr txBox="1"/>
          <p:nvPr/>
        </p:nvSpPr>
        <p:spPr>
          <a:xfrm>
            <a:off x="457200" y="6035040"/>
            <a:ext cx="9144000" cy="274320"/>
          </a:xfrm>
          <a:prstGeom prst="rect">
            <a:avLst/>
          </a:prstGeom>
          <a:noFill/>
          <a:ln/>
        </p:spPr>
        <p:txBody>
          <a:bodyPr wrap="square" lIns="0" tIns="0" rIns="0" bIns="0" rtlCol="0" anchor="ctr"/>
          <a:lstStyle/>
          <a:p>
            <a:pPr indent="0" marL="0">
              <a:buNone/>
            </a:pPr>
            <a:r>
              <a:rPr lang="en-US" sz="1100" i="1" dirty="0">
                <a:solidFill>
                  <a:srgbClr val="5F6B7A"/>
                </a:solidFill>
                <a:latin typeface="Arial" pitchFamily="34" charset="0"/>
                <a:ea typeface="Arial" pitchFamily="34" charset="-122"/>
                <a:cs typeface="Arial" pitchFamily="34" charset="-120"/>
              </a:rPr>
              <a:t>(*) liên kết nối sang phân hệ khác.  Cột "Mỗi A có bao nhiêu B" ghi ở đầu B trên sơ đồ.</a:t>
            </a:r>
            <a:endParaRPr lang="en-US" sz="11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Lược đồ quan hệ (DBDL) (1/2)</a:t>
            </a:r>
            <a:endParaRPr lang="en-US" sz="2600" dirty="0"/>
          </a:p>
        </p:txBody>
      </p:sp>
      <p:sp>
        <p:nvSpPr>
          <p:cNvPr id="3" name="txt90"/>
          <p:cNvSpPr txBox="1"/>
          <p:nvPr/>
        </p:nvSpPr>
        <p:spPr>
          <a:xfrm>
            <a:off x="457200" y="1435608"/>
            <a:ext cx="11277295" cy="4553712"/>
          </a:xfrm>
          <a:prstGeom prst="rect">
            <a:avLst/>
          </a:prstGeom>
          <a:noFill/>
          <a:ln/>
        </p:spPr>
        <p:txBody>
          <a:bodyPr wrap="square" lIns="0" tIns="0" rIns="0" bIns="0" rtlCol="0" anchor="t"/>
          <a:lstStyle/>
          <a:p>
            <a:pPr indent="0" marL="0">
              <a:buNone/>
            </a:pPr>
            <a:r>
              <a:rPr lang="en-US" sz="1400" b="1" dirty="0">
                <a:solidFill>
                  <a:srgbClr val="163F73"/>
                </a:solidFill>
                <a:latin typeface="Arial" pitchFamily="34" charset="0"/>
                <a:ea typeface="Arial" pitchFamily="34" charset="-122"/>
                <a:cs typeface="Arial" pitchFamily="34" charset="-120"/>
              </a:rPr>
              <a:t>PHONG_BAN</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MaPB</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TenPB</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DiaDiem</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SoDienThoai</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MaTruongPhong</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[TH1 + TH4(b)]</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MaPB</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Alternate Key TenPB</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Alternate Key MaTruongPhong</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MaTruongPhong references NHAN_VIEN(MaNV)  NOT NULL, UNIQUE</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NHAN_VIEN</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MaNV</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SoCCCD</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Ho</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TenDem</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Ten</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NgaySinh</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GioiTinh</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NgayVaoLam</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LuongCoBan</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MaPB</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MaNguoiQuanLy</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[TH1 + TH3 + đệ quy 1:* + TH6]</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MaNV</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Alternate Key SoCCCD</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MaPB          references PHONG_BAN(MaPB)  NOT NULL</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MaNguoiQuanLy references NHAN_VIEN(MaNV)  NULL</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SDT_NHAN_VIEN</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u="sng" dirty="0">
                <a:solidFill>
                  <a:srgbClr val="1F2933"/>
                </a:solidFill>
                <a:latin typeface="Arial" pitchFamily="34" charset="0"/>
                <a:ea typeface="Arial" pitchFamily="34" charset="-122"/>
                <a:cs typeface="Arial" pitchFamily="34" charset="-120"/>
              </a:rPr>
              <a:t>MaNV</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SoDienThoai</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[TH9]</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(MaNV, SoDienThoai)</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MaNV references NHAN_VIEN(MaNV)  NOT NULL</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PHI_CONG</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u="sng" dirty="0">
                <a:solidFill>
                  <a:srgbClr val="1F2933"/>
                </a:solidFill>
                <a:latin typeface="Arial" pitchFamily="34" charset="0"/>
                <a:ea typeface="Arial" pitchFamily="34" charset="-122"/>
                <a:cs typeface="Arial" pitchFamily="34" charset="-120"/>
              </a:rPr>
              <a:t>MaNV</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SoGioBay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CapBac</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[TH6]</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MaNV</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MaNV references NHAN_VIEN(MaNV)  NOT NULL</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TIEP_VIEN</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u="sng" dirty="0">
                <a:solidFill>
                  <a:srgbClr val="1F2933"/>
                </a:solidFill>
                <a:latin typeface="Arial" pitchFamily="34" charset="0"/>
                <a:ea typeface="Arial" pitchFamily="34" charset="-122"/>
                <a:cs typeface="Arial" pitchFamily="34" charset="-120"/>
              </a:rPr>
              <a:t>MaNV</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ChucDanh</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[TH6]</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MaNV</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MaNV references NHAN_VIEN(MaNV)  NOT NULL</a:t>
            </a:r>
            <a:endParaRPr lang="en-US" sz="1400" dirty="0"/>
          </a:p>
        </p:txBody>
      </p:sp>
      <p:sp>
        <p:nvSpPr>
          <p:cNvPr id="4" name="txt91"/>
          <p:cNvSpPr txBox="1"/>
          <p:nvPr/>
        </p:nvSpPr>
        <p:spPr>
          <a:xfrm>
            <a:off x="457200" y="6035040"/>
            <a:ext cx="11277295" cy="274320"/>
          </a:xfrm>
          <a:prstGeom prst="rect">
            <a:avLst/>
          </a:prstGeom>
          <a:noFill/>
          <a:ln/>
        </p:spPr>
        <p:txBody>
          <a:bodyPr wrap="square" lIns="0" tIns="0" rIns="0" bIns="0" rtlCol="0" anchor="ctr"/>
          <a:lstStyle/>
          <a:p>
            <a:pPr indent="0" marL="0">
              <a:buNone/>
            </a:pPr>
            <a:r>
              <a:rPr lang="en-US" sz="1100" i="1" dirty="0">
                <a:solidFill>
                  <a:srgbClr val="5F6B7A"/>
                </a:solidFill>
                <a:latin typeface="Arial" pitchFamily="34" charset="0"/>
                <a:ea typeface="Arial" pitchFamily="34" charset="-122"/>
                <a:cs typeface="Arial" pitchFamily="34" charset="-120"/>
              </a:rPr>
              <a:t>Khóa chính gạch chân, khóa ngoại in nghiêng. NOT NULL / NULL theo bội số ở đầu bảng cha (1..1 bắt buộc, 0..1 được trống).</a:t>
            </a:r>
            <a:endParaRPr lang="en-US" sz="11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Lược đồ quan hệ (DBDL) (2/2)</a:t>
            </a:r>
            <a:endParaRPr lang="en-US" sz="2600" dirty="0"/>
          </a:p>
        </p:txBody>
      </p:sp>
      <p:sp>
        <p:nvSpPr>
          <p:cNvPr id="3" name="txt92"/>
          <p:cNvSpPr txBox="1"/>
          <p:nvPr/>
        </p:nvSpPr>
        <p:spPr>
          <a:xfrm>
            <a:off x="457200" y="1435608"/>
            <a:ext cx="11277295" cy="4553712"/>
          </a:xfrm>
          <a:prstGeom prst="rect">
            <a:avLst/>
          </a:prstGeom>
          <a:noFill/>
          <a:ln/>
        </p:spPr>
        <p:txBody>
          <a:bodyPr wrap="square" lIns="0" tIns="0" rIns="0" bIns="0" rtlCol="0" anchor="t"/>
          <a:lstStyle/>
          <a:p>
            <a:pPr indent="0" marL="0">
              <a:buNone/>
            </a:pPr>
            <a:r>
              <a:rPr lang="en-US" sz="1400" b="1" dirty="0">
                <a:solidFill>
                  <a:srgbClr val="163F73"/>
                </a:solidFill>
                <a:latin typeface="Arial" pitchFamily="34" charset="0"/>
                <a:ea typeface="Arial" pitchFamily="34" charset="-122"/>
                <a:cs typeface="Arial" pitchFamily="34" charset="-120"/>
              </a:rPr>
              <a:t>NGOAI_NGU_TV</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u="sng" dirty="0">
                <a:solidFill>
                  <a:srgbClr val="1F2933"/>
                </a:solidFill>
                <a:latin typeface="Arial" pitchFamily="34" charset="0"/>
                <a:ea typeface="Arial" pitchFamily="34" charset="-122"/>
                <a:cs typeface="Arial" pitchFamily="34" charset="-120"/>
              </a:rPr>
              <a:t>MaNV</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NgoaiNgu</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[TH9]</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(MaNV, NgoaiNgu)</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MaNV references TIEP_VIEN(MaNV)  NOT NULL</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GIAY_PHEP_BAY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u="sng" dirty="0">
                <a:solidFill>
                  <a:srgbClr val="1F2933"/>
                </a:solidFill>
                <a:latin typeface="Arial" pitchFamily="34" charset="0"/>
                <a:ea typeface="Arial" pitchFamily="34" charset="-122"/>
                <a:cs typeface="Arial" pitchFamily="34" charset="-120"/>
              </a:rPr>
              <a:t>MaNV</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SoGiayPhep</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LoaiMayBay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NgayCap</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NgayHetHan</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[TH2]</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(MaNV, SoGiayPhep)</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MaNV references PHI_CONG(MaNV)  NOT NULL</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PHAN_CONG_LAI</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u="sng" dirty="0">
                <a:solidFill>
                  <a:srgbClr val="1F2933"/>
                </a:solidFill>
                <a:latin typeface="Arial" pitchFamily="34" charset="0"/>
                <a:ea typeface="Arial" pitchFamily="34" charset="-122"/>
                <a:cs typeface="Arial" pitchFamily="34" charset="-120"/>
              </a:rPr>
              <a:t>MaNV</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u="sng" dirty="0">
                <a:solidFill>
                  <a:srgbClr val="1F2933"/>
                </a:solidFill>
                <a:latin typeface="Arial" pitchFamily="34" charset="0"/>
                <a:ea typeface="Arial" pitchFamily="34" charset="-122"/>
                <a:cs typeface="Arial" pitchFamily="34" charset="-120"/>
              </a:rPr>
              <a:t>MaChuyenBay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VaiTro</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GioBayThucTe</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[TH7]</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(MaNV, MaChuyenBay)</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MaNV        references PHI_CONG(MaNV)  NOT NULL</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MaChuyenBay references CHUYEN_BAY(MaChuyenBay)  NOT NULL</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PHAN_CONG_PV</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u="sng" dirty="0">
                <a:solidFill>
                  <a:srgbClr val="1F2933"/>
                </a:solidFill>
                <a:latin typeface="Arial" pitchFamily="34" charset="0"/>
                <a:ea typeface="Arial" pitchFamily="34" charset="-122"/>
                <a:cs typeface="Arial" pitchFamily="34" charset="-120"/>
              </a:rPr>
              <a:t>MaNV</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u="sng" dirty="0">
                <a:solidFill>
                  <a:srgbClr val="1F2933"/>
                </a:solidFill>
                <a:latin typeface="Arial" pitchFamily="34" charset="0"/>
                <a:ea typeface="Arial" pitchFamily="34" charset="-122"/>
                <a:cs typeface="Arial" pitchFamily="34" charset="-120"/>
              </a:rPr>
              <a:t>MaChuyenBay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VaiTro</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KhoangPhucVu</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[TH7]</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(MaNV, MaChuyenBay)</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MaNV        references TIEP_VIEN(MaNV)  NOT NULL</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MaChuyenBay references CHUYEN_BAY(MaChuyenBay)  NOT NULL</a:t>
            </a:r>
            <a:endParaRPr lang="en-US" sz="1400" dirty="0"/>
          </a:p>
        </p:txBody>
      </p:sp>
      <p:sp>
        <p:nvSpPr>
          <p:cNvPr id="4" name="txt93"/>
          <p:cNvSpPr txBox="1"/>
          <p:nvPr/>
        </p:nvSpPr>
        <p:spPr>
          <a:xfrm>
            <a:off x="457200" y="6035040"/>
            <a:ext cx="11277295" cy="274320"/>
          </a:xfrm>
          <a:prstGeom prst="rect">
            <a:avLst/>
          </a:prstGeom>
          <a:noFill/>
          <a:ln/>
        </p:spPr>
        <p:txBody>
          <a:bodyPr wrap="square" lIns="0" tIns="0" rIns="0" bIns="0" rtlCol="0" anchor="ctr"/>
          <a:lstStyle/>
          <a:p>
            <a:pPr indent="0" marL="0">
              <a:buNone/>
            </a:pPr>
            <a:r>
              <a:rPr lang="en-US" sz="1100" i="1" dirty="0">
                <a:solidFill>
                  <a:srgbClr val="5F6B7A"/>
                </a:solidFill>
                <a:latin typeface="Arial" pitchFamily="34" charset="0"/>
                <a:ea typeface="Arial" pitchFamily="34" charset="-122"/>
                <a:cs typeface="Arial" pitchFamily="34" charset="-120"/>
              </a:rPr>
              <a:t>Khóa chính gạch chân, khóa ngoại in nghiêng. NOT NULL / NULL theo bội số ở đầu bảng cha (1..1 bắt buộc, 0..1 được trống).</a:t>
            </a:r>
            <a:endParaRPr lang="en-US" sz="11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Phân hệ E. Hành lý và dịch vụ bổ sung</a:t>
            </a:r>
            <a:endParaRPr lang="en-US" sz="2600" dirty="0"/>
          </a:p>
        </p:txBody>
      </p:sp>
      <p:sp>
        <p:nvSpPr>
          <p:cNvPr id="3" name="mo_ta_nen"/>
          <p:cNvSpPr/>
          <p:nvPr/>
        </p:nvSpPr>
        <p:spPr>
          <a:xfrm>
            <a:off x="457200" y="1481328"/>
            <a:ext cx="3566160" cy="4873752"/>
          </a:xfrm>
          <a:prstGeom prst="rect">
            <a:avLst/>
          </a:prstGeom>
          <a:solidFill>
            <a:srgbClr val="F7F0E1"/>
          </a:solidFill>
          <a:ln w="12700">
            <a:solidFill>
              <a:srgbClr val="E6D3AA"/>
            </a:solidFill>
            <a:prstDash val="solid"/>
          </a:ln>
        </p:spPr>
      </p:sp>
      <p:sp>
        <p:nvSpPr>
          <p:cNvPr id="4" name="txt94"/>
          <p:cNvSpPr txBox="1"/>
          <p:nvPr/>
        </p:nvSpPr>
        <p:spPr>
          <a:xfrm>
            <a:off x="685800" y="1664208"/>
            <a:ext cx="3108960" cy="320040"/>
          </a:xfrm>
          <a:prstGeom prst="rect">
            <a:avLst/>
          </a:prstGeom>
          <a:noFill/>
          <a:ln/>
        </p:spPr>
        <p:txBody>
          <a:bodyPr wrap="square" lIns="0" tIns="0" rIns="0" bIns="0" rtlCol="0" anchor="ctr"/>
          <a:lstStyle/>
          <a:p>
            <a:pPr indent="0" marL="0">
              <a:buNone/>
            </a:pPr>
            <a:r>
              <a:rPr lang="en-US" sz="1400" b="1" dirty="0">
                <a:solidFill>
                  <a:srgbClr val="8A6A2F"/>
                </a:solidFill>
                <a:latin typeface="Arial" pitchFamily="34" charset="0"/>
                <a:ea typeface="Arial" pitchFamily="34" charset="-122"/>
                <a:cs typeface="Arial" pitchFamily="34" charset="-120"/>
              </a:rPr>
              <a:t>Mô tả</a:t>
            </a:r>
            <a:endParaRPr lang="en-US" sz="1400" dirty="0"/>
          </a:p>
        </p:txBody>
      </p:sp>
      <p:sp>
        <p:nvSpPr>
          <p:cNvPr id="5" name="txt95"/>
          <p:cNvSpPr txBox="1"/>
          <p:nvPr/>
        </p:nvSpPr>
        <p:spPr>
          <a:xfrm>
            <a:off x="685800" y="2029968"/>
            <a:ext cx="3108960" cy="274320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Quản lý hành lý ký gửi của từng vé (số thẻ, trọng lượng, kích thước, phí quá cước) và danh mục dịch vụ bổ sung như suất ăn, chọn chỗ trước, hành lý trả trước. Mỗi lần khách mua dịch vụ cho một vé tạo một chi tiết dịch vụ.</a:t>
            </a:r>
            <a:endParaRPr lang="en-US" sz="1300" dirty="0"/>
          </a:p>
        </p:txBody>
      </p:sp>
      <p:sp>
        <p:nvSpPr>
          <p:cNvPr id="6" name="txt96"/>
          <p:cNvSpPr txBox="1"/>
          <p:nvPr/>
        </p:nvSpPr>
        <p:spPr>
          <a:xfrm>
            <a:off x="685800" y="4910328"/>
            <a:ext cx="3108960" cy="320040"/>
          </a:xfrm>
          <a:prstGeom prst="rect">
            <a:avLst/>
          </a:prstGeom>
          <a:noFill/>
          <a:ln/>
        </p:spPr>
        <p:txBody>
          <a:bodyPr wrap="square" lIns="0" tIns="0" rIns="0" bIns="0" rtlCol="0" anchor="ctr"/>
          <a:lstStyle/>
          <a:p>
            <a:pPr indent="0" marL="0">
              <a:buNone/>
            </a:pPr>
            <a:r>
              <a:rPr lang="en-US" sz="1400" b="1" dirty="0">
                <a:solidFill>
                  <a:srgbClr val="8A6A2F"/>
                </a:solidFill>
                <a:latin typeface="Arial" pitchFamily="34" charset="0"/>
                <a:ea typeface="Arial" pitchFamily="34" charset="-122"/>
                <a:cs typeface="Arial" pitchFamily="34" charset="-120"/>
              </a:rPr>
              <a:t>Thực thể</a:t>
            </a:r>
            <a:endParaRPr lang="en-US" sz="1400" dirty="0"/>
          </a:p>
        </p:txBody>
      </p:sp>
      <p:sp>
        <p:nvSpPr>
          <p:cNvPr id="7" name="txt97"/>
          <p:cNvSpPr txBox="1"/>
          <p:nvPr/>
        </p:nvSpPr>
        <p:spPr>
          <a:xfrm>
            <a:off x="685800" y="5248656"/>
            <a:ext cx="3108960" cy="1371600"/>
          </a:xfrm>
          <a:prstGeom prst="rect">
            <a:avLst/>
          </a:prstGeom>
          <a:noFill/>
          <a:ln/>
        </p:spPr>
        <p:txBody>
          <a:bodyPr wrap="square" lIns="0" tIns="0" rIns="0" bIns="0" rtlCol="0" anchor="t"/>
          <a:lstStyle/>
          <a:p>
            <a:pPr indent="0" marL="0">
              <a:buNone/>
            </a:pPr>
            <a:r>
              <a:rPr lang="en-US" sz="1200" b="1" dirty="0">
                <a:solidFill>
                  <a:srgbClr val="163F73"/>
                </a:solidFill>
                <a:latin typeface="Arial" pitchFamily="34" charset="0"/>
                <a:ea typeface="Arial" pitchFamily="34" charset="-122"/>
                <a:cs typeface="Arial" pitchFamily="34" charset="-120"/>
              </a:rPr>
              <a:t>HANH_LY</a:t>
            </a:r>
            <a:endParaRPr lang="en-US" sz="1200" dirty="0"/>
          </a:p>
          <a:p>
            <a:pPr indent="0" marL="0">
              <a:buNone/>
            </a:pPr>
            <a:r>
              <a:rPr lang="en-US" sz="1200" b="1" dirty="0">
                <a:solidFill>
                  <a:srgbClr val="163F73"/>
                </a:solidFill>
                <a:latin typeface="Arial" pitchFamily="34" charset="0"/>
                <a:ea typeface="Arial" pitchFamily="34" charset="-122"/>
                <a:cs typeface="Arial" pitchFamily="34" charset="-120"/>
              </a:rPr>
              <a:t>DICH_VU_BO_SUNG</a:t>
            </a:r>
            <a:endParaRPr lang="en-US" sz="1200" dirty="0"/>
          </a:p>
          <a:p>
            <a:pPr indent="0" marL="0">
              <a:buNone/>
            </a:pPr>
            <a:r>
              <a:rPr lang="en-US" sz="1200" b="1" dirty="0">
                <a:solidFill>
                  <a:srgbClr val="163F73"/>
                </a:solidFill>
                <a:latin typeface="Arial" pitchFamily="34" charset="0"/>
                <a:ea typeface="Arial" pitchFamily="34" charset="-122"/>
                <a:cs typeface="Arial" pitchFamily="34" charset="-120"/>
              </a:rPr>
              <a:t>CHI_TIET_DICH_VU</a:t>
            </a:r>
            <a:endParaRPr lang="en-US" sz="1200" dirty="0"/>
          </a:p>
        </p:txBody>
      </p:sp>
      <p:sp>
        <p:nvSpPr>
          <p:cNvPr id="8" name="bang98_o0_0"/>
          <p:cNvSpPr/>
          <p:nvPr/>
        </p:nvSpPr>
        <p:spPr>
          <a:xfrm>
            <a:off x="4251960" y="1481328"/>
            <a:ext cx="685800" cy="295656"/>
          </a:xfrm>
          <a:prstGeom prst="rect">
            <a:avLst/>
          </a:prstGeom>
          <a:solidFill>
            <a:srgbClr val="E6D3AA"/>
          </a:solidFill>
          <a:ln w="9525">
            <a:solidFill>
              <a:srgbClr val="C9D3DF"/>
            </a:solidFill>
            <a:prstDash val="solid"/>
          </a:ln>
        </p:spPr>
      </p:sp>
      <p:sp>
        <p:nvSpPr>
          <p:cNvPr id="9" name="bang98_t0_0"/>
          <p:cNvSpPr txBox="1"/>
          <p:nvPr/>
        </p:nvSpPr>
        <p:spPr>
          <a:xfrm>
            <a:off x="4306824" y="1527048"/>
            <a:ext cx="576072" cy="204216"/>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Mã</a:t>
            </a:r>
            <a:endParaRPr lang="en-US" sz="1200" dirty="0"/>
          </a:p>
        </p:txBody>
      </p:sp>
      <p:sp>
        <p:nvSpPr>
          <p:cNvPr id="10" name="bang98_o0_1"/>
          <p:cNvSpPr/>
          <p:nvPr/>
        </p:nvSpPr>
        <p:spPr>
          <a:xfrm>
            <a:off x="4937760" y="1481328"/>
            <a:ext cx="6796735" cy="295656"/>
          </a:xfrm>
          <a:prstGeom prst="rect">
            <a:avLst/>
          </a:prstGeom>
          <a:solidFill>
            <a:srgbClr val="E6D3AA"/>
          </a:solidFill>
          <a:ln w="9525">
            <a:solidFill>
              <a:srgbClr val="C9D3DF"/>
            </a:solidFill>
            <a:prstDash val="solid"/>
          </a:ln>
        </p:spPr>
      </p:sp>
      <p:sp>
        <p:nvSpPr>
          <p:cNvPr id="11" name="bang98_t0_1"/>
          <p:cNvSpPr txBox="1"/>
          <p:nvPr/>
        </p:nvSpPr>
        <p:spPr>
          <a:xfrm>
            <a:off x="4992624" y="1527048"/>
            <a:ext cx="6687007" cy="204216"/>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Quy tắc nghiệp vụ</a:t>
            </a:r>
            <a:endParaRPr lang="en-US" sz="1200" dirty="0"/>
          </a:p>
        </p:txBody>
      </p:sp>
      <p:sp>
        <p:nvSpPr>
          <p:cNvPr id="12" name="bang98_o1_0"/>
          <p:cNvSpPr/>
          <p:nvPr/>
        </p:nvSpPr>
        <p:spPr>
          <a:xfrm>
            <a:off x="4251960" y="1776984"/>
            <a:ext cx="685800" cy="528066"/>
          </a:xfrm>
          <a:prstGeom prst="rect">
            <a:avLst/>
          </a:prstGeom>
          <a:solidFill>
            <a:srgbClr val="FFFFFF"/>
          </a:solidFill>
          <a:ln w="9525">
            <a:solidFill>
              <a:srgbClr val="C9D3DF"/>
            </a:solidFill>
            <a:prstDash val="solid"/>
          </a:ln>
        </p:spPr>
      </p:sp>
      <p:sp>
        <p:nvSpPr>
          <p:cNvPr id="13" name="bang98_t1_0"/>
          <p:cNvSpPr txBox="1"/>
          <p:nvPr/>
        </p:nvSpPr>
        <p:spPr>
          <a:xfrm>
            <a:off x="4306824" y="1822704"/>
            <a:ext cx="576072"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QT24</a:t>
            </a:r>
            <a:endParaRPr lang="en-US" sz="1350" dirty="0"/>
          </a:p>
        </p:txBody>
      </p:sp>
      <p:sp>
        <p:nvSpPr>
          <p:cNvPr id="14" name="bang98_o1_1"/>
          <p:cNvSpPr/>
          <p:nvPr/>
        </p:nvSpPr>
        <p:spPr>
          <a:xfrm>
            <a:off x="4937760" y="1776984"/>
            <a:ext cx="6796735" cy="528066"/>
          </a:xfrm>
          <a:prstGeom prst="rect">
            <a:avLst/>
          </a:prstGeom>
          <a:solidFill>
            <a:srgbClr val="FFFFFF"/>
          </a:solidFill>
          <a:ln w="9525">
            <a:solidFill>
              <a:srgbClr val="C9D3DF"/>
            </a:solidFill>
            <a:prstDash val="solid"/>
          </a:ln>
        </p:spPr>
      </p:sp>
      <p:sp>
        <p:nvSpPr>
          <p:cNvPr id="15" name="bang98_t1_1"/>
          <p:cNvSpPr txBox="1"/>
          <p:nvPr/>
        </p:nvSpPr>
        <p:spPr>
          <a:xfrm>
            <a:off x="4992624" y="1822704"/>
            <a:ext cx="6687007"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vé có 0 hoặc nhiều kiện hành lý ký gửi; mỗi kiện thuộc đúng 1 vé và có số thẻ hành lý không trùng.</a:t>
            </a:r>
            <a:endParaRPr lang="en-US" sz="1350" dirty="0"/>
          </a:p>
        </p:txBody>
      </p:sp>
      <p:sp>
        <p:nvSpPr>
          <p:cNvPr id="16" name="bang98_o2_0"/>
          <p:cNvSpPr/>
          <p:nvPr/>
        </p:nvSpPr>
        <p:spPr>
          <a:xfrm>
            <a:off x="4251960" y="2305050"/>
            <a:ext cx="685800" cy="528066"/>
          </a:xfrm>
          <a:prstGeom prst="rect">
            <a:avLst/>
          </a:prstGeom>
          <a:solidFill>
            <a:srgbClr val="F7F0E1"/>
          </a:solidFill>
          <a:ln w="9525">
            <a:solidFill>
              <a:srgbClr val="C9D3DF"/>
            </a:solidFill>
            <a:prstDash val="solid"/>
          </a:ln>
        </p:spPr>
      </p:sp>
      <p:sp>
        <p:nvSpPr>
          <p:cNvPr id="17" name="bang98_t2_0"/>
          <p:cNvSpPr txBox="1"/>
          <p:nvPr/>
        </p:nvSpPr>
        <p:spPr>
          <a:xfrm>
            <a:off x="4306824" y="2350770"/>
            <a:ext cx="576072"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QT25</a:t>
            </a:r>
            <a:endParaRPr lang="en-US" sz="1350" dirty="0"/>
          </a:p>
        </p:txBody>
      </p:sp>
      <p:sp>
        <p:nvSpPr>
          <p:cNvPr id="18" name="bang98_o2_1"/>
          <p:cNvSpPr/>
          <p:nvPr/>
        </p:nvSpPr>
        <p:spPr>
          <a:xfrm>
            <a:off x="4937760" y="2305050"/>
            <a:ext cx="6796735" cy="528066"/>
          </a:xfrm>
          <a:prstGeom prst="rect">
            <a:avLst/>
          </a:prstGeom>
          <a:solidFill>
            <a:srgbClr val="F7F0E1"/>
          </a:solidFill>
          <a:ln w="9525">
            <a:solidFill>
              <a:srgbClr val="C9D3DF"/>
            </a:solidFill>
            <a:prstDash val="solid"/>
          </a:ln>
        </p:spPr>
      </p:sp>
      <p:sp>
        <p:nvSpPr>
          <p:cNvPr id="19" name="bang98_t2_1"/>
          <p:cNvSpPr txBox="1"/>
          <p:nvPr/>
        </p:nvSpPr>
        <p:spPr>
          <a:xfrm>
            <a:off x="4992624" y="2350770"/>
            <a:ext cx="6687007"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Kiện hành lý vượt tiêu chuẩn của hạng vé phải trả phí quá cước; kiện trong tiêu chuẩn thì phí quá cước để trống.</a:t>
            </a:r>
            <a:endParaRPr lang="en-US" sz="1350" dirty="0"/>
          </a:p>
        </p:txBody>
      </p:sp>
      <p:sp>
        <p:nvSpPr>
          <p:cNvPr id="20" name="bang98_o3_0"/>
          <p:cNvSpPr/>
          <p:nvPr/>
        </p:nvSpPr>
        <p:spPr>
          <a:xfrm>
            <a:off x="4251960" y="2833116"/>
            <a:ext cx="685800" cy="528066"/>
          </a:xfrm>
          <a:prstGeom prst="rect">
            <a:avLst/>
          </a:prstGeom>
          <a:solidFill>
            <a:srgbClr val="FFFFFF"/>
          </a:solidFill>
          <a:ln w="9525">
            <a:solidFill>
              <a:srgbClr val="C9D3DF"/>
            </a:solidFill>
            <a:prstDash val="solid"/>
          </a:ln>
        </p:spPr>
      </p:sp>
      <p:sp>
        <p:nvSpPr>
          <p:cNvPr id="21" name="bang98_t3_0"/>
          <p:cNvSpPr txBox="1"/>
          <p:nvPr/>
        </p:nvSpPr>
        <p:spPr>
          <a:xfrm>
            <a:off x="4306824" y="2878836"/>
            <a:ext cx="576072"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QT26</a:t>
            </a:r>
            <a:endParaRPr lang="en-US" sz="1350" dirty="0"/>
          </a:p>
        </p:txBody>
      </p:sp>
      <p:sp>
        <p:nvSpPr>
          <p:cNvPr id="22" name="bang98_o3_1"/>
          <p:cNvSpPr/>
          <p:nvPr/>
        </p:nvSpPr>
        <p:spPr>
          <a:xfrm>
            <a:off x="4937760" y="2833116"/>
            <a:ext cx="6796735" cy="528066"/>
          </a:xfrm>
          <a:prstGeom prst="rect">
            <a:avLst/>
          </a:prstGeom>
          <a:solidFill>
            <a:srgbClr val="FFFFFF"/>
          </a:solidFill>
          <a:ln w="9525">
            <a:solidFill>
              <a:srgbClr val="C9D3DF"/>
            </a:solidFill>
            <a:prstDash val="solid"/>
          </a:ln>
        </p:spPr>
      </p:sp>
      <p:sp>
        <p:nvSpPr>
          <p:cNvPr id="23" name="bang98_t3_1"/>
          <p:cNvSpPr txBox="1"/>
          <p:nvPr/>
        </p:nvSpPr>
        <p:spPr>
          <a:xfrm>
            <a:off x="4992624" y="2878836"/>
            <a:ext cx="6687007"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vé đăng ký 0 hoặc nhiều chi tiết dịch vụ (suất ăn, chọn chỗ trước, hành lý trả trước...); mỗi chi tiết thuộc đúng 1 vé.</a:t>
            </a:r>
            <a:endParaRPr lang="en-US" sz="1350" dirty="0"/>
          </a:p>
        </p:txBody>
      </p:sp>
      <p:sp>
        <p:nvSpPr>
          <p:cNvPr id="24" name="bang98_o4_0"/>
          <p:cNvSpPr/>
          <p:nvPr/>
        </p:nvSpPr>
        <p:spPr>
          <a:xfrm>
            <a:off x="4251960" y="3361182"/>
            <a:ext cx="685800" cy="737235"/>
          </a:xfrm>
          <a:prstGeom prst="rect">
            <a:avLst/>
          </a:prstGeom>
          <a:solidFill>
            <a:srgbClr val="F7F0E1"/>
          </a:solidFill>
          <a:ln w="9525">
            <a:solidFill>
              <a:srgbClr val="C9D3DF"/>
            </a:solidFill>
            <a:prstDash val="solid"/>
          </a:ln>
        </p:spPr>
      </p:sp>
      <p:sp>
        <p:nvSpPr>
          <p:cNvPr id="25" name="bang98_t4_0"/>
          <p:cNvSpPr txBox="1"/>
          <p:nvPr/>
        </p:nvSpPr>
        <p:spPr>
          <a:xfrm>
            <a:off x="4306824" y="3406902"/>
            <a:ext cx="576072" cy="645795"/>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QT27</a:t>
            </a:r>
            <a:endParaRPr lang="en-US" sz="1350" dirty="0"/>
          </a:p>
        </p:txBody>
      </p:sp>
      <p:sp>
        <p:nvSpPr>
          <p:cNvPr id="26" name="bang98_o4_1"/>
          <p:cNvSpPr/>
          <p:nvPr/>
        </p:nvSpPr>
        <p:spPr>
          <a:xfrm>
            <a:off x="4937760" y="3361182"/>
            <a:ext cx="6796735" cy="737235"/>
          </a:xfrm>
          <a:prstGeom prst="rect">
            <a:avLst/>
          </a:prstGeom>
          <a:solidFill>
            <a:srgbClr val="F7F0E1"/>
          </a:solidFill>
          <a:ln w="9525">
            <a:solidFill>
              <a:srgbClr val="C9D3DF"/>
            </a:solidFill>
            <a:prstDash val="solid"/>
          </a:ln>
        </p:spPr>
      </p:sp>
      <p:sp>
        <p:nvSpPr>
          <p:cNvPr id="27" name="bang98_t4_1"/>
          <p:cNvSpPr txBox="1"/>
          <p:nvPr/>
        </p:nvSpPr>
        <p:spPr>
          <a:xfrm>
            <a:off x="4992624" y="3406902"/>
            <a:ext cx="6687007" cy="645795"/>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chi tiết dịch vụ ứng với đúng 1 dịch vụ bổ sung; mỗi dịch vụ có 0 hoặc nhiều chi tiết. Đơn giá áp dụng lưu tại lúc mua; thành tiền bằng số lượng nhân đơn giá áp dụng.</a:t>
            </a:r>
            <a:endParaRPr lang="en-US" sz="1350" dirty="0"/>
          </a:p>
        </p:txBody>
      </p:sp>
      <p:sp>
        <p:nvSpPr>
          <p:cNvPr id="28" name="bang98_o5_0"/>
          <p:cNvSpPr/>
          <p:nvPr/>
        </p:nvSpPr>
        <p:spPr>
          <a:xfrm>
            <a:off x="4251960" y="4098417"/>
            <a:ext cx="685800" cy="528066"/>
          </a:xfrm>
          <a:prstGeom prst="rect">
            <a:avLst/>
          </a:prstGeom>
          <a:solidFill>
            <a:srgbClr val="FFFFFF"/>
          </a:solidFill>
          <a:ln w="9525">
            <a:solidFill>
              <a:srgbClr val="C9D3DF"/>
            </a:solidFill>
            <a:prstDash val="solid"/>
          </a:ln>
        </p:spPr>
      </p:sp>
      <p:sp>
        <p:nvSpPr>
          <p:cNvPr id="29" name="bang98_t5_0"/>
          <p:cNvSpPr txBox="1"/>
          <p:nvPr/>
        </p:nvSpPr>
        <p:spPr>
          <a:xfrm>
            <a:off x="4306824" y="4144137"/>
            <a:ext cx="576072"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QT28</a:t>
            </a:r>
            <a:endParaRPr lang="en-US" sz="1350" dirty="0"/>
          </a:p>
        </p:txBody>
      </p:sp>
      <p:sp>
        <p:nvSpPr>
          <p:cNvPr id="30" name="bang98_o5_1"/>
          <p:cNvSpPr/>
          <p:nvPr/>
        </p:nvSpPr>
        <p:spPr>
          <a:xfrm>
            <a:off x="4937760" y="4098417"/>
            <a:ext cx="6796735" cy="528066"/>
          </a:xfrm>
          <a:prstGeom prst="rect">
            <a:avLst/>
          </a:prstGeom>
          <a:solidFill>
            <a:srgbClr val="FFFFFF"/>
          </a:solidFill>
          <a:ln w="9525">
            <a:solidFill>
              <a:srgbClr val="C9D3DF"/>
            </a:solidFill>
            <a:prstDash val="solid"/>
          </a:ln>
        </p:spPr>
      </p:sp>
      <p:sp>
        <p:nvSpPr>
          <p:cNvPr id="31" name="bang98_t5_1"/>
          <p:cNvSpPr txBox="1"/>
          <p:nvPr/>
        </p:nvSpPr>
        <p:spPr>
          <a:xfrm>
            <a:off x="4992624" y="4144137"/>
            <a:ext cx="6687007"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chi tiết dịch vụ được tính vào 0 hoặc 1 hóa đơn (chưa thanh toán thì chưa có); mỗi hóa đơn có 0 hoặc nhiều chi tiết dịch vụ.</a:t>
            </a:r>
            <a:endParaRPr lang="en-US" sz="135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ERD phân hệ E</a:t>
            </a:r>
            <a:endParaRPr lang="en-US" sz="2600" dirty="0"/>
          </a:p>
        </p:txBody>
      </p:sp>
      <p:pic>
        <p:nvPicPr>
          <p:cNvPr id="3" name="erd_E" descr="erd_E">    </p:cNvPr>
          <p:cNvPicPr>
            <a:picLocks noChangeAspect="1"/>
          </p:cNvPicPr>
          <p:nvPr/>
        </p:nvPicPr>
        <p:blipFill>
          <a:blip r:embed="rId1"/>
          <a:stretch>
            <a:fillRect/>
          </a:stretch>
        </p:blipFill>
        <p:spPr>
          <a:xfrm>
            <a:off x="2151313" y="1389888"/>
            <a:ext cx="7889069" cy="4919472"/>
          </a:xfrm>
          <a:prstGeom prst="rect">
            <a:avLst/>
          </a:prstGeom>
        </p:spPr>
      </p:pic>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Bảng liên kết và multiplicity</a:t>
            </a:r>
            <a:endParaRPr lang="en-US" sz="2600" dirty="0"/>
          </a:p>
        </p:txBody>
      </p:sp>
      <p:sp>
        <p:nvSpPr>
          <p:cNvPr id="3" name="bang99_o0_0"/>
          <p:cNvSpPr/>
          <p:nvPr/>
        </p:nvSpPr>
        <p:spPr>
          <a:xfrm>
            <a:off x="457200" y="1481328"/>
            <a:ext cx="914400" cy="667512"/>
          </a:xfrm>
          <a:prstGeom prst="rect">
            <a:avLst/>
          </a:prstGeom>
          <a:solidFill>
            <a:srgbClr val="E6D3AA"/>
          </a:solidFill>
          <a:ln w="9525">
            <a:solidFill>
              <a:srgbClr val="C9D3DF"/>
            </a:solidFill>
            <a:prstDash val="solid"/>
          </a:ln>
        </p:spPr>
      </p:sp>
      <p:sp>
        <p:nvSpPr>
          <p:cNvPr id="4" name="bang99_t0_0"/>
          <p:cNvSpPr txBox="1"/>
          <p:nvPr/>
        </p:nvSpPr>
        <p:spPr>
          <a:xfrm>
            <a:off x="512064" y="1527048"/>
            <a:ext cx="80467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Mã</a:t>
            </a:r>
            <a:endParaRPr lang="en-US" sz="1200" dirty="0"/>
          </a:p>
        </p:txBody>
      </p:sp>
      <p:sp>
        <p:nvSpPr>
          <p:cNvPr id="5" name="bang99_o0_1"/>
          <p:cNvSpPr/>
          <p:nvPr/>
        </p:nvSpPr>
        <p:spPr>
          <a:xfrm>
            <a:off x="1371600" y="1481328"/>
            <a:ext cx="1828800" cy="667512"/>
          </a:xfrm>
          <a:prstGeom prst="rect">
            <a:avLst/>
          </a:prstGeom>
          <a:solidFill>
            <a:srgbClr val="E6D3AA"/>
          </a:solidFill>
          <a:ln w="9525">
            <a:solidFill>
              <a:srgbClr val="C9D3DF"/>
            </a:solidFill>
            <a:prstDash val="solid"/>
          </a:ln>
        </p:spPr>
      </p:sp>
      <p:sp>
        <p:nvSpPr>
          <p:cNvPr id="6" name="bang99_t0_1"/>
          <p:cNvSpPr txBox="1"/>
          <p:nvPr/>
        </p:nvSpPr>
        <p:spPr>
          <a:xfrm>
            <a:off x="1426464" y="1527048"/>
            <a:ext cx="171907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Tên liên kết</a:t>
            </a:r>
            <a:endParaRPr lang="en-US" sz="1200" dirty="0"/>
          </a:p>
        </p:txBody>
      </p:sp>
      <p:sp>
        <p:nvSpPr>
          <p:cNvPr id="7" name="bang99_o0_2"/>
          <p:cNvSpPr/>
          <p:nvPr/>
        </p:nvSpPr>
        <p:spPr>
          <a:xfrm>
            <a:off x="3200400" y="1481328"/>
            <a:ext cx="1965960" cy="667512"/>
          </a:xfrm>
          <a:prstGeom prst="rect">
            <a:avLst/>
          </a:prstGeom>
          <a:solidFill>
            <a:srgbClr val="E6D3AA"/>
          </a:solidFill>
          <a:ln w="9525">
            <a:solidFill>
              <a:srgbClr val="C9D3DF"/>
            </a:solidFill>
            <a:prstDash val="solid"/>
          </a:ln>
        </p:spPr>
      </p:sp>
      <p:sp>
        <p:nvSpPr>
          <p:cNvPr id="8" name="bang99_t0_2"/>
          <p:cNvSpPr txBox="1"/>
          <p:nvPr/>
        </p:nvSpPr>
        <p:spPr>
          <a:xfrm>
            <a:off x="3255264" y="1527048"/>
            <a:ext cx="185623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Thực thể A</a:t>
            </a:r>
            <a:endParaRPr lang="en-US" sz="1200" dirty="0"/>
          </a:p>
        </p:txBody>
      </p:sp>
      <p:sp>
        <p:nvSpPr>
          <p:cNvPr id="9" name="bang99_o0_3"/>
          <p:cNvSpPr/>
          <p:nvPr/>
        </p:nvSpPr>
        <p:spPr>
          <a:xfrm>
            <a:off x="5166360" y="1481328"/>
            <a:ext cx="2148840" cy="667512"/>
          </a:xfrm>
          <a:prstGeom prst="rect">
            <a:avLst/>
          </a:prstGeom>
          <a:solidFill>
            <a:srgbClr val="E6D3AA"/>
          </a:solidFill>
          <a:ln w="9525">
            <a:solidFill>
              <a:srgbClr val="C9D3DF"/>
            </a:solidFill>
            <a:prstDash val="solid"/>
          </a:ln>
        </p:spPr>
      </p:sp>
      <p:sp>
        <p:nvSpPr>
          <p:cNvPr id="10" name="bang99_t0_3"/>
          <p:cNvSpPr txBox="1"/>
          <p:nvPr/>
        </p:nvSpPr>
        <p:spPr>
          <a:xfrm>
            <a:off x="5221224" y="1527048"/>
            <a:ext cx="203911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Thực thể B</a:t>
            </a:r>
            <a:endParaRPr lang="en-US" sz="1200" dirty="0"/>
          </a:p>
        </p:txBody>
      </p:sp>
      <p:sp>
        <p:nvSpPr>
          <p:cNvPr id="11" name="bang99_o0_4"/>
          <p:cNvSpPr/>
          <p:nvPr/>
        </p:nvSpPr>
        <p:spPr>
          <a:xfrm>
            <a:off x="7315200" y="1481328"/>
            <a:ext cx="960120" cy="667512"/>
          </a:xfrm>
          <a:prstGeom prst="rect">
            <a:avLst/>
          </a:prstGeom>
          <a:solidFill>
            <a:srgbClr val="E6D3AA"/>
          </a:solidFill>
          <a:ln w="9525">
            <a:solidFill>
              <a:srgbClr val="C9D3DF"/>
            </a:solidFill>
            <a:prstDash val="solid"/>
          </a:ln>
        </p:spPr>
      </p:sp>
      <p:sp>
        <p:nvSpPr>
          <p:cNvPr id="12" name="bang99_t0_4"/>
          <p:cNvSpPr txBox="1"/>
          <p:nvPr/>
        </p:nvSpPr>
        <p:spPr>
          <a:xfrm>
            <a:off x="7370064" y="1527048"/>
            <a:ext cx="85039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Mỗi A có bao nhiêu B</a:t>
            </a:r>
            <a:endParaRPr lang="en-US" sz="1200" dirty="0"/>
          </a:p>
        </p:txBody>
      </p:sp>
      <p:sp>
        <p:nvSpPr>
          <p:cNvPr id="13" name="bang99_o0_5"/>
          <p:cNvSpPr/>
          <p:nvPr/>
        </p:nvSpPr>
        <p:spPr>
          <a:xfrm>
            <a:off x="8275320" y="1481328"/>
            <a:ext cx="960120" cy="667512"/>
          </a:xfrm>
          <a:prstGeom prst="rect">
            <a:avLst/>
          </a:prstGeom>
          <a:solidFill>
            <a:srgbClr val="E6D3AA"/>
          </a:solidFill>
          <a:ln w="9525">
            <a:solidFill>
              <a:srgbClr val="C9D3DF"/>
            </a:solidFill>
            <a:prstDash val="solid"/>
          </a:ln>
        </p:spPr>
      </p:sp>
      <p:sp>
        <p:nvSpPr>
          <p:cNvPr id="14" name="bang99_t0_5"/>
          <p:cNvSpPr txBox="1"/>
          <p:nvPr/>
        </p:nvSpPr>
        <p:spPr>
          <a:xfrm>
            <a:off x="8330184" y="1527048"/>
            <a:ext cx="85039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Mỗi B có bao nhiêu A</a:t>
            </a:r>
            <a:endParaRPr lang="en-US" sz="1200" dirty="0"/>
          </a:p>
        </p:txBody>
      </p:sp>
      <p:sp>
        <p:nvSpPr>
          <p:cNvPr id="15" name="bang99_o0_6"/>
          <p:cNvSpPr/>
          <p:nvPr/>
        </p:nvSpPr>
        <p:spPr>
          <a:xfrm>
            <a:off x="9235440" y="1481328"/>
            <a:ext cx="1828800" cy="667512"/>
          </a:xfrm>
          <a:prstGeom prst="rect">
            <a:avLst/>
          </a:prstGeom>
          <a:solidFill>
            <a:srgbClr val="E6D3AA"/>
          </a:solidFill>
          <a:ln w="9525">
            <a:solidFill>
              <a:srgbClr val="C9D3DF"/>
            </a:solidFill>
            <a:prstDash val="solid"/>
          </a:ln>
        </p:spPr>
      </p:sp>
      <p:sp>
        <p:nvSpPr>
          <p:cNvPr id="16" name="bang99_t0_6"/>
          <p:cNvSpPr txBox="1"/>
          <p:nvPr/>
        </p:nvSpPr>
        <p:spPr>
          <a:xfrm>
            <a:off x="9290304" y="1527048"/>
            <a:ext cx="171907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Thuộc tính liên kết</a:t>
            </a:r>
            <a:endParaRPr lang="en-US" sz="1200" dirty="0"/>
          </a:p>
        </p:txBody>
      </p:sp>
      <p:sp>
        <p:nvSpPr>
          <p:cNvPr id="17" name="bang99_o0_7"/>
          <p:cNvSpPr/>
          <p:nvPr/>
        </p:nvSpPr>
        <p:spPr>
          <a:xfrm>
            <a:off x="11064240" y="1481328"/>
            <a:ext cx="667512" cy="667512"/>
          </a:xfrm>
          <a:prstGeom prst="rect">
            <a:avLst/>
          </a:prstGeom>
          <a:solidFill>
            <a:srgbClr val="E6D3AA"/>
          </a:solidFill>
          <a:ln w="9525">
            <a:solidFill>
              <a:srgbClr val="C9D3DF"/>
            </a:solidFill>
            <a:prstDash val="solid"/>
          </a:ln>
        </p:spPr>
      </p:sp>
      <p:sp>
        <p:nvSpPr>
          <p:cNvPr id="18" name="bang99_t0_7"/>
          <p:cNvSpPr txBox="1"/>
          <p:nvPr/>
        </p:nvSpPr>
        <p:spPr>
          <a:xfrm>
            <a:off x="11119104" y="1527048"/>
            <a:ext cx="557784"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QT</a:t>
            </a:r>
            <a:endParaRPr lang="en-US" sz="1200" dirty="0"/>
          </a:p>
        </p:txBody>
      </p:sp>
      <p:sp>
        <p:nvSpPr>
          <p:cNvPr id="19" name="bang99_o1_0"/>
          <p:cNvSpPr/>
          <p:nvPr/>
        </p:nvSpPr>
        <p:spPr>
          <a:xfrm>
            <a:off x="457200" y="2148840"/>
            <a:ext cx="914400" cy="512572"/>
          </a:xfrm>
          <a:prstGeom prst="rect">
            <a:avLst/>
          </a:prstGeom>
          <a:solidFill>
            <a:srgbClr val="FFFFFF"/>
          </a:solidFill>
          <a:ln w="9525">
            <a:solidFill>
              <a:srgbClr val="C9D3DF"/>
            </a:solidFill>
            <a:prstDash val="solid"/>
          </a:ln>
        </p:spPr>
      </p:sp>
      <p:sp>
        <p:nvSpPr>
          <p:cNvPr id="20" name="bang99_t1_0"/>
          <p:cNvSpPr txBox="1"/>
          <p:nvPr/>
        </p:nvSpPr>
        <p:spPr>
          <a:xfrm>
            <a:off x="512064" y="2194560"/>
            <a:ext cx="8046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LK19 (*)</a:t>
            </a:r>
            <a:endParaRPr lang="en-US" sz="1300" dirty="0"/>
          </a:p>
        </p:txBody>
      </p:sp>
      <p:sp>
        <p:nvSpPr>
          <p:cNvPr id="21" name="bang99_o1_1"/>
          <p:cNvSpPr/>
          <p:nvPr/>
        </p:nvSpPr>
        <p:spPr>
          <a:xfrm>
            <a:off x="1371600" y="2148840"/>
            <a:ext cx="1828800" cy="512572"/>
          </a:xfrm>
          <a:prstGeom prst="rect">
            <a:avLst/>
          </a:prstGeom>
          <a:solidFill>
            <a:srgbClr val="FFFFFF"/>
          </a:solidFill>
          <a:ln w="9525">
            <a:solidFill>
              <a:srgbClr val="C9D3DF"/>
            </a:solidFill>
            <a:prstDash val="solid"/>
          </a:ln>
        </p:spPr>
      </p:sp>
      <p:sp>
        <p:nvSpPr>
          <p:cNvPr id="22" name="bang99_t1_1"/>
          <p:cNvSpPr txBox="1"/>
          <p:nvPr/>
        </p:nvSpPr>
        <p:spPr>
          <a:xfrm>
            <a:off x="1426464" y="2194560"/>
            <a:ext cx="17190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Ký gửi theo</a:t>
            </a:r>
            <a:endParaRPr lang="en-US" sz="1300" dirty="0"/>
          </a:p>
        </p:txBody>
      </p:sp>
      <p:sp>
        <p:nvSpPr>
          <p:cNvPr id="23" name="bang99_o1_2"/>
          <p:cNvSpPr/>
          <p:nvPr/>
        </p:nvSpPr>
        <p:spPr>
          <a:xfrm>
            <a:off x="3200400" y="2148840"/>
            <a:ext cx="1965960" cy="512572"/>
          </a:xfrm>
          <a:prstGeom prst="rect">
            <a:avLst/>
          </a:prstGeom>
          <a:solidFill>
            <a:srgbClr val="FFFFFF"/>
          </a:solidFill>
          <a:ln w="9525">
            <a:solidFill>
              <a:srgbClr val="C9D3DF"/>
            </a:solidFill>
            <a:prstDash val="solid"/>
          </a:ln>
        </p:spPr>
      </p:sp>
      <p:sp>
        <p:nvSpPr>
          <p:cNvPr id="24" name="bang99_t1_2"/>
          <p:cNvSpPr txBox="1"/>
          <p:nvPr/>
        </p:nvSpPr>
        <p:spPr>
          <a:xfrm>
            <a:off x="3255264" y="2194560"/>
            <a:ext cx="185623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VE_MAY_BAY</a:t>
            </a:r>
            <a:endParaRPr lang="en-US" sz="1300" dirty="0"/>
          </a:p>
        </p:txBody>
      </p:sp>
      <p:sp>
        <p:nvSpPr>
          <p:cNvPr id="25" name="bang99_o1_3"/>
          <p:cNvSpPr/>
          <p:nvPr/>
        </p:nvSpPr>
        <p:spPr>
          <a:xfrm>
            <a:off x="5166360" y="2148840"/>
            <a:ext cx="2148840" cy="512572"/>
          </a:xfrm>
          <a:prstGeom prst="rect">
            <a:avLst/>
          </a:prstGeom>
          <a:solidFill>
            <a:srgbClr val="FFFFFF"/>
          </a:solidFill>
          <a:ln w="9525">
            <a:solidFill>
              <a:srgbClr val="C9D3DF"/>
            </a:solidFill>
            <a:prstDash val="solid"/>
          </a:ln>
        </p:spPr>
      </p:sp>
      <p:sp>
        <p:nvSpPr>
          <p:cNvPr id="26" name="bang99_t1_3"/>
          <p:cNvSpPr txBox="1"/>
          <p:nvPr/>
        </p:nvSpPr>
        <p:spPr>
          <a:xfrm>
            <a:off x="5221224" y="2194560"/>
            <a:ext cx="203911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HANH_LY</a:t>
            </a:r>
            <a:endParaRPr lang="en-US" sz="1300" dirty="0"/>
          </a:p>
        </p:txBody>
      </p:sp>
      <p:sp>
        <p:nvSpPr>
          <p:cNvPr id="27" name="bang99_o1_4"/>
          <p:cNvSpPr/>
          <p:nvPr/>
        </p:nvSpPr>
        <p:spPr>
          <a:xfrm>
            <a:off x="7315200" y="2148840"/>
            <a:ext cx="960120" cy="512572"/>
          </a:xfrm>
          <a:prstGeom prst="rect">
            <a:avLst/>
          </a:prstGeom>
          <a:solidFill>
            <a:srgbClr val="FFFFFF"/>
          </a:solidFill>
          <a:ln w="9525">
            <a:solidFill>
              <a:srgbClr val="C9D3DF"/>
            </a:solidFill>
            <a:prstDash val="solid"/>
          </a:ln>
        </p:spPr>
      </p:sp>
      <p:sp>
        <p:nvSpPr>
          <p:cNvPr id="28" name="bang99_t1_4"/>
          <p:cNvSpPr txBox="1"/>
          <p:nvPr/>
        </p:nvSpPr>
        <p:spPr>
          <a:xfrm>
            <a:off x="7370064" y="2194560"/>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29" name="bang99_o1_5"/>
          <p:cNvSpPr/>
          <p:nvPr/>
        </p:nvSpPr>
        <p:spPr>
          <a:xfrm>
            <a:off x="8275320" y="2148840"/>
            <a:ext cx="960120" cy="512572"/>
          </a:xfrm>
          <a:prstGeom prst="rect">
            <a:avLst/>
          </a:prstGeom>
          <a:solidFill>
            <a:srgbClr val="FFFFFF"/>
          </a:solidFill>
          <a:ln w="9525">
            <a:solidFill>
              <a:srgbClr val="C9D3DF"/>
            </a:solidFill>
            <a:prstDash val="solid"/>
          </a:ln>
        </p:spPr>
      </p:sp>
      <p:sp>
        <p:nvSpPr>
          <p:cNvPr id="30" name="bang99_t1_5"/>
          <p:cNvSpPr txBox="1"/>
          <p:nvPr/>
        </p:nvSpPr>
        <p:spPr>
          <a:xfrm>
            <a:off x="8330184" y="2194560"/>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1..1</a:t>
            </a:r>
            <a:endParaRPr lang="en-US" sz="1300" dirty="0"/>
          </a:p>
        </p:txBody>
      </p:sp>
      <p:sp>
        <p:nvSpPr>
          <p:cNvPr id="31" name="bang99_o1_6"/>
          <p:cNvSpPr/>
          <p:nvPr/>
        </p:nvSpPr>
        <p:spPr>
          <a:xfrm>
            <a:off x="9235440" y="2148840"/>
            <a:ext cx="1828800" cy="512572"/>
          </a:xfrm>
          <a:prstGeom prst="rect">
            <a:avLst/>
          </a:prstGeom>
          <a:solidFill>
            <a:srgbClr val="FFFFFF"/>
          </a:solidFill>
          <a:ln w="9525">
            <a:solidFill>
              <a:srgbClr val="C9D3DF"/>
            </a:solidFill>
            <a:prstDash val="solid"/>
          </a:ln>
        </p:spPr>
      </p:sp>
      <p:sp>
        <p:nvSpPr>
          <p:cNvPr id="32" name="bang99_o1_7"/>
          <p:cNvSpPr/>
          <p:nvPr/>
        </p:nvSpPr>
        <p:spPr>
          <a:xfrm>
            <a:off x="11064240" y="2148840"/>
            <a:ext cx="667512" cy="512572"/>
          </a:xfrm>
          <a:prstGeom prst="rect">
            <a:avLst/>
          </a:prstGeom>
          <a:solidFill>
            <a:srgbClr val="FFFFFF"/>
          </a:solidFill>
          <a:ln w="9525">
            <a:solidFill>
              <a:srgbClr val="C9D3DF"/>
            </a:solidFill>
            <a:prstDash val="solid"/>
          </a:ln>
        </p:spPr>
      </p:sp>
      <p:sp>
        <p:nvSpPr>
          <p:cNvPr id="33" name="bang99_t1_7"/>
          <p:cNvSpPr txBox="1"/>
          <p:nvPr/>
        </p:nvSpPr>
        <p:spPr>
          <a:xfrm>
            <a:off x="11119104" y="2194560"/>
            <a:ext cx="557784"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QT24</a:t>
            </a:r>
            <a:endParaRPr lang="en-US" sz="1300" dirty="0"/>
          </a:p>
        </p:txBody>
      </p:sp>
      <p:sp>
        <p:nvSpPr>
          <p:cNvPr id="34" name="bang99_o2_0"/>
          <p:cNvSpPr/>
          <p:nvPr/>
        </p:nvSpPr>
        <p:spPr>
          <a:xfrm>
            <a:off x="457200" y="2661412"/>
            <a:ext cx="914400" cy="512572"/>
          </a:xfrm>
          <a:prstGeom prst="rect">
            <a:avLst/>
          </a:prstGeom>
          <a:solidFill>
            <a:srgbClr val="F7F0E1"/>
          </a:solidFill>
          <a:ln w="9525">
            <a:solidFill>
              <a:srgbClr val="C9D3DF"/>
            </a:solidFill>
            <a:prstDash val="solid"/>
          </a:ln>
        </p:spPr>
      </p:sp>
      <p:sp>
        <p:nvSpPr>
          <p:cNvPr id="35" name="bang99_t2_0"/>
          <p:cNvSpPr txBox="1"/>
          <p:nvPr/>
        </p:nvSpPr>
        <p:spPr>
          <a:xfrm>
            <a:off x="512064" y="2707132"/>
            <a:ext cx="8046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LK20 (*)</a:t>
            </a:r>
            <a:endParaRPr lang="en-US" sz="1300" dirty="0"/>
          </a:p>
        </p:txBody>
      </p:sp>
      <p:sp>
        <p:nvSpPr>
          <p:cNvPr id="36" name="bang99_o2_1"/>
          <p:cNvSpPr/>
          <p:nvPr/>
        </p:nvSpPr>
        <p:spPr>
          <a:xfrm>
            <a:off x="1371600" y="2661412"/>
            <a:ext cx="1828800" cy="512572"/>
          </a:xfrm>
          <a:prstGeom prst="rect">
            <a:avLst/>
          </a:prstGeom>
          <a:solidFill>
            <a:srgbClr val="F7F0E1"/>
          </a:solidFill>
          <a:ln w="9525">
            <a:solidFill>
              <a:srgbClr val="C9D3DF"/>
            </a:solidFill>
            <a:prstDash val="solid"/>
          </a:ln>
        </p:spPr>
      </p:sp>
      <p:sp>
        <p:nvSpPr>
          <p:cNvPr id="37" name="bang99_t2_1"/>
          <p:cNvSpPr txBox="1"/>
          <p:nvPr/>
        </p:nvSpPr>
        <p:spPr>
          <a:xfrm>
            <a:off x="1426464" y="2707132"/>
            <a:ext cx="17190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Đăng ký</a:t>
            </a:r>
            <a:endParaRPr lang="en-US" sz="1300" dirty="0"/>
          </a:p>
        </p:txBody>
      </p:sp>
      <p:sp>
        <p:nvSpPr>
          <p:cNvPr id="38" name="bang99_o2_2"/>
          <p:cNvSpPr/>
          <p:nvPr/>
        </p:nvSpPr>
        <p:spPr>
          <a:xfrm>
            <a:off x="3200400" y="2661412"/>
            <a:ext cx="1965960" cy="512572"/>
          </a:xfrm>
          <a:prstGeom prst="rect">
            <a:avLst/>
          </a:prstGeom>
          <a:solidFill>
            <a:srgbClr val="F7F0E1"/>
          </a:solidFill>
          <a:ln w="9525">
            <a:solidFill>
              <a:srgbClr val="C9D3DF"/>
            </a:solidFill>
            <a:prstDash val="solid"/>
          </a:ln>
        </p:spPr>
      </p:sp>
      <p:sp>
        <p:nvSpPr>
          <p:cNvPr id="39" name="bang99_t2_2"/>
          <p:cNvSpPr txBox="1"/>
          <p:nvPr/>
        </p:nvSpPr>
        <p:spPr>
          <a:xfrm>
            <a:off x="3255264" y="2707132"/>
            <a:ext cx="185623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VE_MAY_BAY</a:t>
            </a:r>
            <a:endParaRPr lang="en-US" sz="1300" dirty="0"/>
          </a:p>
        </p:txBody>
      </p:sp>
      <p:sp>
        <p:nvSpPr>
          <p:cNvPr id="40" name="bang99_o2_3"/>
          <p:cNvSpPr/>
          <p:nvPr/>
        </p:nvSpPr>
        <p:spPr>
          <a:xfrm>
            <a:off x="5166360" y="2661412"/>
            <a:ext cx="2148840" cy="512572"/>
          </a:xfrm>
          <a:prstGeom prst="rect">
            <a:avLst/>
          </a:prstGeom>
          <a:solidFill>
            <a:srgbClr val="F7F0E1"/>
          </a:solidFill>
          <a:ln w="9525">
            <a:solidFill>
              <a:srgbClr val="C9D3DF"/>
            </a:solidFill>
            <a:prstDash val="solid"/>
          </a:ln>
        </p:spPr>
      </p:sp>
      <p:sp>
        <p:nvSpPr>
          <p:cNvPr id="41" name="bang99_t2_3"/>
          <p:cNvSpPr txBox="1"/>
          <p:nvPr/>
        </p:nvSpPr>
        <p:spPr>
          <a:xfrm>
            <a:off x="5221224" y="2707132"/>
            <a:ext cx="203911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CHI_TIET_DICH_VU</a:t>
            </a:r>
            <a:endParaRPr lang="en-US" sz="1300" dirty="0"/>
          </a:p>
        </p:txBody>
      </p:sp>
      <p:sp>
        <p:nvSpPr>
          <p:cNvPr id="42" name="bang99_o2_4"/>
          <p:cNvSpPr/>
          <p:nvPr/>
        </p:nvSpPr>
        <p:spPr>
          <a:xfrm>
            <a:off x="7315200" y="2661412"/>
            <a:ext cx="960120" cy="512572"/>
          </a:xfrm>
          <a:prstGeom prst="rect">
            <a:avLst/>
          </a:prstGeom>
          <a:solidFill>
            <a:srgbClr val="F7F0E1"/>
          </a:solidFill>
          <a:ln w="9525">
            <a:solidFill>
              <a:srgbClr val="C9D3DF"/>
            </a:solidFill>
            <a:prstDash val="solid"/>
          </a:ln>
        </p:spPr>
      </p:sp>
      <p:sp>
        <p:nvSpPr>
          <p:cNvPr id="43" name="bang99_t2_4"/>
          <p:cNvSpPr txBox="1"/>
          <p:nvPr/>
        </p:nvSpPr>
        <p:spPr>
          <a:xfrm>
            <a:off x="7370064" y="2707132"/>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44" name="bang99_o2_5"/>
          <p:cNvSpPr/>
          <p:nvPr/>
        </p:nvSpPr>
        <p:spPr>
          <a:xfrm>
            <a:off x="8275320" y="2661412"/>
            <a:ext cx="960120" cy="512572"/>
          </a:xfrm>
          <a:prstGeom prst="rect">
            <a:avLst/>
          </a:prstGeom>
          <a:solidFill>
            <a:srgbClr val="F7F0E1"/>
          </a:solidFill>
          <a:ln w="9525">
            <a:solidFill>
              <a:srgbClr val="C9D3DF"/>
            </a:solidFill>
            <a:prstDash val="solid"/>
          </a:ln>
        </p:spPr>
      </p:sp>
      <p:sp>
        <p:nvSpPr>
          <p:cNvPr id="45" name="bang99_t2_5"/>
          <p:cNvSpPr txBox="1"/>
          <p:nvPr/>
        </p:nvSpPr>
        <p:spPr>
          <a:xfrm>
            <a:off x="8330184" y="2707132"/>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1..1</a:t>
            </a:r>
            <a:endParaRPr lang="en-US" sz="1300" dirty="0"/>
          </a:p>
        </p:txBody>
      </p:sp>
      <p:sp>
        <p:nvSpPr>
          <p:cNvPr id="46" name="bang99_o2_6"/>
          <p:cNvSpPr/>
          <p:nvPr/>
        </p:nvSpPr>
        <p:spPr>
          <a:xfrm>
            <a:off x="9235440" y="2661412"/>
            <a:ext cx="1828800" cy="512572"/>
          </a:xfrm>
          <a:prstGeom prst="rect">
            <a:avLst/>
          </a:prstGeom>
          <a:solidFill>
            <a:srgbClr val="F7F0E1"/>
          </a:solidFill>
          <a:ln w="9525">
            <a:solidFill>
              <a:srgbClr val="C9D3DF"/>
            </a:solidFill>
            <a:prstDash val="solid"/>
          </a:ln>
        </p:spPr>
      </p:sp>
      <p:sp>
        <p:nvSpPr>
          <p:cNvPr id="47" name="bang99_o2_7"/>
          <p:cNvSpPr/>
          <p:nvPr/>
        </p:nvSpPr>
        <p:spPr>
          <a:xfrm>
            <a:off x="11064240" y="2661412"/>
            <a:ext cx="667512" cy="512572"/>
          </a:xfrm>
          <a:prstGeom prst="rect">
            <a:avLst/>
          </a:prstGeom>
          <a:solidFill>
            <a:srgbClr val="F7F0E1"/>
          </a:solidFill>
          <a:ln w="9525">
            <a:solidFill>
              <a:srgbClr val="C9D3DF"/>
            </a:solidFill>
            <a:prstDash val="solid"/>
          </a:ln>
        </p:spPr>
      </p:sp>
      <p:sp>
        <p:nvSpPr>
          <p:cNvPr id="48" name="bang99_t2_7"/>
          <p:cNvSpPr txBox="1"/>
          <p:nvPr/>
        </p:nvSpPr>
        <p:spPr>
          <a:xfrm>
            <a:off x="11119104" y="2707132"/>
            <a:ext cx="557784"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QT26</a:t>
            </a:r>
            <a:endParaRPr lang="en-US" sz="1300" dirty="0"/>
          </a:p>
        </p:txBody>
      </p:sp>
      <p:sp>
        <p:nvSpPr>
          <p:cNvPr id="49" name="bang99_o3_0"/>
          <p:cNvSpPr/>
          <p:nvPr/>
        </p:nvSpPr>
        <p:spPr>
          <a:xfrm>
            <a:off x="457200" y="3173984"/>
            <a:ext cx="914400" cy="311150"/>
          </a:xfrm>
          <a:prstGeom prst="rect">
            <a:avLst/>
          </a:prstGeom>
          <a:solidFill>
            <a:srgbClr val="FFFFFF"/>
          </a:solidFill>
          <a:ln w="9525">
            <a:solidFill>
              <a:srgbClr val="C9D3DF"/>
            </a:solidFill>
            <a:prstDash val="solid"/>
          </a:ln>
        </p:spPr>
      </p:sp>
      <p:sp>
        <p:nvSpPr>
          <p:cNvPr id="50" name="bang99_t3_0"/>
          <p:cNvSpPr txBox="1"/>
          <p:nvPr/>
        </p:nvSpPr>
        <p:spPr>
          <a:xfrm>
            <a:off x="512064" y="3219704"/>
            <a:ext cx="8046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LK21</a:t>
            </a:r>
            <a:endParaRPr lang="en-US" sz="1300" dirty="0"/>
          </a:p>
        </p:txBody>
      </p:sp>
      <p:sp>
        <p:nvSpPr>
          <p:cNvPr id="51" name="bang99_o3_1"/>
          <p:cNvSpPr/>
          <p:nvPr/>
        </p:nvSpPr>
        <p:spPr>
          <a:xfrm>
            <a:off x="1371600" y="3173984"/>
            <a:ext cx="1828800" cy="311150"/>
          </a:xfrm>
          <a:prstGeom prst="rect">
            <a:avLst/>
          </a:prstGeom>
          <a:solidFill>
            <a:srgbClr val="FFFFFF"/>
          </a:solidFill>
          <a:ln w="9525">
            <a:solidFill>
              <a:srgbClr val="C9D3DF"/>
            </a:solidFill>
            <a:prstDash val="solid"/>
          </a:ln>
        </p:spPr>
      </p:sp>
      <p:sp>
        <p:nvSpPr>
          <p:cNvPr id="52" name="bang99_t3_1"/>
          <p:cNvSpPr txBox="1"/>
          <p:nvPr/>
        </p:nvSpPr>
        <p:spPr>
          <a:xfrm>
            <a:off x="1426464" y="3219704"/>
            <a:ext cx="17190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Thuộc dịch vụ</a:t>
            </a:r>
            <a:endParaRPr lang="en-US" sz="1300" dirty="0"/>
          </a:p>
        </p:txBody>
      </p:sp>
      <p:sp>
        <p:nvSpPr>
          <p:cNvPr id="53" name="bang99_o3_2"/>
          <p:cNvSpPr/>
          <p:nvPr/>
        </p:nvSpPr>
        <p:spPr>
          <a:xfrm>
            <a:off x="3200400" y="3173984"/>
            <a:ext cx="1965960" cy="311150"/>
          </a:xfrm>
          <a:prstGeom prst="rect">
            <a:avLst/>
          </a:prstGeom>
          <a:solidFill>
            <a:srgbClr val="FFFFFF"/>
          </a:solidFill>
          <a:ln w="9525">
            <a:solidFill>
              <a:srgbClr val="C9D3DF"/>
            </a:solidFill>
            <a:prstDash val="solid"/>
          </a:ln>
        </p:spPr>
      </p:sp>
      <p:sp>
        <p:nvSpPr>
          <p:cNvPr id="54" name="bang99_t3_2"/>
          <p:cNvSpPr txBox="1"/>
          <p:nvPr/>
        </p:nvSpPr>
        <p:spPr>
          <a:xfrm>
            <a:off x="3255264" y="3219704"/>
            <a:ext cx="185623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DICH_VU_BO_SUNG</a:t>
            </a:r>
            <a:endParaRPr lang="en-US" sz="1300" dirty="0"/>
          </a:p>
        </p:txBody>
      </p:sp>
      <p:sp>
        <p:nvSpPr>
          <p:cNvPr id="55" name="bang99_o3_3"/>
          <p:cNvSpPr/>
          <p:nvPr/>
        </p:nvSpPr>
        <p:spPr>
          <a:xfrm>
            <a:off x="5166360" y="3173984"/>
            <a:ext cx="2148840" cy="311150"/>
          </a:xfrm>
          <a:prstGeom prst="rect">
            <a:avLst/>
          </a:prstGeom>
          <a:solidFill>
            <a:srgbClr val="FFFFFF"/>
          </a:solidFill>
          <a:ln w="9525">
            <a:solidFill>
              <a:srgbClr val="C9D3DF"/>
            </a:solidFill>
            <a:prstDash val="solid"/>
          </a:ln>
        </p:spPr>
      </p:sp>
      <p:sp>
        <p:nvSpPr>
          <p:cNvPr id="56" name="bang99_t3_3"/>
          <p:cNvSpPr txBox="1"/>
          <p:nvPr/>
        </p:nvSpPr>
        <p:spPr>
          <a:xfrm>
            <a:off x="5221224" y="3219704"/>
            <a:ext cx="203911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CHI_TIET_DICH_VU</a:t>
            </a:r>
            <a:endParaRPr lang="en-US" sz="1300" dirty="0"/>
          </a:p>
        </p:txBody>
      </p:sp>
      <p:sp>
        <p:nvSpPr>
          <p:cNvPr id="57" name="bang99_o3_4"/>
          <p:cNvSpPr/>
          <p:nvPr/>
        </p:nvSpPr>
        <p:spPr>
          <a:xfrm>
            <a:off x="7315200" y="3173984"/>
            <a:ext cx="960120" cy="311150"/>
          </a:xfrm>
          <a:prstGeom prst="rect">
            <a:avLst/>
          </a:prstGeom>
          <a:solidFill>
            <a:srgbClr val="FFFFFF"/>
          </a:solidFill>
          <a:ln w="9525">
            <a:solidFill>
              <a:srgbClr val="C9D3DF"/>
            </a:solidFill>
            <a:prstDash val="solid"/>
          </a:ln>
        </p:spPr>
      </p:sp>
      <p:sp>
        <p:nvSpPr>
          <p:cNvPr id="58" name="bang99_t3_4"/>
          <p:cNvSpPr txBox="1"/>
          <p:nvPr/>
        </p:nvSpPr>
        <p:spPr>
          <a:xfrm>
            <a:off x="7370064" y="3219704"/>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59" name="bang99_o3_5"/>
          <p:cNvSpPr/>
          <p:nvPr/>
        </p:nvSpPr>
        <p:spPr>
          <a:xfrm>
            <a:off x="8275320" y="3173984"/>
            <a:ext cx="960120" cy="311150"/>
          </a:xfrm>
          <a:prstGeom prst="rect">
            <a:avLst/>
          </a:prstGeom>
          <a:solidFill>
            <a:srgbClr val="FFFFFF"/>
          </a:solidFill>
          <a:ln w="9525">
            <a:solidFill>
              <a:srgbClr val="C9D3DF"/>
            </a:solidFill>
            <a:prstDash val="solid"/>
          </a:ln>
        </p:spPr>
      </p:sp>
      <p:sp>
        <p:nvSpPr>
          <p:cNvPr id="60" name="bang99_t3_5"/>
          <p:cNvSpPr txBox="1"/>
          <p:nvPr/>
        </p:nvSpPr>
        <p:spPr>
          <a:xfrm>
            <a:off x="8330184" y="3219704"/>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1..1</a:t>
            </a:r>
            <a:endParaRPr lang="en-US" sz="1300" dirty="0"/>
          </a:p>
        </p:txBody>
      </p:sp>
      <p:sp>
        <p:nvSpPr>
          <p:cNvPr id="61" name="bang99_o3_6"/>
          <p:cNvSpPr/>
          <p:nvPr/>
        </p:nvSpPr>
        <p:spPr>
          <a:xfrm>
            <a:off x="9235440" y="3173984"/>
            <a:ext cx="1828800" cy="311150"/>
          </a:xfrm>
          <a:prstGeom prst="rect">
            <a:avLst/>
          </a:prstGeom>
          <a:solidFill>
            <a:srgbClr val="FFFFFF"/>
          </a:solidFill>
          <a:ln w="9525">
            <a:solidFill>
              <a:srgbClr val="C9D3DF"/>
            </a:solidFill>
            <a:prstDash val="solid"/>
          </a:ln>
        </p:spPr>
      </p:sp>
      <p:sp>
        <p:nvSpPr>
          <p:cNvPr id="62" name="bang99_o3_7"/>
          <p:cNvSpPr/>
          <p:nvPr/>
        </p:nvSpPr>
        <p:spPr>
          <a:xfrm>
            <a:off x="11064240" y="3173984"/>
            <a:ext cx="667512" cy="311150"/>
          </a:xfrm>
          <a:prstGeom prst="rect">
            <a:avLst/>
          </a:prstGeom>
          <a:solidFill>
            <a:srgbClr val="FFFFFF"/>
          </a:solidFill>
          <a:ln w="9525">
            <a:solidFill>
              <a:srgbClr val="C9D3DF"/>
            </a:solidFill>
            <a:prstDash val="solid"/>
          </a:ln>
        </p:spPr>
      </p:sp>
      <p:sp>
        <p:nvSpPr>
          <p:cNvPr id="63" name="bang99_t3_7"/>
          <p:cNvSpPr txBox="1"/>
          <p:nvPr/>
        </p:nvSpPr>
        <p:spPr>
          <a:xfrm>
            <a:off x="11119104" y="3219704"/>
            <a:ext cx="557784"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QT27</a:t>
            </a:r>
            <a:endParaRPr lang="en-US" sz="1300" dirty="0"/>
          </a:p>
        </p:txBody>
      </p:sp>
      <p:sp>
        <p:nvSpPr>
          <p:cNvPr id="64" name="bang99_o4_0"/>
          <p:cNvSpPr/>
          <p:nvPr/>
        </p:nvSpPr>
        <p:spPr>
          <a:xfrm>
            <a:off x="457200" y="3485134"/>
            <a:ext cx="914400" cy="512572"/>
          </a:xfrm>
          <a:prstGeom prst="rect">
            <a:avLst/>
          </a:prstGeom>
          <a:solidFill>
            <a:srgbClr val="F7F0E1"/>
          </a:solidFill>
          <a:ln w="9525">
            <a:solidFill>
              <a:srgbClr val="C9D3DF"/>
            </a:solidFill>
            <a:prstDash val="solid"/>
          </a:ln>
        </p:spPr>
      </p:sp>
      <p:sp>
        <p:nvSpPr>
          <p:cNvPr id="65" name="bang99_t4_0"/>
          <p:cNvSpPr txBox="1"/>
          <p:nvPr/>
        </p:nvSpPr>
        <p:spPr>
          <a:xfrm>
            <a:off x="512064" y="3530854"/>
            <a:ext cx="8046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LK22 (*)</a:t>
            </a:r>
            <a:endParaRPr lang="en-US" sz="1300" dirty="0"/>
          </a:p>
        </p:txBody>
      </p:sp>
      <p:sp>
        <p:nvSpPr>
          <p:cNvPr id="66" name="bang99_o4_1"/>
          <p:cNvSpPr/>
          <p:nvPr/>
        </p:nvSpPr>
        <p:spPr>
          <a:xfrm>
            <a:off x="1371600" y="3485134"/>
            <a:ext cx="1828800" cy="512572"/>
          </a:xfrm>
          <a:prstGeom prst="rect">
            <a:avLst/>
          </a:prstGeom>
          <a:solidFill>
            <a:srgbClr val="F7F0E1"/>
          </a:solidFill>
          <a:ln w="9525">
            <a:solidFill>
              <a:srgbClr val="C9D3DF"/>
            </a:solidFill>
            <a:prstDash val="solid"/>
          </a:ln>
        </p:spPr>
      </p:sp>
      <p:sp>
        <p:nvSpPr>
          <p:cNvPr id="67" name="bang99_t4_1"/>
          <p:cNvSpPr txBox="1"/>
          <p:nvPr/>
        </p:nvSpPr>
        <p:spPr>
          <a:xfrm>
            <a:off x="1426464" y="3530854"/>
            <a:ext cx="17190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Tính vào</a:t>
            </a:r>
            <a:endParaRPr lang="en-US" sz="1300" dirty="0"/>
          </a:p>
        </p:txBody>
      </p:sp>
      <p:sp>
        <p:nvSpPr>
          <p:cNvPr id="68" name="bang99_o4_2"/>
          <p:cNvSpPr/>
          <p:nvPr/>
        </p:nvSpPr>
        <p:spPr>
          <a:xfrm>
            <a:off x="3200400" y="3485134"/>
            <a:ext cx="1965960" cy="512572"/>
          </a:xfrm>
          <a:prstGeom prst="rect">
            <a:avLst/>
          </a:prstGeom>
          <a:solidFill>
            <a:srgbClr val="F7F0E1"/>
          </a:solidFill>
          <a:ln w="9525">
            <a:solidFill>
              <a:srgbClr val="C9D3DF"/>
            </a:solidFill>
            <a:prstDash val="solid"/>
          </a:ln>
        </p:spPr>
      </p:sp>
      <p:sp>
        <p:nvSpPr>
          <p:cNvPr id="69" name="bang99_t4_2"/>
          <p:cNvSpPr txBox="1"/>
          <p:nvPr/>
        </p:nvSpPr>
        <p:spPr>
          <a:xfrm>
            <a:off x="3255264" y="3530854"/>
            <a:ext cx="185623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HOA_DON</a:t>
            </a:r>
            <a:endParaRPr lang="en-US" sz="1300" dirty="0"/>
          </a:p>
        </p:txBody>
      </p:sp>
      <p:sp>
        <p:nvSpPr>
          <p:cNvPr id="70" name="bang99_o4_3"/>
          <p:cNvSpPr/>
          <p:nvPr/>
        </p:nvSpPr>
        <p:spPr>
          <a:xfrm>
            <a:off x="5166360" y="3485134"/>
            <a:ext cx="2148840" cy="512572"/>
          </a:xfrm>
          <a:prstGeom prst="rect">
            <a:avLst/>
          </a:prstGeom>
          <a:solidFill>
            <a:srgbClr val="F7F0E1"/>
          </a:solidFill>
          <a:ln w="9525">
            <a:solidFill>
              <a:srgbClr val="C9D3DF"/>
            </a:solidFill>
            <a:prstDash val="solid"/>
          </a:ln>
        </p:spPr>
      </p:sp>
      <p:sp>
        <p:nvSpPr>
          <p:cNvPr id="71" name="bang99_t4_3"/>
          <p:cNvSpPr txBox="1"/>
          <p:nvPr/>
        </p:nvSpPr>
        <p:spPr>
          <a:xfrm>
            <a:off x="5221224" y="3530854"/>
            <a:ext cx="203911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CHI_TIET_DICH_VU</a:t>
            </a:r>
            <a:endParaRPr lang="en-US" sz="1300" dirty="0"/>
          </a:p>
        </p:txBody>
      </p:sp>
      <p:sp>
        <p:nvSpPr>
          <p:cNvPr id="72" name="bang99_o4_4"/>
          <p:cNvSpPr/>
          <p:nvPr/>
        </p:nvSpPr>
        <p:spPr>
          <a:xfrm>
            <a:off x="7315200" y="3485134"/>
            <a:ext cx="960120" cy="512572"/>
          </a:xfrm>
          <a:prstGeom prst="rect">
            <a:avLst/>
          </a:prstGeom>
          <a:solidFill>
            <a:srgbClr val="F7F0E1"/>
          </a:solidFill>
          <a:ln w="9525">
            <a:solidFill>
              <a:srgbClr val="C9D3DF"/>
            </a:solidFill>
            <a:prstDash val="solid"/>
          </a:ln>
        </p:spPr>
      </p:sp>
      <p:sp>
        <p:nvSpPr>
          <p:cNvPr id="73" name="bang99_t4_4"/>
          <p:cNvSpPr txBox="1"/>
          <p:nvPr/>
        </p:nvSpPr>
        <p:spPr>
          <a:xfrm>
            <a:off x="7370064" y="3530854"/>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74" name="bang99_o4_5"/>
          <p:cNvSpPr/>
          <p:nvPr/>
        </p:nvSpPr>
        <p:spPr>
          <a:xfrm>
            <a:off x="8275320" y="3485134"/>
            <a:ext cx="960120" cy="512572"/>
          </a:xfrm>
          <a:prstGeom prst="rect">
            <a:avLst/>
          </a:prstGeom>
          <a:solidFill>
            <a:srgbClr val="F7F0E1"/>
          </a:solidFill>
          <a:ln w="9525">
            <a:solidFill>
              <a:srgbClr val="C9D3DF"/>
            </a:solidFill>
            <a:prstDash val="solid"/>
          </a:ln>
        </p:spPr>
      </p:sp>
      <p:sp>
        <p:nvSpPr>
          <p:cNvPr id="75" name="bang99_t4_5"/>
          <p:cNvSpPr txBox="1"/>
          <p:nvPr/>
        </p:nvSpPr>
        <p:spPr>
          <a:xfrm>
            <a:off x="8330184" y="3530854"/>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0..1</a:t>
            </a:r>
            <a:endParaRPr lang="en-US" sz="1300" dirty="0"/>
          </a:p>
        </p:txBody>
      </p:sp>
      <p:sp>
        <p:nvSpPr>
          <p:cNvPr id="76" name="bang99_o4_6"/>
          <p:cNvSpPr/>
          <p:nvPr/>
        </p:nvSpPr>
        <p:spPr>
          <a:xfrm>
            <a:off x="9235440" y="3485134"/>
            <a:ext cx="1828800" cy="512572"/>
          </a:xfrm>
          <a:prstGeom prst="rect">
            <a:avLst/>
          </a:prstGeom>
          <a:solidFill>
            <a:srgbClr val="F7F0E1"/>
          </a:solidFill>
          <a:ln w="9525">
            <a:solidFill>
              <a:srgbClr val="C9D3DF"/>
            </a:solidFill>
            <a:prstDash val="solid"/>
          </a:ln>
        </p:spPr>
      </p:sp>
      <p:sp>
        <p:nvSpPr>
          <p:cNvPr id="77" name="bang99_o4_7"/>
          <p:cNvSpPr/>
          <p:nvPr/>
        </p:nvSpPr>
        <p:spPr>
          <a:xfrm>
            <a:off x="11064240" y="3485134"/>
            <a:ext cx="667512" cy="512572"/>
          </a:xfrm>
          <a:prstGeom prst="rect">
            <a:avLst/>
          </a:prstGeom>
          <a:solidFill>
            <a:srgbClr val="F7F0E1"/>
          </a:solidFill>
          <a:ln w="9525">
            <a:solidFill>
              <a:srgbClr val="C9D3DF"/>
            </a:solidFill>
            <a:prstDash val="solid"/>
          </a:ln>
        </p:spPr>
      </p:sp>
      <p:sp>
        <p:nvSpPr>
          <p:cNvPr id="78" name="bang99_t4_7"/>
          <p:cNvSpPr txBox="1"/>
          <p:nvPr/>
        </p:nvSpPr>
        <p:spPr>
          <a:xfrm>
            <a:off x="11119104" y="3530854"/>
            <a:ext cx="557784"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QT28</a:t>
            </a:r>
            <a:endParaRPr lang="en-US" sz="1300" dirty="0"/>
          </a:p>
        </p:txBody>
      </p:sp>
      <p:sp>
        <p:nvSpPr>
          <p:cNvPr id="79" name="txt100"/>
          <p:cNvSpPr txBox="1"/>
          <p:nvPr/>
        </p:nvSpPr>
        <p:spPr>
          <a:xfrm>
            <a:off x="457200" y="6035040"/>
            <a:ext cx="9144000" cy="274320"/>
          </a:xfrm>
          <a:prstGeom prst="rect">
            <a:avLst/>
          </a:prstGeom>
          <a:noFill/>
          <a:ln/>
        </p:spPr>
        <p:txBody>
          <a:bodyPr wrap="square" lIns="0" tIns="0" rIns="0" bIns="0" rtlCol="0" anchor="ctr"/>
          <a:lstStyle/>
          <a:p>
            <a:pPr indent="0" marL="0">
              <a:buNone/>
            </a:pPr>
            <a:r>
              <a:rPr lang="en-US" sz="1100" i="1" dirty="0">
                <a:solidFill>
                  <a:srgbClr val="5F6B7A"/>
                </a:solidFill>
                <a:latin typeface="Arial" pitchFamily="34" charset="0"/>
                <a:ea typeface="Arial" pitchFamily="34" charset="-122"/>
                <a:cs typeface="Arial" pitchFamily="34" charset="-120"/>
              </a:rPr>
              <a:t>(*) liên kết nối sang phân hệ khác.  Cột "Mỗi A có bao nhiêu B" ghi ở đầu B trên sơ đồ.</a:t>
            </a:r>
            <a:endParaRPr lang="en-US" sz="11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Lược đồ quan hệ (DBDL)</a:t>
            </a:r>
            <a:endParaRPr lang="en-US" sz="2600" dirty="0"/>
          </a:p>
        </p:txBody>
      </p:sp>
      <p:sp>
        <p:nvSpPr>
          <p:cNvPr id="3" name="txt101"/>
          <p:cNvSpPr txBox="1"/>
          <p:nvPr/>
        </p:nvSpPr>
        <p:spPr>
          <a:xfrm>
            <a:off x="457200" y="1435608"/>
            <a:ext cx="11277295" cy="4553712"/>
          </a:xfrm>
          <a:prstGeom prst="rect">
            <a:avLst/>
          </a:prstGeom>
          <a:noFill/>
          <a:ln/>
        </p:spPr>
        <p:txBody>
          <a:bodyPr wrap="square" lIns="0" tIns="0" rIns="0" bIns="0" rtlCol="0" anchor="t"/>
          <a:lstStyle/>
          <a:p>
            <a:pPr indent="0" marL="0">
              <a:buNone/>
            </a:pPr>
            <a:r>
              <a:rPr lang="en-US" sz="1400" b="1" dirty="0">
                <a:solidFill>
                  <a:srgbClr val="163F73"/>
                </a:solidFill>
                <a:latin typeface="Arial" pitchFamily="34" charset="0"/>
                <a:ea typeface="Arial" pitchFamily="34" charset="-122"/>
                <a:cs typeface="Arial" pitchFamily="34" charset="-120"/>
              </a:rPr>
              <a:t>HANH_LY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MaHanhLy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TrongLuong</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Dai</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Rong</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Cao</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LoaiHanhLy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TrangThai</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PhiQuaCuoc</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SoVe</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[TH1 + TH3]</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MaHanhLy</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SoVe references VE_MAY_BAY(SoVe)  NOT NULL</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DICH_VU_BO_SUNG</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MaDV</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TenDV</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LoaiDV</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DonGia</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DonViTinh</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MoTa</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[TH1]</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MaDV</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Alternate Key TenDV</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CHI_TIET_DICH_VU</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MaCTDV</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SoLuong</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DonGiaApDung</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NgayDangKy</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TrangThai</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SoVe</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MaDV</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MaHD</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[TH1 + TH3]</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MaCTDV</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SoVe references VE_MAY_BAY(SoVe)  NOT NULL</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MaDV references DICH_VU_BO_SUNG(MaDV)  NOT NULL</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MaHD references HOA_DON(MaHD)  NULL</a:t>
            </a:r>
            <a:endParaRPr lang="en-US" sz="1400" dirty="0"/>
          </a:p>
        </p:txBody>
      </p:sp>
      <p:sp>
        <p:nvSpPr>
          <p:cNvPr id="4" name="txt102"/>
          <p:cNvSpPr txBox="1"/>
          <p:nvPr/>
        </p:nvSpPr>
        <p:spPr>
          <a:xfrm>
            <a:off x="457200" y="6035040"/>
            <a:ext cx="11277295" cy="274320"/>
          </a:xfrm>
          <a:prstGeom prst="rect">
            <a:avLst/>
          </a:prstGeom>
          <a:noFill/>
          <a:ln/>
        </p:spPr>
        <p:txBody>
          <a:bodyPr wrap="square" lIns="0" tIns="0" rIns="0" bIns="0" rtlCol="0" anchor="ctr"/>
          <a:lstStyle/>
          <a:p>
            <a:pPr indent="0" marL="0">
              <a:buNone/>
            </a:pPr>
            <a:r>
              <a:rPr lang="en-US" sz="1100" i="1" dirty="0">
                <a:solidFill>
                  <a:srgbClr val="5F6B7A"/>
                </a:solidFill>
                <a:latin typeface="Arial" pitchFamily="34" charset="0"/>
                <a:ea typeface="Arial" pitchFamily="34" charset="-122"/>
                <a:cs typeface="Arial" pitchFamily="34" charset="-120"/>
              </a:rPr>
              <a:t>Khóa chính gạch chân, khóa ngoại in nghiêng. NOT NULL / NULL theo bội số ở đầu bảng cha (1..1 bắt buộc, 0..1 được trống).</a:t>
            </a:r>
            <a:endParaRPr lang="en-US" sz="11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Phân hệ F. Thanh toán và hóa đơn</a:t>
            </a:r>
            <a:endParaRPr lang="en-US" sz="2600" dirty="0"/>
          </a:p>
        </p:txBody>
      </p:sp>
      <p:sp>
        <p:nvSpPr>
          <p:cNvPr id="3" name="mo_ta_nen"/>
          <p:cNvSpPr/>
          <p:nvPr/>
        </p:nvSpPr>
        <p:spPr>
          <a:xfrm>
            <a:off x="457200" y="1481328"/>
            <a:ext cx="3566160" cy="4873752"/>
          </a:xfrm>
          <a:prstGeom prst="rect">
            <a:avLst/>
          </a:prstGeom>
          <a:solidFill>
            <a:srgbClr val="F7F0E1"/>
          </a:solidFill>
          <a:ln w="12700">
            <a:solidFill>
              <a:srgbClr val="E6D3AA"/>
            </a:solidFill>
            <a:prstDash val="solid"/>
          </a:ln>
        </p:spPr>
      </p:sp>
      <p:sp>
        <p:nvSpPr>
          <p:cNvPr id="4" name="txt103"/>
          <p:cNvSpPr txBox="1"/>
          <p:nvPr/>
        </p:nvSpPr>
        <p:spPr>
          <a:xfrm>
            <a:off x="685800" y="1664208"/>
            <a:ext cx="3108960" cy="320040"/>
          </a:xfrm>
          <a:prstGeom prst="rect">
            <a:avLst/>
          </a:prstGeom>
          <a:noFill/>
          <a:ln/>
        </p:spPr>
        <p:txBody>
          <a:bodyPr wrap="square" lIns="0" tIns="0" rIns="0" bIns="0" rtlCol="0" anchor="ctr"/>
          <a:lstStyle/>
          <a:p>
            <a:pPr indent="0" marL="0">
              <a:buNone/>
            </a:pPr>
            <a:r>
              <a:rPr lang="en-US" sz="1400" b="1" dirty="0">
                <a:solidFill>
                  <a:srgbClr val="8A6A2F"/>
                </a:solidFill>
                <a:latin typeface="Arial" pitchFamily="34" charset="0"/>
                <a:ea typeface="Arial" pitchFamily="34" charset="-122"/>
                <a:cs typeface="Arial" pitchFamily="34" charset="-120"/>
              </a:rPr>
              <a:t>Mô tả</a:t>
            </a:r>
            <a:endParaRPr lang="en-US" sz="1400" dirty="0"/>
          </a:p>
        </p:txBody>
      </p:sp>
      <p:sp>
        <p:nvSpPr>
          <p:cNvPr id="5" name="txt104"/>
          <p:cNvSpPr txBox="1"/>
          <p:nvPr/>
        </p:nvSpPr>
        <p:spPr>
          <a:xfrm>
            <a:off x="685800" y="2029968"/>
            <a:ext cx="3108960" cy="274320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Quản lý hóa đơn điện tử lập cho đặt chỗ, các giao dịch thanh toán bằng thẻ hoặc chuyển khoản, và mã khuyến mãi (giảm theo phần trăm hoặc số tiền, có hạn dùng và số lượt).</a:t>
            </a:r>
            <a:endParaRPr lang="en-US" sz="1300" dirty="0"/>
          </a:p>
        </p:txBody>
      </p:sp>
      <p:sp>
        <p:nvSpPr>
          <p:cNvPr id="6" name="txt105"/>
          <p:cNvSpPr txBox="1"/>
          <p:nvPr/>
        </p:nvSpPr>
        <p:spPr>
          <a:xfrm>
            <a:off x="685800" y="4910328"/>
            <a:ext cx="3108960" cy="320040"/>
          </a:xfrm>
          <a:prstGeom prst="rect">
            <a:avLst/>
          </a:prstGeom>
          <a:noFill/>
          <a:ln/>
        </p:spPr>
        <p:txBody>
          <a:bodyPr wrap="square" lIns="0" tIns="0" rIns="0" bIns="0" rtlCol="0" anchor="ctr"/>
          <a:lstStyle/>
          <a:p>
            <a:pPr indent="0" marL="0">
              <a:buNone/>
            </a:pPr>
            <a:r>
              <a:rPr lang="en-US" sz="1400" b="1" dirty="0">
                <a:solidFill>
                  <a:srgbClr val="8A6A2F"/>
                </a:solidFill>
                <a:latin typeface="Arial" pitchFamily="34" charset="0"/>
                <a:ea typeface="Arial" pitchFamily="34" charset="-122"/>
                <a:cs typeface="Arial" pitchFamily="34" charset="-120"/>
              </a:rPr>
              <a:t>Thực thể</a:t>
            </a:r>
            <a:endParaRPr lang="en-US" sz="1400" dirty="0"/>
          </a:p>
        </p:txBody>
      </p:sp>
      <p:sp>
        <p:nvSpPr>
          <p:cNvPr id="7" name="txt106"/>
          <p:cNvSpPr txBox="1"/>
          <p:nvPr/>
        </p:nvSpPr>
        <p:spPr>
          <a:xfrm>
            <a:off x="685800" y="5248656"/>
            <a:ext cx="3108960" cy="1371600"/>
          </a:xfrm>
          <a:prstGeom prst="rect">
            <a:avLst/>
          </a:prstGeom>
          <a:noFill/>
          <a:ln/>
        </p:spPr>
        <p:txBody>
          <a:bodyPr wrap="square" lIns="0" tIns="0" rIns="0" bIns="0" rtlCol="0" anchor="t"/>
          <a:lstStyle/>
          <a:p>
            <a:pPr indent="0" marL="0">
              <a:buNone/>
            </a:pPr>
            <a:r>
              <a:rPr lang="en-US" sz="1200" b="1" dirty="0">
                <a:solidFill>
                  <a:srgbClr val="163F73"/>
                </a:solidFill>
                <a:latin typeface="Arial" pitchFamily="34" charset="0"/>
                <a:ea typeface="Arial" pitchFamily="34" charset="-122"/>
                <a:cs typeface="Arial" pitchFamily="34" charset="-120"/>
              </a:rPr>
              <a:t>HOA_DON</a:t>
            </a:r>
            <a:endParaRPr lang="en-US" sz="1200" dirty="0"/>
          </a:p>
          <a:p>
            <a:pPr indent="0" marL="0">
              <a:buNone/>
            </a:pPr>
            <a:r>
              <a:rPr lang="en-US" sz="1200" b="1" dirty="0">
                <a:solidFill>
                  <a:srgbClr val="163F73"/>
                </a:solidFill>
                <a:latin typeface="Arial" pitchFamily="34" charset="0"/>
                <a:ea typeface="Arial" pitchFamily="34" charset="-122"/>
                <a:cs typeface="Arial" pitchFamily="34" charset="-120"/>
              </a:rPr>
              <a:t>GIAO_DICH_THANH_TOAN</a:t>
            </a:r>
            <a:endParaRPr lang="en-US" sz="1200" dirty="0"/>
          </a:p>
          <a:p>
            <a:pPr indent="0" marL="0">
              <a:buNone/>
            </a:pPr>
            <a:r>
              <a:rPr lang="en-US" sz="1200" b="1" dirty="0">
                <a:solidFill>
                  <a:srgbClr val="163F73"/>
                </a:solidFill>
                <a:latin typeface="Arial" pitchFamily="34" charset="0"/>
                <a:ea typeface="Arial" pitchFamily="34" charset="-122"/>
                <a:cs typeface="Arial" pitchFamily="34" charset="-120"/>
              </a:rPr>
              <a:t>MA_KHUYEN_MAI</a:t>
            </a:r>
            <a:endParaRPr lang="en-US" sz="1200" dirty="0"/>
          </a:p>
        </p:txBody>
      </p:sp>
      <p:sp>
        <p:nvSpPr>
          <p:cNvPr id="8" name="bang107_o0_0"/>
          <p:cNvSpPr/>
          <p:nvPr/>
        </p:nvSpPr>
        <p:spPr>
          <a:xfrm>
            <a:off x="4251960" y="1481328"/>
            <a:ext cx="685800" cy="295656"/>
          </a:xfrm>
          <a:prstGeom prst="rect">
            <a:avLst/>
          </a:prstGeom>
          <a:solidFill>
            <a:srgbClr val="E6D3AA"/>
          </a:solidFill>
          <a:ln w="9525">
            <a:solidFill>
              <a:srgbClr val="C9D3DF"/>
            </a:solidFill>
            <a:prstDash val="solid"/>
          </a:ln>
        </p:spPr>
      </p:sp>
      <p:sp>
        <p:nvSpPr>
          <p:cNvPr id="9" name="bang107_t0_0"/>
          <p:cNvSpPr txBox="1"/>
          <p:nvPr/>
        </p:nvSpPr>
        <p:spPr>
          <a:xfrm>
            <a:off x="4306824" y="1527048"/>
            <a:ext cx="576072" cy="204216"/>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Mã</a:t>
            </a:r>
            <a:endParaRPr lang="en-US" sz="1200" dirty="0"/>
          </a:p>
        </p:txBody>
      </p:sp>
      <p:sp>
        <p:nvSpPr>
          <p:cNvPr id="10" name="bang107_o0_1"/>
          <p:cNvSpPr/>
          <p:nvPr/>
        </p:nvSpPr>
        <p:spPr>
          <a:xfrm>
            <a:off x="4937760" y="1481328"/>
            <a:ext cx="6796735" cy="295656"/>
          </a:xfrm>
          <a:prstGeom prst="rect">
            <a:avLst/>
          </a:prstGeom>
          <a:solidFill>
            <a:srgbClr val="E6D3AA"/>
          </a:solidFill>
          <a:ln w="9525">
            <a:solidFill>
              <a:srgbClr val="C9D3DF"/>
            </a:solidFill>
            <a:prstDash val="solid"/>
          </a:ln>
        </p:spPr>
      </p:sp>
      <p:sp>
        <p:nvSpPr>
          <p:cNvPr id="11" name="bang107_t0_1"/>
          <p:cNvSpPr txBox="1"/>
          <p:nvPr/>
        </p:nvSpPr>
        <p:spPr>
          <a:xfrm>
            <a:off x="4992624" y="1527048"/>
            <a:ext cx="6687007" cy="204216"/>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Quy tắc nghiệp vụ</a:t>
            </a:r>
            <a:endParaRPr lang="en-US" sz="1200" dirty="0"/>
          </a:p>
        </p:txBody>
      </p:sp>
      <p:sp>
        <p:nvSpPr>
          <p:cNvPr id="12" name="bang107_o1_0"/>
          <p:cNvSpPr/>
          <p:nvPr/>
        </p:nvSpPr>
        <p:spPr>
          <a:xfrm>
            <a:off x="4251960" y="1776984"/>
            <a:ext cx="685800" cy="528066"/>
          </a:xfrm>
          <a:prstGeom prst="rect">
            <a:avLst/>
          </a:prstGeom>
          <a:solidFill>
            <a:srgbClr val="FFFFFF"/>
          </a:solidFill>
          <a:ln w="9525">
            <a:solidFill>
              <a:srgbClr val="C9D3DF"/>
            </a:solidFill>
            <a:prstDash val="solid"/>
          </a:ln>
        </p:spPr>
      </p:sp>
      <p:sp>
        <p:nvSpPr>
          <p:cNvPr id="13" name="bang107_t1_0"/>
          <p:cNvSpPr txBox="1"/>
          <p:nvPr/>
        </p:nvSpPr>
        <p:spPr>
          <a:xfrm>
            <a:off x="4306824" y="1822704"/>
            <a:ext cx="576072"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QT29</a:t>
            </a:r>
            <a:endParaRPr lang="en-US" sz="1350" dirty="0"/>
          </a:p>
        </p:txBody>
      </p:sp>
      <p:sp>
        <p:nvSpPr>
          <p:cNvPr id="14" name="bang107_o1_1"/>
          <p:cNvSpPr/>
          <p:nvPr/>
        </p:nvSpPr>
        <p:spPr>
          <a:xfrm>
            <a:off x="4937760" y="1776984"/>
            <a:ext cx="6796735" cy="528066"/>
          </a:xfrm>
          <a:prstGeom prst="rect">
            <a:avLst/>
          </a:prstGeom>
          <a:solidFill>
            <a:srgbClr val="FFFFFF"/>
          </a:solidFill>
          <a:ln w="9525">
            <a:solidFill>
              <a:srgbClr val="C9D3DF"/>
            </a:solidFill>
            <a:prstDash val="solid"/>
          </a:ln>
        </p:spPr>
      </p:sp>
      <p:sp>
        <p:nvSpPr>
          <p:cNvPr id="15" name="bang107_t1_1"/>
          <p:cNvSpPr txBox="1"/>
          <p:nvPr/>
        </p:nvSpPr>
        <p:spPr>
          <a:xfrm>
            <a:off x="4992624" y="1822704"/>
            <a:ext cx="6687007"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hóa đơn có cặp (ký hiệu, số hóa đơn) không trùng; tổng thanh toán bằng tiền trước thuế trừ số tiền giảm rồi cộng thuế VAT.</a:t>
            </a:r>
            <a:endParaRPr lang="en-US" sz="1350" dirty="0"/>
          </a:p>
        </p:txBody>
      </p:sp>
      <p:sp>
        <p:nvSpPr>
          <p:cNvPr id="16" name="bang107_o2_0"/>
          <p:cNvSpPr/>
          <p:nvPr/>
        </p:nvSpPr>
        <p:spPr>
          <a:xfrm>
            <a:off x="4251960" y="2305050"/>
            <a:ext cx="685800" cy="528066"/>
          </a:xfrm>
          <a:prstGeom prst="rect">
            <a:avLst/>
          </a:prstGeom>
          <a:solidFill>
            <a:srgbClr val="F7F0E1"/>
          </a:solidFill>
          <a:ln w="9525">
            <a:solidFill>
              <a:srgbClr val="C9D3DF"/>
            </a:solidFill>
            <a:prstDash val="solid"/>
          </a:ln>
        </p:spPr>
      </p:sp>
      <p:sp>
        <p:nvSpPr>
          <p:cNvPr id="17" name="bang107_t2_0"/>
          <p:cNvSpPr txBox="1"/>
          <p:nvPr/>
        </p:nvSpPr>
        <p:spPr>
          <a:xfrm>
            <a:off x="4306824" y="2350770"/>
            <a:ext cx="576072"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QT30</a:t>
            </a:r>
            <a:endParaRPr lang="en-US" sz="1350" dirty="0"/>
          </a:p>
        </p:txBody>
      </p:sp>
      <p:sp>
        <p:nvSpPr>
          <p:cNvPr id="18" name="bang107_o2_1"/>
          <p:cNvSpPr/>
          <p:nvPr/>
        </p:nvSpPr>
        <p:spPr>
          <a:xfrm>
            <a:off x="4937760" y="2305050"/>
            <a:ext cx="6796735" cy="528066"/>
          </a:xfrm>
          <a:prstGeom prst="rect">
            <a:avLst/>
          </a:prstGeom>
          <a:solidFill>
            <a:srgbClr val="F7F0E1"/>
          </a:solidFill>
          <a:ln w="9525">
            <a:solidFill>
              <a:srgbClr val="C9D3DF"/>
            </a:solidFill>
            <a:prstDash val="solid"/>
          </a:ln>
        </p:spPr>
      </p:sp>
      <p:sp>
        <p:nvSpPr>
          <p:cNvPr id="19" name="bang107_t2_1"/>
          <p:cNvSpPr txBox="1"/>
          <p:nvPr/>
        </p:nvSpPr>
        <p:spPr>
          <a:xfrm>
            <a:off x="4992624" y="2350770"/>
            <a:ext cx="6687007"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hóa đơn lập cho đúng 1 đặt chỗ; mỗi đặt chỗ có 0 hoặc nhiều hóa đơn (vé, mua thêm dịch vụ, đổi vé).</a:t>
            </a:r>
            <a:endParaRPr lang="en-US" sz="1350" dirty="0"/>
          </a:p>
        </p:txBody>
      </p:sp>
      <p:sp>
        <p:nvSpPr>
          <p:cNvPr id="20" name="bang107_o3_0"/>
          <p:cNvSpPr/>
          <p:nvPr/>
        </p:nvSpPr>
        <p:spPr>
          <a:xfrm>
            <a:off x="4251960" y="2833116"/>
            <a:ext cx="685800" cy="737235"/>
          </a:xfrm>
          <a:prstGeom prst="rect">
            <a:avLst/>
          </a:prstGeom>
          <a:solidFill>
            <a:srgbClr val="FFFFFF"/>
          </a:solidFill>
          <a:ln w="9525">
            <a:solidFill>
              <a:srgbClr val="C9D3DF"/>
            </a:solidFill>
            <a:prstDash val="solid"/>
          </a:ln>
        </p:spPr>
      </p:sp>
      <p:sp>
        <p:nvSpPr>
          <p:cNvPr id="21" name="bang107_t3_0"/>
          <p:cNvSpPr txBox="1"/>
          <p:nvPr/>
        </p:nvSpPr>
        <p:spPr>
          <a:xfrm>
            <a:off x="4306824" y="2878836"/>
            <a:ext cx="576072" cy="645795"/>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QT31</a:t>
            </a:r>
            <a:endParaRPr lang="en-US" sz="1350" dirty="0"/>
          </a:p>
        </p:txBody>
      </p:sp>
      <p:sp>
        <p:nvSpPr>
          <p:cNvPr id="22" name="bang107_o3_1"/>
          <p:cNvSpPr/>
          <p:nvPr/>
        </p:nvSpPr>
        <p:spPr>
          <a:xfrm>
            <a:off x="4937760" y="2833116"/>
            <a:ext cx="6796735" cy="737235"/>
          </a:xfrm>
          <a:prstGeom prst="rect">
            <a:avLst/>
          </a:prstGeom>
          <a:solidFill>
            <a:srgbClr val="FFFFFF"/>
          </a:solidFill>
          <a:ln w="9525">
            <a:solidFill>
              <a:srgbClr val="C9D3DF"/>
            </a:solidFill>
            <a:prstDash val="solid"/>
          </a:ln>
        </p:spPr>
      </p:sp>
      <p:sp>
        <p:nvSpPr>
          <p:cNvPr id="23" name="bang107_t3_1"/>
          <p:cNvSpPr txBox="1"/>
          <p:nvPr/>
        </p:nvSpPr>
        <p:spPr>
          <a:xfrm>
            <a:off x="4992624" y="2878836"/>
            <a:ext cx="6687007" cy="645795"/>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hóa đơn được thanh toán qua 0 hoặc nhiều giao dịch (giao dịch lỗi thì thử lại); mỗi giao dịch thuộc đúng 1 hóa đơn, phương thức là thẻ hoặc chuyển khoản.</a:t>
            </a:r>
            <a:endParaRPr lang="en-US" sz="1350" dirty="0"/>
          </a:p>
        </p:txBody>
      </p:sp>
      <p:sp>
        <p:nvSpPr>
          <p:cNvPr id="24" name="bang107_o4_0"/>
          <p:cNvSpPr/>
          <p:nvPr/>
        </p:nvSpPr>
        <p:spPr>
          <a:xfrm>
            <a:off x="4251960" y="3570351"/>
            <a:ext cx="685800" cy="737235"/>
          </a:xfrm>
          <a:prstGeom prst="rect">
            <a:avLst/>
          </a:prstGeom>
          <a:solidFill>
            <a:srgbClr val="F7F0E1"/>
          </a:solidFill>
          <a:ln w="9525">
            <a:solidFill>
              <a:srgbClr val="C9D3DF"/>
            </a:solidFill>
            <a:prstDash val="solid"/>
          </a:ln>
        </p:spPr>
      </p:sp>
      <p:sp>
        <p:nvSpPr>
          <p:cNvPr id="25" name="bang107_t4_0"/>
          <p:cNvSpPr txBox="1"/>
          <p:nvPr/>
        </p:nvSpPr>
        <p:spPr>
          <a:xfrm>
            <a:off x="4306824" y="3616071"/>
            <a:ext cx="576072" cy="645795"/>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QT32</a:t>
            </a:r>
            <a:endParaRPr lang="en-US" sz="1350" dirty="0"/>
          </a:p>
        </p:txBody>
      </p:sp>
      <p:sp>
        <p:nvSpPr>
          <p:cNvPr id="26" name="bang107_o4_1"/>
          <p:cNvSpPr/>
          <p:nvPr/>
        </p:nvSpPr>
        <p:spPr>
          <a:xfrm>
            <a:off x="4937760" y="3570351"/>
            <a:ext cx="6796735" cy="737235"/>
          </a:xfrm>
          <a:prstGeom prst="rect">
            <a:avLst/>
          </a:prstGeom>
          <a:solidFill>
            <a:srgbClr val="F7F0E1"/>
          </a:solidFill>
          <a:ln w="9525">
            <a:solidFill>
              <a:srgbClr val="C9D3DF"/>
            </a:solidFill>
            <a:prstDash val="solid"/>
          </a:ln>
        </p:spPr>
      </p:sp>
      <p:sp>
        <p:nvSpPr>
          <p:cNvPr id="27" name="bang107_t4_1"/>
          <p:cNvSpPr txBox="1"/>
          <p:nvPr/>
        </p:nvSpPr>
        <p:spPr>
          <a:xfrm>
            <a:off x="4992624" y="3616071"/>
            <a:ext cx="6687007" cy="645795"/>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hóa đơn áp dụng 0 hoặc 1 mã khuyến mãi; mỗi mã dùng cho 0 hoặc nhiều hóa đơn, nhưng không quá số lượt tối đa và chỉ trong thời hạn hiệu lực.</a:t>
            </a:r>
            <a:endParaRPr lang="en-US" sz="1350" dirty="0"/>
          </a:p>
        </p:txBody>
      </p:sp>
      <p:sp>
        <p:nvSpPr>
          <p:cNvPr id="28" name="bang107_o5_0"/>
          <p:cNvSpPr/>
          <p:nvPr/>
        </p:nvSpPr>
        <p:spPr>
          <a:xfrm>
            <a:off x="4251960" y="4307586"/>
            <a:ext cx="685800" cy="528066"/>
          </a:xfrm>
          <a:prstGeom prst="rect">
            <a:avLst/>
          </a:prstGeom>
          <a:solidFill>
            <a:srgbClr val="FFFFFF"/>
          </a:solidFill>
          <a:ln w="9525">
            <a:solidFill>
              <a:srgbClr val="C9D3DF"/>
            </a:solidFill>
            <a:prstDash val="solid"/>
          </a:ln>
        </p:spPr>
      </p:sp>
      <p:sp>
        <p:nvSpPr>
          <p:cNvPr id="29" name="bang107_t5_0"/>
          <p:cNvSpPr txBox="1"/>
          <p:nvPr/>
        </p:nvSpPr>
        <p:spPr>
          <a:xfrm>
            <a:off x="4306824" y="4353306"/>
            <a:ext cx="576072"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QT33</a:t>
            </a:r>
            <a:endParaRPr lang="en-US" sz="1350" dirty="0"/>
          </a:p>
        </p:txBody>
      </p:sp>
      <p:sp>
        <p:nvSpPr>
          <p:cNvPr id="30" name="bang107_o5_1"/>
          <p:cNvSpPr/>
          <p:nvPr/>
        </p:nvSpPr>
        <p:spPr>
          <a:xfrm>
            <a:off x="4937760" y="4307586"/>
            <a:ext cx="6796735" cy="528066"/>
          </a:xfrm>
          <a:prstGeom prst="rect">
            <a:avLst/>
          </a:prstGeom>
          <a:solidFill>
            <a:srgbClr val="FFFFFF"/>
          </a:solidFill>
          <a:ln w="9525">
            <a:solidFill>
              <a:srgbClr val="C9D3DF"/>
            </a:solidFill>
            <a:prstDash val="solid"/>
          </a:ln>
        </p:spPr>
      </p:sp>
      <p:sp>
        <p:nvSpPr>
          <p:cNvPr id="31" name="bang107_t5_1"/>
          <p:cNvSpPr txBox="1"/>
          <p:nvPr/>
        </p:nvSpPr>
        <p:spPr>
          <a:xfrm>
            <a:off x="4992624" y="4353306"/>
            <a:ext cx="6687007" cy="436626"/>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Mỗi hóa đơn do 0 hoặc 1 nhân viên lập (đặt trực tuyến thì hệ thống tự lập); mỗi nhân viên lập 0 hoặc nhiều hóa đơn.</a:t>
            </a:r>
            <a:endParaRPr lang="en-US" sz="135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ERD phân hệ F</a:t>
            </a:r>
            <a:endParaRPr lang="en-US" sz="2600" dirty="0"/>
          </a:p>
        </p:txBody>
      </p:sp>
      <p:pic>
        <p:nvPicPr>
          <p:cNvPr id="3" name="erd_F" descr="erd_F">    </p:cNvPr>
          <p:cNvPicPr>
            <a:picLocks noChangeAspect="1"/>
          </p:cNvPicPr>
          <p:nvPr/>
        </p:nvPicPr>
        <p:blipFill>
          <a:blip r:embed="rId1"/>
          <a:stretch>
            <a:fillRect/>
          </a:stretch>
        </p:blipFill>
        <p:spPr>
          <a:xfrm>
            <a:off x="3416987" y="1389888"/>
            <a:ext cx="5357722" cy="4919472"/>
          </a:xfrm>
          <a:prstGeom prst="rect">
            <a:avLst/>
          </a:prstGeom>
        </p:spPr>
      </p:pic>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Bảng liên kết và multiplicity</a:t>
            </a:r>
            <a:endParaRPr lang="en-US" sz="2600" dirty="0"/>
          </a:p>
        </p:txBody>
      </p:sp>
      <p:sp>
        <p:nvSpPr>
          <p:cNvPr id="3" name="bang108_o0_0"/>
          <p:cNvSpPr/>
          <p:nvPr/>
        </p:nvSpPr>
        <p:spPr>
          <a:xfrm>
            <a:off x="457200" y="1481328"/>
            <a:ext cx="914400" cy="667512"/>
          </a:xfrm>
          <a:prstGeom prst="rect">
            <a:avLst/>
          </a:prstGeom>
          <a:solidFill>
            <a:srgbClr val="E6D3AA"/>
          </a:solidFill>
          <a:ln w="9525">
            <a:solidFill>
              <a:srgbClr val="C9D3DF"/>
            </a:solidFill>
            <a:prstDash val="solid"/>
          </a:ln>
        </p:spPr>
      </p:sp>
      <p:sp>
        <p:nvSpPr>
          <p:cNvPr id="4" name="bang108_t0_0"/>
          <p:cNvSpPr txBox="1"/>
          <p:nvPr/>
        </p:nvSpPr>
        <p:spPr>
          <a:xfrm>
            <a:off x="512064" y="1527048"/>
            <a:ext cx="80467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Mã</a:t>
            </a:r>
            <a:endParaRPr lang="en-US" sz="1200" dirty="0"/>
          </a:p>
        </p:txBody>
      </p:sp>
      <p:sp>
        <p:nvSpPr>
          <p:cNvPr id="5" name="bang108_o0_1"/>
          <p:cNvSpPr/>
          <p:nvPr/>
        </p:nvSpPr>
        <p:spPr>
          <a:xfrm>
            <a:off x="1371600" y="1481328"/>
            <a:ext cx="1828800" cy="667512"/>
          </a:xfrm>
          <a:prstGeom prst="rect">
            <a:avLst/>
          </a:prstGeom>
          <a:solidFill>
            <a:srgbClr val="E6D3AA"/>
          </a:solidFill>
          <a:ln w="9525">
            <a:solidFill>
              <a:srgbClr val="C9D3DF"/>
            </a:solidFill>
            <a:prstDash val="solid"/>
          </a:ln>
        </p:spPr>
      </p:sp>
      <p:sp>
        <p:nvSpPr>
          <p:cNvPr id="6" name="bang108_t0_1"/>
          <p:cNvSpPr txBox="1"/>
          <p:nvPr/>
        </p:nvSpPr>
        <p:spPr>
          <a:xfrm>
            <a:off x="1426464" y="1527048"/>
            <a:ext cx="171907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Tên liên kết</a:t>
            </a:r>
            <a:endParaRPr lang="en-US" sz="1200" dirty="0"/>
          </a:p>
        </p:txBody>
      </p:sp>
      <p:sp>
        <p:nvSpPr>
          <p:cNvPr id="7" name="bang108_o0_2"/>
          <p:cNvSpPr/>
          <p:nvPr/>
        </p:nvSpPr>
        <p:spPr>
          <a:xfrm>
            <a:off x="3200400" y="1481328"/>
            <a:ext cx="1965960" cy="667512"/>
          </a:xfrm>
          <a:prstGeom prst="rect">
            <a:avLst/>
          </a:prstGeom>
          <a:solidFill>
            <a:srgbClr val="E6D3AA"/>
          </a:solidFill>
          <a:ln w="9525">
            <a:solidFill>
              <a:srgbClr val="C9D3DF"/>
            </a:solidFill>
            <a:prstDash val="solid"/>
          </a:ln>
        </p:spPr>
      </p:sp>
      <p:sp>
        <p:nvSpPr>
          <p:cNvPr id="8" name="bang108_t0_2"/>
          <p:cNvSpPr txBox="1"/>
          <p:nvPr/>
        </p:nvSpPr>
        <p:spPr>
          <a:xfrm>
            <a:off x="3255264" y="1527048"/>
            <a:ext cx="185623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Thực thể A</a:t>
            </a:r>
            <a:endParaRPr lang="en-US" sz="1200" dirty="0"/>
          </a:p>
        </p:txBody>
      </p:sp>
      <p:sp>
        <p:nvSpPr>
          <p:cNvPr id="9" name="bang108_o0_3"/>
          <p:cNvSpPr/>
          <p:nvPr/>
        </p:nvSpPr>
        <p:spPr>
          <a:xfrm>
            <a:off x="5166360" y="1481328"/>
            <a:ext cx="2148840" cy="667512"/>
          </a:xfrm>
          <a:prstGeom prst="rect">
            <a:avLst/>
          </a:prstGeom>
          <a:solidFill>
            <a:srgbClr val="E6D3AA"/>
          </a:solidFill>
          <a:ln w="9525">
            <a:solidFill>
              <a:srgbClr val="C9D3DF"/>
            </a:solidFill>
            <a:prstDash val="solid"/>
          </a:ln>
        </p:spPr>
      </p:sp>
      <p:sp>
        <p:nvSpPr>
          <p:cNvPr id="10" name="bang108_t0_3"/>
          <p:cNvSpPr txBox="1"/>
          <p:nvPr/>
        </p:nvSpPr>
        <p:spPr>
          <a:xfrm>
            <a:off x="5221224" y="1527048"/>
            <a:ext cx="203911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Thực thể B</a:t>
            </a:r>
            <a:endParaRPr lang="en-US" sz="1200" dirty="0"/>
          </a:p>
        </p:txBody>
      </p:sp>
      <p:sp>
        <p:nvSpPr>
          <p:cNvPr id="11" name="bang108_o0_4"/>
          <p:cNvSpPr/>
          <p:nvPr/>
        </p:nvSpPr>
        <p:spPr>
          <a:xfrm>
            <a:off x="7315200" y="1481328"/>
            <a:ext cx="960120" cy="667512"/>
          </a:xfrm>
          <a:prstGeom prst="rect">
            <a:avLst/>
          </a:prstGeom>
          <a:solidFill>
            <a:srgbClr val="E6D3AA"/>
          </a:solidFill>
          <a:ln w="9525">
            <a:solidFill>
              <a:srgbClr val="C9D3DF"/>
            </a:solidFill>
            <a:prstDash val="solid"/>
          </a:ln>
        </p:spPr>
      </p:sp>
      <p:sp>
        <p:nvSpPr>
          <p:cNvPr id="12" name="bang108_t0_4"/>
          <p:cNvSpPr txBox="1"/>
          <p:nvPr/>
        </p:nvSpPr>
        <p:spPr>
          <a:xfrm>
            <a:off x="7370064" y="1527048"/>
            <a:ext cx="85039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Mỗi A có bao nhiêu B</a:t>
            </a:r>
            <a:endParaRPr lang="en-US" sz="1200" dirty="0"/>
          </a:p>
        </p:txBody>
      </p:sp>
      <p:sp>
        <p:nvSpPr>
          <p:cNvPr id="13" name="bang108_o0_5"/>
          <p:cNvSpPr/>
          <p:nvPr/>
        </p:nvSpPr>
        <p:spPr>
          <a:xfrm>
            <a:off x="8275320" y="1481328"/>
            <a:ext cx="960120" cy="667512"/>
          </a:xfrm>
          <a:prstGeom prst="rect">
            <a:avLst/>
          </a:prstGeom>
          <a:solidFill>
            <a:srgbClr val="E6D3AA"/>
          </a:solidFill>
          <a:ln w="9525">
            <a:solidFill>
              <a:srgbClr val="C9D3DF"/>
            </a:solidFill>
            <a:prstDash val="solid"/>
          </a:ln>
        </p:spPr>
      </p:sp>
      <p:sp>
        <p:nvSpPr>
          <p:cNvPr id="14" name="bang108_t0_5"/>
          <p:cNvSpPr txBox="1"/>
          <p:nvPr/>
        </p:nvSpPr>
        <p:spPr>
          <a:xfrm>
            <a:off x="8330184" y="1527048"/>
            <a:ext cx="85039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Mỗi B có bao nhiêu A</a:t>
            </a:r>
            <a:endParaRPr lang="en-US" sz="1200" dirty="0"/>
          </a:p>
        </p:txBody>
      </p:sp>
      <p:sp>
        <p:nvSpPr>
          <p:cNvPr id="15" name="bang108_o0_6"/>
          <p:cNvSpPr/>
          <p:nvPr/>
        </p:nvSpPr>
        <p:spPr>
          <a:xfrm>
            <a:off x="9235440" y="1481328"/>
            <a:ext cx="1828800" cy="667512"/>
          </a:xfrm>
          <a:prstGeom prst="rect">
            <a:avLst/>
          </a:prstGeom>
          <a:solidFill>
            <a:srgbClr val="E6D3AA"/>
          </a:solidFill>
          <a:ln w="9525">
            <a:solidFill>
              <a:srgbClr val="C9D3DF"/>
            </a:solidFill>
            <a:prstDash val="solid"/>
          </a:ln>
        </p:spPr>
      </p:sp>
      <p:sp>
        <p:nvSpPr>
          <p:cNvPr id="16" name="bang108_t0_6"/>
          <p:cNvSpPr txBox="1"/>
          <p:nvPr/>
        </p:nvSpPr>
        <p:spPr>
          <a:xfrm>
            <a:off x="9290304" y="1527048"/>
            <a:ext cx="1719072"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Thuộc tính liên kết</a:t>
            </a:r>
            <a:endParaRPr lang="en-US" sz="1200" dirty="0"/>
          </a:p>
        </p:txBody>
      </p:sp>
      <p:sp>
        <p:nvSpPr>
          <p:cNvPr id="17" name="bang108_o0_7"/>
          <p:cNvSpPr/>
          <p:nvPr/>
        </p:nvSpPr>
        <p:spPr>
          <a:xfrm>
            <a:off x="11064240" y="1481328"/>
            <a:ext cx="667512" cy="667512"/>
          </a:xfrm>
          <a:prstGeom prst="rect">
            <a:avLst/>
          </a:prstGeom>
          <a:solidFill>
            <a:srgbClr val="E6D3AA"/>
          </a:solidFill>
          <a:ln w="9525">
            <a:solidFill>
              <a:srgbClr val="C9D3DF"/>
            </a:solidFill>
            <a:prstDash val="solid"/>
          </a:ln>
        </p:spPr>
      </p:sp>
      <p:sp>
        <p:nvSpPr>
          <p:cNvPr id="18" name="bang108_t0_7"/>
          <p:cNvSpPr txBox="1"/>
          <p:nvPr/>
        </p:nvSpPr>
        <p:spPr>
          <a:xfrm>
            <a:off x="11119104" y="1527048"/>
            <a:ext cx="557784" cy="576072"/>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QT</a:t>
            </a:r>
            <a:endParaRPr lang="en-US" sz="1200" dirty="0"/>
          </a:p>
        </p:txBody>
      </p:sp>
      <p:sp>
        <p:nvSpPr>
          <p:cNvPr id="19" name="bang108_o1_0"/>
          <p:cNvSpPr/>
          <p:nvPr/>
        </p:nvSpPr>
        <p:spPr>
          <a:xfrm>
            <a:off x="457200" y="2148840"/>
            <a:ext cx="914400" cy="512572"/>
          </a:xfrm>
          <a:prstGeom prst="rect">
            <a:avLst/>
          </a:prstGeom>
          <a:solidFill>
            <a:srgbClr val="FFFFFF"/>
          </a:solidFill>
          <a:ln w="9525">
            <a:solidFill>
              <a:srgbClr val="C9D3DF"/>
            </a:solidFill>
            <a:prstDash val="solid"/>
          </a:ln>
        </p:spPr>
      </p:sp>
      <p:sp>
        <p:nvSpPr>
          <p:cNvPr id="20" name="bang108_t1_0"/>
          <p:cNvSpPr txBox="1"/>
          <p:nvPr/>
        </p:nvSpPr>
        <p:spPr>
          <a:xfrm>
            <a:off x="512064" y="2194560"/>
            <a:ext cx="8046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LK23 (*)</a:t>
            </a:r>
            <a:endParaRPr lang="en-US" sz="1300" dirty="0"/>
          </a:p>
        </p:txBody>
      </p:sp>
      <p:sp>
        <p:nvSpPr>
          <p:cNvPr id="21" name="bang108_o1_1"/>
          <p:cNvSpPr/>
          <p:nvPr/>
        </p:nvSpPr>
        <p:spPr>
          <a:xfrm>
            <a:off x="1371600" y="2148840"/>
            <a:ext cx="1828800" cy="512572"/>
          </a:xfrm>
          <a:prstGeom prst="rect">
            <a:avLst/>
          </a:prstGeom>
          <a:solidFill>
            <a:srgbClr val="FFFFFF"/>
          </a:solidFill>
          <a:ln w="9525">
            <a:solidFill>
              <a:srgbClr val="C9D3DF"/>
            </a:solidFill>
            <a:prstDash val="solid"/>
          </a:ln>
        </p:spPr>
      </p:sp>
      <p:sp>
        <p:nvSpPr>
          <p:cNvPr id="22" name="bang108_t1_1"/>
          <p:cNvSpPr txBox="1"/>
          <p:nvPr/>
        </p:nvSpPr>
        <p:spPr>
          <a:xfrm>
            <a:off x="1426464" y="2194560"/>
            <a:ext cx="17190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Lập cho</a:t>
            </a:r>
            <a:endParaRPr lang="en-US" sz="1300" dirty="0"/>
          </a:p>
        </p:txBody>
      </p:sp>
      <p:sp>
        <p:nvSpPr>
          <p:cNvPr id="23" name="bang108_o1_2"/>
          <p:cNvSpPr/>
          <p:nvPr/>
        </p:nvSpPr>
        <p:spPr>
          <a:xfrm>
            <a:off x="3200400" y="2148840"/>
            <a:ext cx="1965960" cy="512572"/>
          </a:xfrm>
          <a:prstGeom prst="rect">
            <a:avLst/>
          </a:prstGeom>
          <a:solidFill>
            <a:srgbClr val="FFFFFF"/>
          </a:solidFill>
          <a:ln w="9525">
            <a:solidFill>
              <a:srgbClr val="C9D3DF"/>
            </a:solidFill>
            <a:prstDash val="solid"/>
          </a:ln>
        </p:spPr>
      </p:sp>
      <p:sp>
        <p:nvSpPr>
          <p:cNvPr id="24" name="bang108_t1_2"/>
          <p:cNvSpPr txBox="1"/>
          <p:nvPr/>
        </p:nvSpPr>
        <p:spPr>
          <a:xfrm>
            <a:off x="3255264" y="2194560"/>
            <a:ext cx="185623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DAT_CHO</a:t>
            </a:r>
            <a:endParaRPr lang="en-US" sz="1300" dirty="0"/>
          </a:p>
        </p:txBody>
      </p:sp>
      <p:sp>
        <p:nvSpPr>
          <p:cNvPr id="25" name="bang108_o1_3"/>
          <p:cNvSpPr/>
          <p:nvPr/>
        </p:nvSpPr>
        <p:spPr>
          <a:xfrm>
            <a:off x="5166360" y="2148840"/>
            <a:ext cx="2148840" cy="512572"/>
          </a:xfrm>
          <a:prstGeom prst="rect">
            <a:avLst/>
          </a:prstGeom>
          <a:solidFill>
            <a:srgbClr val="FFFFFF"/>
          </a:solidFill>
          <a:ln w="9525">
            <a:solidFill>
              <a:srgbClr val="C9D3DF"/>
            </a:solidFill>
            <a:prstDash val="solid"/>
          </a:ln>
        </p:spPr>
      </p:sp>
      <p:sp>
        <p:nvSpPr>
          <p:cNvPr id="26" name="bang108_t1_3"/>
          <p:cNvSpPr txBox="1"/>
          <p:nvPr/>
        </p:nvSpPr>
        <p:spPr>
          <a:xfrm>
            <a:off x="5221224" y="2194560"/>
            <a:ext cx="203911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HOA_DON</a:t>
            </a:r>
            <a:endParaRPr lang="en-US" sz="1300" dirty="0"/>
          </a:p>
        </p:txBody>
      </p:sp>
      <p:sp>
        <p:nvSpPr>
          <p:cNvPr id="27" name="bang108_o1_4"/>
          <p:cNvSpPr/>
          <p:nvPr/>
        </p:nvSpPr>
        <p:spPr>
          <a:xfrm>
            <a:off x="7315200" y="2148840"/>
            <a:ext cx="960120" cy="512572"/>
          </a:xfrm>
          <a:prstGeom prst="rect">
            <a:avLst/>
          </a:prstGeom>
          <a:solidFill>
            <a:srgbClr val="FFFFFF"/>
          </a:solidFill>
          <a:ln w="9525">
            <a:solidFill>
              <a:srgbClr val="C9D3DF"/>
            </a:solidFill>
            <a:prstDash val="solid"/>
          </a:ln>
        </p:spPr>
      </p:sp>
      <p:sp>
        <p:nvSpPr>
          <p:cNvPr id="28" name="bang108_t1_4"/>
          <p:cNvSpPr txBox="1"/>
          <p:nvPr/>
        </p:nvSpPr>
        <p:spPr>
          <a:xfrm>
            <a:off x="7370064" y="2194560"/>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29" name="bang108_o1_5"/>
          <p:cNvSpPr/>
          <p:nvPr/>
        </p:nvSpPr>
        <p:spPr>
          <a:xfrm>
            <a:off x="8275320" y="2148840"/>
            <a:ext cx="960120" cy="512572"/>
          </a:xfrm>
          <a:prstGeom prst="rect">
            <a:avLst/>
          </a:prstGeom>
          <a:solidFill>
            <a:srgbClr val="FFFFFF"/>
          </a:solidFill>
          <a:ln w="9525">
            <a:solidFill>
              <a:srgbClr val="C9D3DF"/>
            </a:solidFill>
            <a:prstDash val="solid"/>
          </a:ln>
        </p:spPr>
      </p:sp>
      <p:sp>
        <p:nvSpPr>
          <p:cNvPr id="30" name="bang108_t1_5"/>
          <p:cNvSpPr txBox="1"/>
          <p:nvPr/>
        </p:nvSpPr>
        <p:spPr>
          <a:xfrm>
            <a:off x="8330184" y="2194560"/>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1..1</a:t>
            </a:r>
            <a:endParaRPr lang="en-US" sz="1300" dirty="0"/>
          </a:p>
        </p:txBody>
      </p:sp>
      <p:sp>
        <p:nvSpPr>
          <p:cNvPr id="31" name="bang108_o1_6"/>
          <p:cNvSpPr/>
          <p:nvPr/>
        </p:nvSpPr>
        <p:spPr>
          <a:xfrm>
            <a:off x="9235440" y="2148840"/>
            <a:ext cx="1828800" cy="512572"/>
          </a:xfrm>
          <a:prstGeom prst="rect">
            <a:avLst/>
          </a:prstGeom>
          <a:solidFill>
            <a:srgbClr val="FFFFFF"/>
          </a:solidFill>
          <a:ln w="9525">
            <a:solidFill>
              <a:srgbClr val="C9D3DF"/>
            </a:solidFill>
            <a:prstDash val="solid"/>
          </a:ln>
        </p:spPr>
      </p:sp>
      <p:sp>
        <p:nvSpPr>
          <p:cNvPr id="32" name="bang108_o1_7"/>
          <p:cNvSpPr/>
          <p:nvPr/>
        </p:nvSpPr>
        <p:spPr>
          <a:xfrm>
            <a:off x="11064240" y="2148840"/>
            <a:ext cx="667512" cy="512572"/>
          </a:xfrm>
          <a:prstGeom prst="rect">
            <a:avLst/>
          </a:prstGeom>
          <a:solidFill>
            <a:srgbClr val="FFFFFF"/>
          </a:solidFill>
          <a:ln w="9525">
            <a:solidFill>
              <a:srgbClr val="C9D3DF"/>
            </a:solidFill>
            <a:prstDash val="solid"/>
          </a:ln>
        </p:spPr>
      </p:sp>
      <p:sp>
        <p:nvSpPr>
          <p:cNvPr id="33" name="bang108_t1_7"/>
          <p:cNvSpPr txBox="1"/>
          <p:nvPr/>
        </p:nvSpPr>
        <p:spPr>
          <a:xfrm>
            <a:off x="11119104" y="2194560"/>
            <a:ext cx="557784"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QT30</a:t>
            </a:r>
            <a:endParaRPr lang="en-US" sz="1300" dirty="0"/>
          </a:p>
        </p:txBody>
      </p:sp>
      <p:sp>
        <p:nvSpPr>
          <p:cNvPr id="34" name="bang108_o2_0"/>
          <p:cNvSpPr/>
          <p:nvPr/>
        </p:nvSpPr>
        <p:spPr>
          <a:xfrm>
            <a:off x="457200" y="2661412"/>
            <a:ext cx="914400" cy="311150"/>
          </a:xfrm>
          <a:prstGeom prst="rect">
            <a:avLst/>
          </a:prstGeom>
          <a:solidFill>
            <a:srgbClr val="F7F0E1"/>
          </a:solidFill>
          <a:ln w="9525">
            <a:solidFill>
              <a:srgbClr val="C9D3DF"/>
            </a:solidFill>
            <a:prstDash val="solid"/>
          </a:ln>
        </p:spPr>
      </p:sp>
      <p:sp>
        <p:nvSpPr>
          <p:cNvPr id="35" name="bang108_t2_0"/>
          <p:cNvSpPr txBox="1"/>
          <p:nvPr/>
        </p:nvSpPr>
        <p:spPr>
          <a:xfrm>
            <a:off x="512064" y="2707132"/>
            <a:ext cx="8046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LK24</a:t>
            </a:r>
            <a:endParaRPr lang="en-US" sz="1300" dirty="0"/>
          </a:p>
        </p:txBody>
      </p:sp>
      <p:sp>
        <p:nvSpPr>
          <p:cNvPr id="36" name="bang108_o2_1"/>
          <p:cNvSpPr/>
          <p:nvPr/>
        </p:nvSpPr>
        <p:spPr>
          <a:xfrm>
            <a:off x="1371600" y="2661412"/>
            <a:ext cx="1828800" cy="311150"/>
          </a:xfrm>
          <a:prstGeom prst="rect">
            <a:avLst/>
          </a:prstGeom>
          <a:solidFill>
            <a:srgbClr val="F7F0E1"/>
          </a:solidFill>
          <a:ln w="9525">
            <a:solidFill>
              <a:srgbClr val="C9D3DF"/>
            </a:solidFill>
            <a:prstDash val="solid"/>
          </a:ln>
        </p:spPr>
      </p:sp>
      <p:sp>
        <p:nvSpPr>
          <p:cNvPr id="37" name="bang108_t2_1"/>
          <p:cNvSpPr txBox="1"/>
          <p:nvPr/>
        </p:nvSpPr>
        <p:spPr>
          <a:xfrm>
            <a:off x="1426464" y="2707132"/>
            <a:ext cx="17190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Thanh toán qua</a:t>
            </a:r>
            <a:endParaRPr lang="en-US" sz="1300" dirty="0"/>
          </a:p>
        </p:txBody>
      </p:sp>
      <p:sp>
        <p:nvSpPr>
          <p:cNvPr id="38" name="bang108_o2_2"/>
          <p:cNvSpPr/>
          <p:nvPr/>
        </p:nvSpPr>
        <p:spPr>
          <a:xfrm>
            <a:off x="3200400" y="2661412"/>
            <a:ext cx="1965960" cy="311150"/>
          </a:xfrm>
          <a:prstGeom prst="rect">
            <a:avLst/>
          </a:prstGeom>
          <a:solidFill>
            <a:srgbClr val="F7F0E1"/>
          </a:solidFill>
          <a:ln w="9525">
            <a:solidFill>
              <a:srgbClr val="C9D3DF"/>
            </a:solidFill>
            <a:prstDash val="solid"/>
          </a:ln>
        </p:spPr>
      </p:sp>
      <p:sp>
        <p:nvSpPr>
          <p:cNvPr id="39" name="bang108_t2_2"/>
          <p:cNvSpPr txBox="1"/>
          <p:nvPr/>
        </p:nvSpPr>
        <p:spPr>
          <a:xfrm>
            <a:off x="3255264" y="2707132"/>
            <a:ext cx="185623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HOA_DON</a:t>
            </a:r>
            <a:endParaRPr lang="en-US" sz="1300" dirty="0"/>
          </a:p>
        </p:txBody>
      </p:sp>
      <p:sp>
        <p:nvSpPr>
          <p:cNvPr id="40" name="bang108_o2_3"/>
          <p:cNvSpPr/>
          <p:nvPr/>
        </p:nvSpPr>
        <p:spPr>
          <a:xfrm>
            <a:off x="5166360" y="2661412"/>
            <a:ext cx="2148840" cy="311150"/>
          </a:xfrm>
          <a:prstGeom prst="rect">
            <a:avLst/>
          </a:prstGeom>
          <a:solidFill>
            <a:srgbClr val="F7F0E1"/>
          </a:solidFill>
          <a:ln w="9525">
            <a:solidFill>
              <a:srgbClr val="C9D3DF"/>
            </a:solidFill>
            <a:prstDash val="solid"/>
          </a:ln>
        </p:spPr>
      </p:sp>
      <p:sp>
        <p:nvSpPr>
          <p:cNvPr id="41" name="bang108_t2_3"/>
          <p:cNvSpPr txBox="1"/>
          <p:nvPr/>
        </p:nvSpPr>
        <p:spPr>
          <a:xfrm>
            <a:off x="5221224" y="2707132"/>
            <a:ext cx="203911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GIAO_DICH_THANH_TOAN</a:t>
            </a:r>
            <a:endParaRPr lang="en-US" sz="1300" dirty="0"/>
          </a:p>
        </p:txBody>
      </p:sp>
      <p:sp>
        <p:nvSpPr>
          <p:cNvPr id="42" name="bang108_o2_4"/>
          <p:cNvSpPr/>
          <p:nvPr/>
        </p:nvSpPr>
        <p:spPr>
          <a:xfrm>
            <a:off x="7315200" y="2661412"/>
            <a:ext cx="960120" cy="311150"/>
          </a:xfrm>
          <a:prstGeom prst="rect">
            <a:avLst/>
          </a:prstGeom>
          <a:solidFill>
            <a:srgbClr val="F7F0E1"/>
          </a:solidFill>
          <a:ln w="9525">
            <a:solidFill>
              <a:srgbClr val="C9D3DF"/>
            </a:solidFill>
            <a:prstDash val="solid"/>
          </a:ln>
        </p:spPr>
      </p:sp>
      <p:sp>
        <p:nvSpPr>
          <p:cNvPr id="43" name="bang108_t2_4"/>
          <p:cNvSpPr txBox="1"/>
          <p:nvPr/>
        </p:nvSpPr>
        <p:spPr>
          <a:xfrm>
            <a:off x="7370064" y="2707132"/>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44" name="bang108_o2_5"/>
          <p:cNvSpPr/>
          <p:nvPr/>
        </p:nvSpPr>
        <p:spPr>
          <a:xfrm>
            <a:off x="8275320" y="2661412"/>
            <a:ext cx="960120" cy="311150"/>
          </a:xfrm>
          <a:prstGeom prst="rect">
            <a:avLst/>
          </a:prstGeom>
          <a:solidFill>
            <a:srgbClr val="F7F0E1"/>
          </a:solidFill>
          <a:ln w="9525">
            <a:solidFill>
              <a:srgbClr val="C9D3DF"/>
            </a:solidFill>
            <a:prstDash val="solid"/>
          </a:ln>
        </p:spPr>
      </p:sp>
      <p:sp>
        <p:nvSpPr>
          <p:cNvPr id="45" name="bang108_t2_5"/>
          <p:cNvSpPr txBox="1"/>
          <p:nvPr/>
        </p:nvSpPr>
        <p:spPr>
          <a:xfrm>
            <a:off x="8330184" y="2707132"/>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1..1</a:t>
            </a:r>
            <a:endParaRPr lang="en-US" sz="1300" dirty="0"/>
          </a:p>
        </p:txBody>
      </p:sp>
      <p:sp>
        <p:nvSpPr>
          <p:cNvPr id="46" name="bang108_o2_6"/>
          <p:cNvSpPr/>
          <p:nvPr/>
        </p:nvSpPr>
        <p:spPr>
          <a:xfrm>
            <a:off x="9235440" y="2661412"/>
            <a:ext cx="1828800" cy="311150"/>
          </a:xfrm>
          <a:prstGeom prst="rect">
            <a:avLst/>
          </a:prstGeom>
          <a:solidFill>
            <a:srgbClr val="F7F0E1"/>
          </a:solidFill>
          <a:ln w="9525">
            <a:solidFill>
              <a:srgbClr val="C9D3DF"/>
            </a:solidFill>
            <a:prstDash val="solid"/>
          </a:ln>
        </p:spPr>
      </p:sp>
      <p:sp>
        <p:nvSpPr>
          <p:cNvPr id="47" name="bang108_o2_7"/>
          <p:cNvSpPr/>
          <p:nvPr/>
        </p:nvSpPr>
        <p:spPr>
          <a:xfrm>
            <a:off x="11064240" y="2661412"/>
            <a:ext cx="667512" cy="311150"/>
          </a:xfrm>
          <a:prstGeom prst="rect">
            <a:avLst/>
          </a:prstGeom>
          <a:solidFill>
            <a:srgbClr val="F7F0E1"/>
          </a:solidFill>
          <a:ln w="9525">
            <a:solidFill>
              <a:srgbClr val="C9D3DF"/>
            </a:solidFill>
            <a:prstDash val="solid"/>
          </a:ln>
        </p:spPr>
      </p:sp>
      <p:sp>
        <p:nvSpPr>
          <p:cNvPr id="48" name="bang108_t2_7"/>
          <p:cNvSpPr txBox="1"/>
          <p:nvPr/>
        </p:nvSpPr>
        <p:spPr>
          <a:xfrm>
            <a:off x="11119104" y="2707132"/>
            <a:ext cx="557784"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QT31</a:t>
            </a:r>
            <a:endParaRPr lang="en-US" sz="1300" dirty="0"/>
          </a:p>
        </p:txBody>
      </p:sp>
      <p:sp>
        <p:nvSpPr>
          <p:cNvPr id="49" name="bang108_o3_0"/>
          <p:cNvSpPr/>
          <p:nvPr/>
        </p:nvSpPr>
        <p:spPr>
          <a:xfrm>
            <a:off x="457200" y="2972562"/>
            <a:ext cx="914400" cy="311150"/>
          </a:xfrm>
          <a:prstGeom prst="rect">
            <a:avLst/>
          </a:prstGeom>
          <a:solidFill>
            <a:srgbClr val="FFFFFF"/>
          </a:solidFill>
          <a:ln w="9525">
            <a:solidFill>
              <a:srgbClr val="C9D3DF"/>
            </a:solidFill>
            <a:prstDash val="solid"/>
          </a:ln>
        </p:spPr>
      </p:sp>
      <p:sp>
        <p:nvSpPr>
          <p:cNvPr id="50" name="bang108_t3_0"/>
          <p:cNvSpPr txBox="1"/>
          <p:nvPr/>
        </p:nvSpPr>
        <p:spPr>
          <a:xfrm>
            <a:off x="512064" y="3018282"/>
            <a:ext cx="8046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LK25</a:t>
            </a:r>
            <a:endParaRPr lang="en-US" sz="1300" dirty="0"/>
          </a:p>
        </p:txBody>
      </p:sp>
      <p:sp>
        <p:nvSpPr>
          <p:cNvPr id="51" name="bang108_o3_1"/>
          <p:cNvSpPr/>
          <p:nvPr/>
        </p:nvSpPr>
        <p:spPr>
          <a:xfrm>
            <a:off x="1371600" y="2972562"/>
            <a:ext cx="1828800" cy="311150"/>
          </a:xfrm>
          <a:prstGeom prst="rect">
            <a:avLst/>
          </a:prstGeom>
          <a:solidFill>
            <a:srgbClr val="FFFFFF"/>
          </a:solidFill>
          <a:ln w="9525">
            <a:solidFill>
              <a:srgbClr val="C9D3DF"/>
            </a:solidFill>
            <a:prstDash val="solid"/>
          </a:ln>
        </p:spPr>
      </p:sp>
      <p:sp>
        <p:nvSpPr>
          <p:cNvPr id="52" name="bang108_t3_1"/>
          <p:cNvSpPr txBox="1"/>
          <p:nvPr/>
        </p:nvSpPr>
        <p:spPr>
          <a:xfrm>
            <a:off x="1426464" y="3018282"/>
            <a:ext cx="171907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Áp dụng</a:t>
            </a:r>
            <a:endParaRPr lang="en-US" sz="1300" dirty="0"/>
          </a:p>
        </p:txBody>
      </p:sp>
      <p:sp>
        <p:nvSpPr>
          <p:cNvPr id="53" name="bang108_o3_2"/>
          <p:cNvSpPr/>
          <p:nvPr/>
        </p:nvSpPr>
        <p:spPr>
          <a:xfrm>
            <a:off x="3200400" y="2972562"/>
            <a:ext cx="1965960" cy="311150"/>
          </a:xfrm>
          <a:prstGeom prst="rect">
            <a:avLst/>
          </a:prstGeom>
          <a:solidFill>
            <a:srgbClr val="FFFFFF"/>
          </a:solidFill>
          <a:ln w="9525">
            <a:solidFill>
              <a:srgbClr val="C9D3DF"/>
            </a:solidFill>
            <a:prstDash val="solid"/>
          </a:ln>
        </p:spPr>
      </p:sp>
      <p:sp>
        <p:nvSpPr>
          <p:cNvPr id="54" name="bang108_t3_2"/>
          <p:cNvSpPr txBox="1"/>
          <p:nvPr/>
        </p:nvSpPr>
        <p:spPr>
          <a:xfrm>
            <a:off x="3255264" y="3018282"/>
            <a:ext cx="185623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MA_KHUYEN_MAI</a:t>
            </a:r>
            <a:endParaRPr lang="en-US" sz="1300" dirty="0"/>
          </a:p>
        </p:txBody>
      </p:sp>
      <p:sp>
        <p:nvSpPr>
          <p:cNvPr id="55" name="bang108_o3_3"/>
          <p:cNvSpPr/>
          <p:nvPr/>
        </p:nvSpPr>
        <p:spPr>
          <a:xfrm>
            <a:off x="5166360" y="2972562"/>
            <a:ext cx="2148840" cy="311150"/>
          </a:xfrm>
          <a:prstGeom prst="rect">
            <a:avLst/>
          </a:prstGeom>
          <a:solidFill>
            <a:srgbClr val="FFFFFF"/>
          </a:solidFill>
          <a:ln w="9525">
            <a:solidFill>
              <a:srgbClr val="C9D3DF"/>
            </a:solidFill>
            <a:prstDash val="solid"/>
          </a:ln>
        </p:spPr>
      </p:sp>
      <p:sp>
        <p:nvSpPr>
          <p:cNvPr id="56" name="bang108_t3_3"/>
          <p:cNvSpPr txBox="1"/>
          <p:nvPr/>
        </p:nvSpPr>
        <p:spPr>
          <a:xfrm>
            <a:off x="5221224" y="3018282"/>
            <a:ext cx="203911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HOA_DON</a:t>
            </a:r>
            <a:endParaRPr lang="en-US" sz="1300" dirty="0"/>
          </a:p>
        </p:txBody>
      </p:sp>
      <p:sp>
        <p:nvSpPr>
          <p:cNvPr id="57" name="bang108_o3_4"/>
          <p:cNvSpPr/>
          <p:nvPr/>
        </p:nvSpPr>
        <p:spPr>
          <a:xfrm>
            <a:off x="7315200" y="2972562"/>
            <a:ext cx="960120" cy="311150"/>
          </a:xfrm>
          <a:prstGeom prst="rect">
            <a:avLst/>
          </a:prstGeom>
          <a:solidFill>
            <a:srgbClr val="FFFFFF"/>
          </a:solidFill>
          <a:ln w="9525">
            <a:solidFill>
              <a:srgbClr val="C9D3DF"/>
            </a:solidFill>
            <a:prstDash val="solid"/>
          </a:ln>
        </p:spPr>
      </p:sp>
      <p:sp>
        <p:nvSpPr>
          <p:cNvPr id="58" name="bang108_t3_4"/>
          <p:cNvSpPr txBox="1"/>
          <p:nvPr/>
        </p:nvSpPr>
        <p:spPr>
          <a:xfrm>
            <a:off x="7370064" y="3018282"/>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59" name="bang108_o3_5"/>
          <p:cNvSpPr/>
          <p:nvPr/>
        </p:nvSpPr>
        <p:spPr>
          <a:xfrm>
            <a:off x="8275320" y="2972562"/>
            <a:ext cx="960120" cy="311150"/>
          </a:xfrm>
          <a:prstGeom prst="rect">
            <a:avLst/>
          </a:prstGeom>
          <a:solidFill>
            <a:srgbClr val="FFFFFF"/>
          </a:solidFill>
          <a:ln w="9525">
            <a:solidFill>
              <a:srgbClr val="C9D3DF"/>
            </a:solidFill>
            <a:prstDash val="solid"/>
          </a:ln>
        </p:spPr>
      </p:sp>
      <p:sp>
        <p:nvSpPr>
          <p:cNvPr id="60" name="bang108_t3_5"/>
          <p:cNvSpPr txBox="1"/>
          <p:nvPr/>
        </p:nvSpPr>
        <p:spPr>
          <a:xfrm>
            <a:off x="8330184" y="3018282"/>
            <a:ext cx="850392"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0..1</a:t>
            </a:r>
            <a:endParaRPr lang="en-US" sz="1300" dirty="0"/>
          </a:p>
        </p:txBody>
      </p:sp>
      <p:sp>
        <p:nvSpPr>
          <p:cNvPr id="61" name="bang108_o3_6"/>
          <p:cNvSpPr/>
          <p:nvPr/>
        </p:nvSpPr>
        <p:spPr>
          <a:xfrm>
            <a:off x="9235440" y="2972562"/>
            <a:ext cx="1828800" cy="311150"/>
          </a:xfrm>
          <a:prstGeom prst="rect">
            <a:avLst/>
          </a:prstGeom>
          <a:solidFill>
            <a:srgbClr val="FFFFFF"/>
          </a:solidFill>
          <a:ln w="9525">
            <a:solidFill>
              <a:srgbClr val="C9D3DF"/>
            </a:solidFill>
            <a:prstDash val="solid"/>
          </a:ln>
        </p:spPr>
      </p:sp>
      <p:sp>
        <p:nvSpPr>
          <p:cNvPr id="62" name="bang108_o3_7"/>
          <p:cNvSpPr/>
          <p:nvPr/>
        </p:nvSpPr>
        <p:spPr>
          <a:xfrm>
            <a:off x="11064240" y="2972562"/>
            <a:ext cx="667512" cy="311150"/>
          </a:xfrm>
          <a:prstGeom prst="rect">
            <a:avLst/>
          </a:prstGeom>
          <a:solidFill>
            <a:srgbClr val="FFFFFF"/>
          </a:solidFill>
          <a:ln w="9525">
            <a:solidFill>
              <a:srgbClr val="C9D3DF"/>
            </a:solidFill>
            <a:prstDash val="solid"/>
          </a:ln>
        </p:spPr>
      </p:sp>
      <p:sp>
        <p:nvSpPr>
          <p:cNvPr id="63" name="bang108_t3_7"/>
          <p:cNvSpPr txBox="1"/>
          <p:nvPr/>
        </p:nvSpPr>
        <p:spPr>
          <a:xfrm>
            <a:off x="11119104" y="3018282"/>
            <a:ext cx="557784" cy="21971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QT32</a:t>
            </a:r>
            <a:endParaRPr lang="en-US" sz="1300" dirty="0"/>
          </a:p>
        </p:txBody>
      </p:sp>
      <p:sp>
        <p:nvSpPr>
          <p:cNvPr id="64" name="bang108_o4_0"/>
          <p:cNvSpPr/>
          <p:nvPr/>
        </p:nvSpPr>
        <p:spPr>
          <a:xfrm>
            <a:off x="457200" y="3283712"/>
            <a:ext cx="914400" cy="512572"/>
          </a:xfrm>
          <a:prstGeom prst="rect">
            <a:avLst/>
          </a:prstGeom>
          <a:solidFill>
            <a:srgbClr val="F7F0E1"/>
          </a:solidFill>
          <a:ln w="9525">
            <a:solidFill>
              <a:srgbClr val="C9D3DF"/>
            </a:solidFill>
            <a:prstDash val="solid"/>
          </a:ln>
        </p:spPr>
      </p:sp>
      <p:sp>
        <p:nvSpPr>
          <p:cNvPr id="65" name="bang108_t4_0"/>
          <p:cNvSpPr txBox="1"/>
          <p:nvPr/>
        </p:nvSpPr>
        <p:spPr>
          <a:xfrm>
            <a:off x="512064" y="3329432"/>
            <a:ext cx="8046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LK26 (*)</a:t>
            </a:r>
            <a:endParaRPr lang="en-US" sz="1300" dirty="0"/>
          </a:p>
        </p:txBody>
      </p:sp>
      <p:sp>
        <p:nvSpPr>
          <p:cNvPr id="66" name="bang108_o4_1"/>
          <p:cNvSpPr/>
          <p:nvPr/>
        </p:nvSpPr>
        <p:spPr>
          <a:xfrm>
            <a:off x="1371600" y="3283712"/>
            <a:ext cx="1828800" cy="512572"/>
          </a:xfrm>
          <a:prstGeom prst="rect">
            <a:avLst/>
          </a:prstGeom>
          <a:solidFill>
            <a:srgbClr val="F7F0E1"/>
          </a:solidFill>
          <a:ln w="9525">
            <a:solidFill>
              <a:srgbClr val="C9D3DF"/>
            </a:solidFill>
            <a:prstDash val="solid"/>
          </a:ln>
        </p:spPr>
      </p:sp>
      <p:sp>
        <p:nvSpPr>
          <p:cNvPr id="67" name="bang108_t4_1"/>
          <p:cNvSpPr txBox="1"/>
          <p:nvPr/>
        </p:nvSpPr>
        <p:spPr>
          <a:xfrm>
            <a:off x="1426464" y="3329432"/>
            <a:ext cx="171907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Xuất hóa đơn</a:t>
            </a:r>
            <a:endParaRPr lang="en-US" sz="1300" dirty="0"/>
          </a:p>
        </p:txBody>
      </p:sp>
      <p:sp>
        <p:nvSpPr>
          <p:cNvPr id="68" name="bang108_o4_2"/>
          <p:cNvSpPr/>
          <p:nvPr/>
        </p:nvSpPr>
        <p:spPr>
          <a:xfrm>
            <a:off x="3200400" y="3283712"/>
            <a:ext cx="1965960" cy="512572"/>
          </a:xfrm>
          <a:prstGeom prst="rect">
            <a:avLst/>
          </a:prstGeom>
          <a:solidFill>
            <a:srgbClr val="F7F0E1"/>
          </a:solidFill>
          <a:ln w="9525">
            <a:solidFill>
              <a:srgbClr val="C9D3DF"/>
            </a:solidFill>
            <a:prstDash val="solid"/>
          </a:ln>
        </p:spPr>
      </p:sp>
      <p:sp>
        <p:nvSpPr>
          <p:cNvPr id="69" name="bang108_t4_2"/>
          <p:cNvSpPr txBox="1"/>
          <p:nvPr/>
        </p:nvSpPr>
        <p:spPr>
          <a:xfrm>
            <a:off x="3255264" y="3329432"/>
            <a:ext cx="185623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NHAN_VIEN</a:t>
            </a:r>
            <a:endParaRPr lang="en-US" sz="1300" dirty="0"/>
          </a:p>
        </p:txBody>
      </p:sp>
      <p:sp>
        <p:nvSpPr>
          <p:cNvPr id="70" name="bang108_o4_3"/>
          <p:cNvSpPr/>
          <p:nvPr/>
        </p:nvSpPr>
        <p:spPr>
          <a:xfrm>
            <a:off x="5166360" y="3283712"/>
            <a:ext cx="2148840" cy="512572"/>
          </a:xfrm>
          <a:prstGeom prst="rect">
            <a:avLst/>
          </a:prstGeom>
          <a:solidFill>
            <a:srgbClr val="F7F0E1"/>
          </a:solidFill>
          <a:ln w="9525">
            <a:solidFill>
              <a:srgbClr val="C9D3DF"/>
            </a:solidFill>
            <a:prstDash val="solid"/>
          </a:ln>
        </p:spPr>
      </p:sp>
      <p:sp>
        <p:nvSpPr>
          <p:cNvPr id="71" name="bang108_t4_3"/>
          <p:cNvSpPr txBox="1"/>
          <p:nvPr/>
        </p:nvSpPr>
        <p:spPr>
          <a:xfrm>
            <a:off x="5221224" y="3329432"/>
            <a:ext cx="203911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HOA_DON</a:t>
            </a:r>
            <a:endParaRPr lang="en-US" sz="1300" dirty="0"/>
          </a:p>
        </p:txBody>
      </p:sp>
      <p:sp>
        <p:nvSpPr>
          <p:cNvPr id="72" name="bang108_o4_4"/>
          <p:cNvSpPr/>
          <p:nvPr/>
        </p:nvSpPr>
        <p:spPr>
          <a:xfrm>
            <a:off x="7315200" y="3283712"/>
            <a:ext cx="960120" cy="512572"/>
          </a:xfrm>
          <a:prstGeom prst="rect">
            <a:avLst/>
          </a:prstGeom>
          <a:solidFill>
            <a:srgbClr val="F7F0E1"/>
          </a:solidFill>
          <a:ln w="9525">
            <a:solidFill>
              <a:srgbClr val="C9D3DF"/>
            </a:solidFill>
            <a:prstDash val="solid"/>
          </a:ln>
        </p:spPr>
      </p:sp>
      <p:sp>
        <p:nvSpPr>
          <p:cNvPr id="73" name="bang108_t4_4"/>
          <p:cNvSpPr txBox="1"/>
          <p:nvPr/>
        </p:nvSpPr>
        <p:spPr>
          <a:xfrm>
            <a:off x="7370064" y="3329432"/>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a:t>
            </a:r>
            <a:endParaRPr lang="en-US" sz="1300" dirty="0"/>
          </a:p>
        </p:txBody>
      </p:sp>
      <p:sp>
        <p:nvSpPr>
          <p:cNvPr id="74" name="bang108_o4_5"/>
          <p:cNvSpPr/>
          <p:nvPr/>
        </p:nvSpPr>
        <p:spPr>
          <a:xfrm>
            <a:off x="8275320" y="3283712"/>
            <a:ext cx="960120" cy="512572"/>
          </a:xfrm>
          <a:prstGeom prst="rect">
            <a:avLst/>
          </a:prstGeom>
          <a:solidFill>
            <a:srgbClr val="F7F0E1"/>
          </a:solidFill>
          <a:ln w="9525">
            <a:solidFill>
              <a:srgbClr val="C9D3DF"/>
            </a:solidFill>
            <a:prstDash val="solid"/>
          </a:ln>
        </p:spPr>
      </p:sp>
      <p:sp>
        <p:nvSpPr>
          <p:cNvPr id="75" name="bang108_t4_5"/>
          <p:cNvSpPr txBox="1"/>
          <p:nvPr/>
        </p:nvSpPr>
        <p:spPr>
          <a:xfrm>
            <a:off x="8330184" y="3329432"/>
            <a:ext cx="850392"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0..1</a:t>
            </a:r>
            <a:endParaRPr lang="en-US" sz="1300" dirty="0"/>
          </a:p>
        </p:txBody>
      </p:sp>
      <p:sp>
        <p:nvSpPr>
          <p:cNvPr id="76" name="bang108_o4_6"/>
          <p:cNvSpPr/>
          <p:nvPr/>
        </p:nvSpPr>
        <p:spPr>
          <a:xfrm>
            <a:off x="9235440" y="3283712"/>
            <a:ext cx="1828800" cy="512572"/>
          </a:xfrm>
          <a:prstGeom prst="rect">
            <a:avLst/>
          </a:prstGeom>
          <a:solidFill>
            <a:srgbClr val="F7F0E1"/>
          </a:solidFill>
          <a:ln w="9525">
            <a:solidFill>
              <a:srgbClr val="C9D3DF"/>
            </a:solidFill>
            <a:prstDash val="solid"/>
          </a:ln>
        </p:spPr>
      </p:sp>
      <p:sp>
        <p:nvSpPr>
          <p:cNvPr id="77" name="bang108_o4_7"/>
          <p:cNvSpPr/>
          <p:nvPr/>
        </p:nvSpPr>
        <p:spPr>
          <a:xfrm>
            <a:off x="11064240" y="3283712"/>
            <a:ext cx="667512" cy="512572"/>
          </a:xfrm>
          <a:prstGeom prst="rect">
            <a:avLst/>
          </a:prstGeom>
          <a:solidFill>
            <a:srgbClr val="F7F0E1"/>
          </a:solidFill>
          <a:ln w="9525">
            <a:solidFill>
              <a:srgbClr val="C9D3DF"/>
            </a:solidFill>
            <a:prstDash val="solid"/>
          </a:ln>
        </p:spPr>
      </p:sp>
      <p:sp>
        <p:nvSpPr>
          <p:cNvPr id="78" name="bang108_t4_7"/>
          <p:cNvSpPr txBox="1"/>
          <p:nvPr/>
        </p:nvSpPr>
        <p:spPr>
          <a:xfrm>
            <a:off x="11119104" y="3329432"/>
            <a:ext cx="557784" cy="421132"/>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QT33</a:t>
            </a:r>
            <a:endParaRPr lang="en-US" sz="1300" dirty="0"/>
          </a:p>
        </p:txBody>
      </p:sp>
      <p:sp>
        <p:nvSpPr>
          <p:cNvPr id="79" name="txt109"/>
          <p:cNvSpPr txBox="1"/>
          <p:nvPr/>
        </p:nvSpPr>
        <p:spPr>
          <a:xfrm>
            <a:off x="457200" y="6035040"/>
            <a:ext cx="9144000" cy="274320"/>
          </a:xfrm>
          <a:prstGeom prst="rect">
            <a:avLst/>
          </a:prstGeom>
          <a:noFill/>
          <a:ln/>
        </p:spPr>
        <p:txBody>
          <a:bodyPr wrap="square" lIns="0" tIns="0" rIns="0" bIns="0" rtlCol="0" anchor="ctr"/>
          <a:lstStyle/>
          <a:p>
            <a:pPr indent="0" marL="0">
              <a:buNone/>
            </a:pPr>
            <a:r>
              <a:rPr lang="en-US" sz="1100" i="1" dirty="0">
                <a:solidFill>
                  <a:srgbClr val="5F6B7A"/>
                </a:solidFill>
                <a:latin typeface="Arial" pitchFamily="34" charset="0"/>
                <a:ea typeface="Arial" pitchFamily="34" charset="-122"/>
                <a:cs typeface="Arial" pitchFamily="34" charset="-120"/>
              </a:rPr>
              <a:t>(*) liên kết nối sang phân hệ khác.  Cột "Mỗi A có bao nhiêu B" ghi ở đầu B trên sơ đồ.</a:t>
            </a:r>
            <a:endParaRPr lang="en-US" sz="11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Lược đồ quan hệ (DBDL)</a:t>
            </a:r>
            <a:endParaRPr lang="en-US" sz="2600" dirty="0"/>
          </a:p>
        </p:txBody>
      </p:sp>
      <p:sp>
        <p:nvSpPr>
          <p:cNvPr id="3" name="txt110"/>
          <p:cNvSpPr txBox="1"/>
          <p:nvPr/>
        </p:nvSpPr>
        <p:spPr>
          <a:xfrm>
            <a:off x="457200" y="1435608"/>
            <a:ext cx="11277295" cy="4553712"/>
          </a:xfrm>
          <a:prstGeom prst="rect">
            <a:avLst/>
          </a:prstGeom>
          <a:noFill/>
          <a:ln/>
        </p:spPr>
        <p:txBody>
          <a:bodyPr wrap="square" lIns="0" tIns="0" rIns="0" bIns="0" rtlCol="0" anchor="t"/>
          <a:lstStyle/>
          <a:p>
            <a:pPr indent="0" marL="0">
              <a:buNone/>
            </a:pPr>
            <a:r>
              <a:rPr lang="en-US" sz="1400" b="1" dirty="0">
                <a:solidFill>
                  <a:srgbClr val="163F73"/>
                </a:solidFill>
                <a:latin typeface="Arial" pitchFamily="34" charset="0"/>
                <a:ea typeface="Arial" pitchFamily="34" charset="-122"/>
                <a:cs typeface="Arial" pitchFamily="34" charset="-120"/>
              </a:rPr>
              <a:t>MA_KHUYEN_MAI</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MaKM</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MoTa</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KieuGiam</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GiaTriGiam</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GiamToiDa</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NgayBatDau</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NgayKetThuc</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SoLuotToiDa</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[TH1]</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MaKM</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HOA_DON</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MaHD</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KyHieu</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SoHD</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NgayLap</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TenNguoiMua</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MaSoThue</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DiaChiMua</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SoTienGiam</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ThueSuatVAT</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TrangThai</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MaDatCho</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MaKM</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MaNV</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[TH1 + TH3]</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MaHD</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Alternate Key (KyHieu, SoHD)</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MaDatCho references DAT_CHO(MaDatCho)  NOT NULL</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MaKM     references MA_KHUYEN_MAI(MaKM)  NULL</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MaNV     references NHAN_VIEN(MaNV)  NULL</a:t>
            </a:r>
            <a:endParaRPr lang="en-US" sz="1400" dirty="0"/>
          </a:p>
          <a:p>
            <a:pPr indent="0" marL="0">
              <a:buNone/>
            </a:pPr>
            <a:r>
              <a:rPr lang="en-US" sz="700" dirty="0">
                <a:solidFill>
                  <a:srgbClr val="1F2933"/>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163F73"/>
                </a:solidFill>
                <a:latin typeface="Arial" pitchFamily="34" charset="0"/>
                <a:ea typeface="Arial" pitchFamily="34" charset="-122"/>
                <a:cs typeface="Arial" pitchFamily="34" charset="-120"/>
              </a:rPr>
              <a:t>GIAO_DICH_THANH_TOAN</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u="sng" dirty="0">
                <a:solidFill>
                  <a:srgbClr val="1F2933"/>
                </a:solidFill>
                <a:latin typeface="Arial" pitchFamily="34" charset="0"/>
                <a:ea typeface="Arial" pitchFamily="34" charset="-122"/>
                <a:cs typeface="Arial" pitchFamily="34" charset="-120"/>
              </a:rPr>
              <a:t>MaGD</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MaThamChieu</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ThoiGian</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SoTien</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PhuongThuc</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SoTheCuoi</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NganHang</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dirty="0">
                <a:solidFill>
                  <a:srgbClr val="1F2933"/>
                </a:solidFill>
                <a:latin typeface="Arial" pitchFamily="34" charset="0"/>
                <a:ea typeface="Arial" pitchFamily="34" charset="-122"/>
                <a:cs typeface="Arial" pitchFamily="34" charset="-120"/>
              </a:rPr>
              <a:t>KetQua</a:t>
            </a:r>
            <a:pPr indent="0" marL="0">
              <a:buNone/>
            </a:pPr>
            <a:r>
              <a:rPr lang="en-US" sz="1400" dirty="0">
                <a:solidFill>
                  <a:srgbClr val="1F2933"/>
                </a:solidFill>
                <a:latin typeface="Arial" pitchFamily="34" charset="0"/>
                <a:ea typeface="Arial" pitchFamily="34" charset="-122"/>
                <a:cs typeface="Arial" pitchFamily="34" charset="-120"/>
              </a:rPr>
              <a:t>, </a:t>
            </a:r>
            <a:pPr indent="0" marL="0">
              <a:buNone/>
            </a:pPr>
            <a:r>
              <a:rPr lang="en-US" sz="1400" i="1" dirty="0">
                <a:solidFill>
                  <a:srgbClr val="1F2933"/>
                </a:solidFill>
                <a:latin typeface="Arial" pitchFamily="34" charset="0"/>
                <a:ea typeface="Arial" pitchFamily="34" charset="-122"/>
                <a:cs typeface="Arial" pitchFamily="34" charset="-120"/>
              </a:rPr>
              <a:t>MaHD</a:t>
            </a:r>
            <a:pPr indent="0" marL="0">
              <a:buNone/>
            </a:pPr>
            <a:r>
              <a:rPr lang="en-US" sz="1400" dirty="0">
                <a:solidFill>
                  <a:srgbClr val="1F2933"/>
                </a:solidFill>
                <a:latin typeface="Arial" pitchFamily="34" charset="0"/>
                <a:ea typeface="Arial" pitchFamily="34" charset="-122"/>
                <a:cs typeface="Arial" pitchFamily="34" charset="-120"/>
              </a:rPr>
              <a:t>)</a:t>
            </a:r>
            <a:pPr indent="0" marL="0">
              <a:buNone/>
            </a:pPr>
            <a:r>
              <a:rPr lang="en-US" sz="1100" b="1" dirty="0">
                <a:solidFill>
                  <a:srgbClr val="8A6A2F"/>
                </a:solidFill>
                <a:latin typeface="Arial" pitchFamily="34" charset="0"/>
                <a:ea typeface="Arial" pitchFamily="34" charset="-122"/>
                <a:cs typeface="Arial" pitchFamily="34" charset="-120"/>
              </a:rPr>
              <a:t>   [TH1 + TH3]</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Primary Key   MaGD</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Alternate Key MaThamChieu</a:t>
            </a:r>
            <a:endParaRPr lang="en-US" sz="1400" dirty="0"/>
          </a:p>
          <a:p>
            <a:pPr indent="0" marL="0">
              <a:buNone/>
            </a:pPr>
            <a:r>
              <a:rPr lang="en-US" sz="1250" dirty="0">
                <a:solidFill>
                  <a:srgbClr val="1F2933"/>
                </a:solidFill>
                <a:latin typeface="Courier New" pitchFamily="34" charset="0"/>
                <a:ea typeface="Courier New" pitchFamily="34" charset="-122"/>
                <a:cs typeface="Courier New" pitchFamily="34" charset="-120"/>
              </a:rPr>
              <a:t>    Foreign Key   MaHD references HOA_DON(MaHD)  NOT NULL</a:t>
            </a:r>
            <a:endParaRPr lang="en-US" sz="1400" dirty="0"/>
          </a:p>
        </p:txBody>
      </p:sp>
      <p:sp>
        <p:nvSpPr>
          <p:cNvPr id="4" name="txt111"/>
          <p:cNvSpPr txBox="1"/>
          <p:nvPr/>
        </p:nvSpPr>
        <p:spPr>
          <a:xfrm>
            <a:off x="457200" y="6035040"/>
            <a:ext cx="11277295" cy="274320"/>
          </a:xfrm>
          <a:prstGeom prst="rect">
            <a:avLst/>
          </a:prstGeom>
          <a:noFill/>
          <a:ln/>
        </p:spPr>
        <p:txBody>
          <a:bodyPr wrap="square" lIns="0" tIns="0" rIns="0" bIns="0" rtlCol="0" anchor="ctr"/>
          <a:lstStyle/>
          <a:p>
            <a:pPr indent="0" marL="0">
              <a:buNone/>
            </a:pPr>
            <a:r>
              <a:rPr lang="en-US" sz="1100" i="1" dirty="0">
                <a:solidFill>
                  <a:srgbClr val="5F6B7A"/>
                </a:solidFill>
                <a:latin typeface="Arial" pitchFamily="34" charset="0"/>
                <a:ea typeface="Arial" pitchFamily="34" charset="-122"/>
                <a:cs typeface="Arial" pitchFamily="34" charset="-120"/>
              </a:rPr>
              <a:t>Khóa chính gạch chân, khóa ngoại in nghiêng. NOT NULL / NULL theo bội số ở đầu bảng cha (1..1 bắt buộc, 0..1 được trống).</a:t>
            </a:r>
            <a:endParaRPr lang="en-US" sz="11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Lược đồ quan hệ toàn hệ thống (1/2)</a:t>
            </a:r>
            <a:endParaRPr lang="en-US" sz="2600" dirty="0"/>
          </a:p>
        </p:txBody>
      </p:sp>
      <p:sp>
        <p:nvSpPr>
          <p:cNvPr id="3" name="txt112"/>
          <p:cNvSpPr txBox="1"/>
          <p:nvPr/>
        </p:nvSpPr>
        <p:spPr>
          <a:xfrm>
            <a:off x="457200" y="1481328"/>
            <a:ext cx="11277295" cy="4782312"/>
          </a:xfrm>
          <a:prstGeom prst="rect">
            <a:avLst/>
          </a:prstGeom>
          <a:noFill/>
          <a:ln/>
        </p:spPr>
        <p:txBody>
          <a:bodyPr wrap="square" lIns="0" tIns="0" rIns="0" bIns="0" rtlCol="0" anchor="t"/>
          <a:lstStyle/>
          <a:p>
            <a:pPr indent="0" marL="0">
              <a:spcAft>
                <a:spcPts val="300"/>
              </a:spcAft>
              <a:buNone/>
            </a:pPr>
            <a:r>
              <a:rPr lang="en-US" sz="1300" b="1" dirty="0">
                <a:solidFill>
                  <a:srgbClr val="8A6A2F"/>
                </a:solidFill>
                <a:latin typeface="Arial" pitchFamily="34" charset="0"/>
                <a:ea typeface="Arial" pitchFamily="34" charset="-122"/>
                <a:cs typeface="Arial" pitchFamily="34" charset="-120"/>
              </a:rPr>
              <a:t>A. Chuyến bay và lịch trình (Trần Tuấn Thành)</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SAN_BAY</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MaSanBay</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MaICAO</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TenSanBay</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ThanhPho</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QuocGia</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MuiGio</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LoaiSanBay</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DUONG_BAY</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i="1" u="sng" dirty="0">
                <a:solidFill>
                  <a:srgbClr val="1F2933"/>
                </a:solidFill>
                <a:latin typeface="Arial" pitchFamily="34" charset="0"/>
                <a:ea typeface="Arial" pitchFamily="34" charset="-122"/>
                <a:cs typeface="Arial" pitchFamily="34" charset="-120"/>
              </a:rPr>
              <a:t>MaSanBayDi</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u="sng" dirty="0">
                <a:solidFill>
                  <a:srgbClr val="1F2933"/>
                </a:solidFill>
                <a:latin typeface="Arial" pitchFamily="34" charset="0"/>
                <a:ea typeface="Arial" pitchFamily="34" charset="-122"/>
                <a:cs typeface="Arial" pitchFamily="34" charset="-120"/>
              </a:rPr>
              <a:t>MaSanBayDen</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KhoangCach</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ThoiGianBayChuan</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MAY_BAY</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SoDangKy</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LoaiMayBay</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HangSanXuat</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NamSanXuat</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SoGheThuongGia</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SoGhePhoThong</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TinhTrang</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CHUYEN_BAY</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MaChuyenBay</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SoHieuCB</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NgayBay</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GioCatCanhDK</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GioHaCanhDK</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GioCatCanhTT</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TrangThai</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SoDangKy</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MaSanBayDi</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MaSanBayDen</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600" dirty="0">
                <a:solidFill>
                  <a:srgbClr val="1F2933"/>
                </a:solidFill>
                <a:latin typeface="Arial" pitchFamily="34" charset="0"/>
                <a:ea typeface="Arial" pitchFamily="34" charset="-122"/>
                <a:cs typeface="Arial" pitchFamily="34" charset="-120"/>
              </a:rPr>
              <a:t> </a:t>
            </a:r>
            <a:endParaRPr lang="en-US" sz="1300" dirty="0"/>
          </a:p>
          <a:p>
            <a:pPr indent="0" marL="0">
              <a:spcAft>
                <a:spcPts val="300"/>
              </a:spcAft>
              <a:buNone/>
            </a:pPr>
            <a:r>
              <a:rPr lang="en-US" sz="1300" b="1" dirty="0">
                <a:solidFill>
                  <a:srgbClr val="8A6A2F"/>
                </a:solidFill>
                <a:latin typeface="Arial" pitchFamily="34" charset="0"/>
                <a:ea typeface="Arial" pitchFamily="34" charset="-122"/>
                <a:cs typeface="Arial" pitchFamily="34" charset="-120"/>
              </a:rPr>
              <a:t>B. Đặt chỗ và vé máy bay (Vũ Tuyết Phương Vy)</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DAT_CHO</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MaDatCho</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NgayGioDat</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KenhDat</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HanThanhToan</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TrangThai</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MaKH</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GHE_NGOI</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i="1" u="sng" dirty="0">
                <a:solidFill>
                  <a:srgbClr val="1F2933"/>
                </a:solidFill>
                <a:latin typeface="Arial" pitchFamily="34" charset="0"/>
                <a:ea typeface="Arial" pitchFamily="34" charset="-122"/>
                <a:cs typeface="Arial" pitchFamily="34" charset="-120"/>
              </a:rPr>
              <a:t>SoDangKy</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SoGhe</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HangGhe</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ViTriGhe</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LaGheLoiThoat</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VE_MAY_BAY</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SoVe</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HoTenHK</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NgaySinhHK</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SoGiayToHK</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LoaiHanhKhach</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HangVe</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GiaVe</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ThueVaPhi</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NgayXuatVe</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TrangThaiVe</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MaDatCho</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MaChuyenBay</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SoDangKy</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SoGhe</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600" dirty="0">
                <a:solidFill>
                  <a:srgbClr val="1F2933"/>
                </a:solidFill>
                <a:latin typeface="Arial" pitchFamily="34" charset="0"/>
                <a:ea typeface="Arial" pitchFamily="34" charset="-122"/>
                <a:cs typeface="Arial" pitchFamily="34" charset="-120"/>
              </a:rPr>
              <a:t> </a:t>
            </a:r>
            <a:endParaRPr lang="en-US" sz="1300" dirty="0"/>
          </a:p>
          <a:p>
            <a:pPr indent="0" marL="0">
              <a:spcAft>
                <a:spcPts val="300"/>
              </a:spcAft>
              <a:buNone/>
            </a:pPr>
            <a:r>
              <a:rPr lang="en-US" sz="1300" b="1" dirty="0">
                <a:solidFill>
                  <a:srgbClr val="8A6A2F"/>
                </a:solidFill>
                <a:latin typeface="Arial" pitchFamily="34" charset="0"/>
                <a:ea typeface="Arial" pitchFamily="34" charset="-122"/>
                <a:cs typeface="Arial" pitchFamily="34" charset="-120"/>
              </a:rPr>
              <a:t>C. Khách hàng và hội viên (Trần Quốc Hồng Danh)</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KHACH_HANG</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MaKH</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SoGiayTo</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Email</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Ho</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TenDem</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Ten</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NgaySinh</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GioiTinh</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QuocTich</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SDT_KHACH_HANG</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i="1" u="sng" dirty="0">
                <a:solidFill>
                  <a:srgbClr val="1F2933"/>
                </a:solidFill>
                <a:latin typeface="Arial" pitchFamily="34" charset="0"/>
                <a:ea typeface="Arial" pitchFamily="34" charset="-122"/>
                <a:cs typeface="Arial" pitchFamily="34" charset="-120"/>
              </a:rPr>
              <a:t>MaKH</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SoDienThoai</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THE_HOI_VIEN</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SoThe</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NgayCap</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HangThe</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DiemXetHang</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NgayHetHanHang</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TrangThai</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MaKH</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LICH_SU_TICH_DIEM</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i="1" u="sng" dirty="0">
                <a:solidFill>
                  <a:srgbClr val="1F2933"/>
                </a:solidFill>
                <a:latin typeface="Arial" pitchFamily="34" charset="0"/>
                <a:ea typeface="Arial" pitchFamily="34" charset="-122"/>
                <a:cs typeface="Arial" pitchFamily="34" charset="-120"/>
              </a:rPr>
              <a:t>SoThe</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STT</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ThoiGian</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LoaiGiaoDich</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SoDiem</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NoiDung</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SoVe</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5"/>
          <p:cNvSpPr/>
          <p:nvPr>
            <p:ph idx="106" type="title" hasCustomPrompt="1"/>
          </p:nvPr>
        </p:nvSpPr>
        <p:spPr>
          <a:xfrm>
            <a:off x="457200" y="731520"/>
            <a:ext cx="11277295" cy="640080"/>
          </a:xfrm>
          <a:prstGeom prst="rect">
            <a:avLst/>
          </a:prstGeom>
          <a:noFill/>
          <a:ln/>
        </p:spPr>
        <p:txBody>
          <a:bodyPr wrap="square" lIns="0" tIns="0" rIns="0" bIns="0" rtlCol="0" anchor="ctr"/>
          <a:lstStyle/>
          <a:p>
            <a:pPr algn="l" indent="0" marL="0">
              <a:buNone/>
            </a:pPr>
            <a:r>
              <a:rPr lang="en-US" sz="2600" b="1" dirty="0">
                <a:solidFill>
                  <a:srgbClr val="163F73"/>
                </a:solidFill>
                <a:latin typeface="Arial" pitchFamily="34" charset="0"/>
                <a:ea typeface="Arial" pitchFamily="34" charset="-122"/>
                <a:cs typeface="Arial" pitchFamily="34" charset="-120"/>
              </a:rPr>
              <a:t>Lược đồ quan hệ toàn hệ thống (2/2)</a:t>
            </a:r>
            <a:endParaRPr lang="en-US" sz="2600" dirty="0"/>
          </a:p>
        </p:txBody>
      </p:sp>
      <p:sp>
        <p:nvSpPr>
          <p:cNvPr id="3" name="txt113"/>
          <p:cNvSpPr txBox="1"/>
          <p:nvPr/>
        </p:nvSpPr>
        <p:spPr>
          <a:xfrm>
            <a:off x="457200" y="1481328"/>
            <a:ext cx="11277295" cy="4782312"/>
          </a:xfrm>
          <a:prstGeom prst="rect">
            <a:avLst/>
          </a:prstGeom>
          <a:noFill/>
          <a:ln/>
        </p:spPr>
        <p:txBody>
          <a:bodyPr wrap="square" lIns="0" tIns="0" rIns="0" bIns="0" rtlCol="0" anchor="t"/>
          <a:lstStyle/>
          <a:p>
            <a:pPr indent="0" marL="0">
              <a:spcAft>
                <a:spcPts val="300"/>
              </a:spcAft>
              <a:buNone/>
            </a:pPr>
            <a:r>
              <a:rPr lang="en-US" sz="1300" b="1" dirty="0">
                <a:solidFill>
                  <a:srgbClr val="8A6A2F"/>
                </a:solidFill>
                <a:latin typeface="Arial" pitchFamily="34" charset="0"/>
                <a:ea typeface="Arial" pitchFamily="34" charset="-122"/>
                <a:cs typeface="Arial" pitchFamily="34" charset="-120"/>
              </a:rPr>
              <a:t>D. Nhân sự và phi hành đoàn (Lê Nguyễn Trung Kiên)</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PHONG_BAN</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MaPB</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TenPB</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DiaDiem</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SoDienThoai</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MaTruongPhong</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NHAN_VIEN</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MaNV</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SoCCCD</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Ho</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TenDem</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Ten</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NgaySinh</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GioiTinh</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NgayVaoLam</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LuongCoBan</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MaPB</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MaNguoiQuanLy</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SDT_NHAN_VIEN</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i="1" u="sng" dirty="0">
                <a:solidFill>
                  <a:srgbClr val="1F2933"/>
                </a:solidFill>
                <a:latin typeface="Arial" pitchFamily="34" charset="0"/>
                <a:ea typeface="Arial" pitchFamily="34" charset="-122"/>
                <a:cs typeface="Arial" pitchFamily="34" charset="-120"/>
              </a:rPr>
              <a:t>MaNV</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SoDienThoai</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PHI_CONG</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i="1" u="sng" dirty="0">
                <a:solidFill>
                  <a:srgbClr val="1F2933"/>
                </a:solidFill>
                <a:latin typeface="Arial" pitchFamily="34" charset="0"/>
                <a:ea typeface="Arial" pitchFamily="34" charset="-122"/>
                <a:cs typeface="Arial" pitchFamily="34" charset="-120"/>
              </a:rPr>
              <a:t>MaNV</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SoGioBay</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CapBac</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TIEP_VIEN</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i="1" u="sng" dirty="0">
                <a:solidFill>
                  <a:srgbClr val="1F2933"/>
                </a:solidFill>
                <a:latin typeface="Arial" pitchFamily="34" charset="0"/>
                <a:ea typeface="Arial" pitchFamily="34" charset="-122"/>
                <a:cs typeface="Arial" pitchFamily="34" charset="-120"/>
              </a:rPr>
              <a:t>MaNV</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ChucDanh</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NGOAI_NGU_TV</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i="1" u="sng" dirty="0">
                <a:solidFill>
                  <a:srgbClr val="1F2933"/>
                </a:solidFill>
                <a:latin typeface="Arial" pitchFamily="34" charset="0"/>
                <a:ea typeface="Arial" pitchFamily="34" charset="-122"/>
                <a:cs typeface="Arial" pitchFamily="34" charset="-120"/>
              </a:rPr>
              <a:t>MaNV</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NgoaiNgu</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GIAY_PHEP_BAY</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i="1" u="sng" dirty="0">
                <a:solidFill>
                  <a:srgbClr val="1F2933"/>
                </a:solidFill>
                <a:latin typeface="Arial" pitchFamily="34" charset="0"/>
                <a:ea typeface="Arial" pitchFamily="34" charset="-122"/>
                <a:cs typeface="Arial" pitchFamily="34" charset="-120"/>
              </a:rPr>
              <a:t>MaNV</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SoGiayPhep</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LoaiMayBay</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NgayCap</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NgayHetHan</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PHAN_CONG_LAI</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i="1" u="sng" dirty="0">
                <a:solidFill>
                  <a:srgbClr val="1F2933"/>
                </a:solidFill>
                <a:latin typeface="Arial" pitchFamily="34" charset="0"/>
                <a:ea typeface="Arial" pitchFamily="34" charset="-122"/>
                <a:cs typeface="Arial" pitchFamily="34" charset="-120"/>
              </a:rPr>
              <a:t>MaNV</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u="sng" dirty="0">
                <a:solidFill>
                  <a:srgbClr val="1F2933"/>
                </a:solidFill>
                <a:latin typeface="Arial" pitchFamily="34" charset="0"/>
                <a:ea typeface="Arial" pitchFamily="34" charset="-122"/>
                <a:cs typeface="Arial" pitchFamily="34" charset="-120"/>
              </a:rPr>
              <a:t>MaChuyenBay</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VaiTro</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GioBayThucTe</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PHAN_CONG_PV</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i="1" u="sng" dirty="0">
                <a:solidFill>
                  <a:srgbClr val="1F2933"/>
                </a:solidFill>
                <a:latin typeface="Arial" pitchFamily="34" charset="0"/>
                <a:ea typeface="Arial" pitchFamily="34" charset="-122"/>
                <a:cs typeface="Arial" pitchFamily="34" charset="-120"/>
              </a:rPr>
              <a:t>MaNV</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u="sng" dirty="0">
                <a:solidFill>
                  <a:srgbClr val="1F2933"/>
                </a:solidFill>
                <a:latin typeface="Arial" pitchFamily="34" charset="0"/>
                <a:ea typeface="Arial" pitchFamily="34" charset="-122"/>
                <a:cs typeface="Arial" pitchFamily="34" charset="-120"/>
              </a:rPr>
              <a:t>MaChuyenBay</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VaiTro</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KhoangPhucVu</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600" dirty="0">
                <a:solidFill>
                  <a:srgbClr val="1F2933"/>
                </a:solidFill>
                <a:latin typeface="Arial" pitchFamily="34" charset="0"/>
                <a:ea typeface="Arial" pitchFamily="34" charset="-122"/>
                <a:cs typeface="Arial" pitchFamily="34" charset="-120"/>
              </a:rPr>
              <a:t> </a:t>
            </a:r>
            <a:endParaRPr lang="en-US" sz="1300" dirty="0"/>
          </a:p>
          <a:p>
            <a:pPr indent="0" marL="0">
              <a:spcAft>
                <a:spcPts val="300"/>
              </a:spcAft>
              <a:buNone/>
            </a:pPr>
            <a:r>
              <a:rPr lang="en-US" sz="1300" b="1" dirty="0">
                <a:solidFill>
                  <a:srgbClr val="8A6A2F"/>
                </a:solidFill>
                <a:latin typeface="Arial" pitchFamily="34" charset="0"/>
                <a:ea typeface="Arial" pitchFamily="34" charset="-122"/>
                <a:cs typeface="Arial" pitchFamily="34" charset="-120"/>
              </a:rPr>
              <a:t>E. Hành lý và dịch vụ bổ sung (Hoàng Thái Phong (NT))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HANH_LY</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MaHanhLy</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TrongLuong</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Dai</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Rong</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Cao</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LoaiHanhLy</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TrangThai</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PhiQuaCuoc</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SoVe</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DICH_VU_BO_SUNG</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MaDV</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TenDV</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LoaiDV</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DonGia</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DonViTinh</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MoTa</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CHI_TIET_DICH_VU</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MaCTDV</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SoLuong</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DonGiaApDung</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NgayDangKy</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TrangThai</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SoVe</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MaDV</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MaHD</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600" dirty="0">
                <a:solidFill>
                  <a:srgbClr val="1F2933"/>
                </a:solidFill>
                <a:latin typeface="Arial" pitchFamily="34" charset="0"/>
                <a:ea typeface="Arial" pitchFamily="34" charset="-122"/>
                <a:cs typeface="Arial" pitchFamily="34" charset="-120"/>
              </a:rPr>
              <a:t> </a:t>
            </a:r>
            <a:endParaRPr lang="en-US" sz="1300" dirty="0"/>
          </a:p>
          <a:p>
            <a:pPr indent="0" marL="0">
              <a:spcAft>
                <a:spcPts val="300"/>
              </a:spcAft>
              <a:buNone/>
            </a:pPr>
            <a:r>
              <a:rPr lang="en-US" sz="1300" b="1" dirty="0">
                <a:solidFill>
                  <a:srgbClr val="8A6A2F"/>
                </a:solidFill>
                <a:latin typeface="Arial" pitchFamily="34" charset="0"/>
                <a:ea typeface="Arial" pitchFamily="34" charset="-122"/>
                <a:cs typeface="Arial" pitchFamily="34" charset="-120"/>
              </a:rPr>
              <a:t>F. Thanh toán và hóa đơn (Nguyễn Vũ Trọng Nhân)</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MA_KHUYEN_MAI</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MaKM</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MoTa</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KieuGiam</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GiaTriGiam</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GiamToiDa</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NgayBatDau</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NgayKetThuc</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SoLuotToiDa</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HOA_DON</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MaHD</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KyHieu</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SoHD</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NgayLap</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TenNguoiMua</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MaSoThue</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DiaChiMua</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SoTienGiam</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ThueSuatVAT</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TrangThai</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MaDatCho</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MaKM</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MaNV</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a:p>
            <a:pPr indent="0" marL="0">
              <a:spcAft>
                <a:spcPts val="300"/>
              </a:spcAft>
              <a:buNone/>
            </a:pPr>
            <a:r>
              <a:rPr lang="en-US" sz="1350" b="1" dirty="0">
                <a:solidFill>
                  <a:srgbClr val="163F73"/>
                </a:solidFill>
                <a:latin typeface="Arial" pitchFamily="34" charset="0"/>
                <a:ea typeface="Arial" pitchFamily="34" charset="-122"/>
                <a:cs typeface="Arial" pitchFamily="34" charset="-120"/>
              </a:rPr>
              <a:t>GIAO_DICH_THANH_TOAN</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pPr indent="0" marL="0">
              <a:spcAft>
                <a:spcPts val="300"/>
              </a:spcAft>
              <a:buNone/>
            </a:pPr>
            <a:r>
              <a:rPr lang="en-US" sz="1350" u="sng" dirty="0">
                <a:solidFill>
                  <a:srgbClr val="1F2933"/>
                </a:solidFill>
                <a:latin typeface="Arial" pitchFamily="34" charset="0"/>
                <a:ea typeface="Arial" pitchFamily="34" charset="-122"/>
                <a:cs typeface="Arial" pitchFamily="34" charset="-120"/>
              </a:rPr>
              <a:t>MaGD</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MaThamChieu</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ThoiGian</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SoTien</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PhuongThuc</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SoTheCuoi</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NganHang</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dirty="0">
                <a:solidFill>
                  <a:srgbClr val="1F2933"/>
                </a:solidFill>
                <a:latin typeface="Arial" pitchFamily="34" charset="0"/>
                <a:ea typeface="Arial" pitchFamily="34" charset="-122"/>
                <a:cs typeface="Arial" pitchFamily="34" charset="-120"/>
              </a:rPr>
              <a:t>KetQua</a:t>
            </a:r>
            <a:pPr indent="0" marL="0">
              <a:spcAft>
                <a:spcPts val="300"/>
              </a:spcAft>
              <a:buNone/>
            </a:pPr>
            <a:r>
              <a:rPr lang="en-US" sz="1350" dirty="0">
                <a:solidFill>
                  <a:srgbClr val="1F2933"/>
                </a:solidFill>
                <a:latin typeface="Arial" pitchFamily="34" charset="0"/>
                <a:ea typeface="Arial" pitchFamily="34" charset="-122"/>
                <a:cs typeface="Arial" pitchFamily="34" charset="-120"/>
              </a:rPr>
              <a:t>, </a:t>
            </a:r>
            <a:pPr indent="0" marL="0">
              <a:spcAft>
                <a:spcPts val="300"/>
              </a:spcAft>
              <a:buNone/>
            </a:pPr>
            <a:r>
              <a:rPr lang="en-US" sz="1350" i="1" dirty="0">
                <a:solidFill>
                  <a:srgbClr val="1F2933"/>
                </a:solidFill>
                <a:latin typeface="Arial" pitchFamily="34" charset="0"/>
                <a:ea typeface="Arial" pitchFamily="34" charset="-122"/>
                <a:cs typeface="Arial" pitchFamily="34" charset="-120"/>
              </a:rPr>
              <a:t>MaHD</a:t>
            </a:r>
            <a:pPr indent="0" marL="0">
              <a:spcAft>
                <a:spcPts val="300"/>
              </a:spcAft>
              <a:buNone/>
            </a:pPr>
            <a:r>
              <a:rPr lang="en-US" sz="1350" dirty="0">
                <a:solidFill>
                  <a:srgbClr val="1F2933"/>
                </a:solidFill>
                <a:latin typeface="Arial" pitchFamily="34" charset="0"/>
                <a:ea typeface="Arial" pitchFamily="34" charset="-122"/>
                <a:cs typeface="Arial" pitchFamily="34" charset="-120"/>
              </a:rPr>
              <a:t>)</a:t>
            </a:r>
            <a:endParaRPr lang="en-US" sz="1300" dirty="0"/>
          </a:p>
        </p:txBody>
      </p:sp>
      <p:sp>
        <p:nvSpPr>
          <p:cNvPr id="25" name="Slide Number Placeholder 0"/>
          <p:cNvSpPr>
            <a:spLocks noGrp="1"/>
          </p:cNvSpPr>
          <p:nvPr>
            <p:ph type="sldNum" sz="quarter" idx="4294967295"/>
          </p:nvPr>
        </p:nvSpPr>
        <p:spPr>
          <a:xfrm>
            <a:off x="5150815" y="649224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Học viện Hàng không Việt Nam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lần 1 - Hệ thống quản lý bán vé và đặt chỗ chuyến bay</dc:title>
  <dc:subject>PptxGenJS Presentation</dc:subject>
  <dc:creator>PptxGenJS</dc:creator>
  <cp:lastModifiedBy>PptxGenJS</cp:lastModifiedBy>
  <cp:revision>1</cp:revision>
  <dcterms:created xsi:type="dcterms:W3CDTF">2026-10-09T14:35:21Z</dcterms:created>
  <dcterms:modified xsi:type="dcterms:W3CDTF">2026-10-09T14:35:21Z</dcterms:modified>
</cp:coreProperties>
</file>