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e0b79326-b458-41c4-e4bf-fb9f8744aba7}">
          <p14:sldIdLst>
            <p14:sldId id="256"/>
            <p14:sldId id="257"/>
            <p14:sldId id="258"/>
            <p14:sldId id="259"/>
            <p14:sldId id="260"/>
          </p14:sldIdLst>
        </p14:section>
        <p14:section name="A. Thành" id="{1eef73d3-3b0e-f157-20f9-e52ed94982eb}">
          <p14:sldIdLst>
            <p14:sldId id="261"/>
            <p14:sldId id="262"/>
            <p14:sldId id="263"/>
            <p14:sldId id="264"/>
          </p14:sldIdLst>
        </p14:section>
        <p14:section name="B. Vy" id="{e01c024e-0228-c52a-9af4-bb8aa70b1557}">
          <p14:sldIdLst>
            <p14:sldId id="265"/>
            <p14:sldId id="266"/>
            <p14:sldId id="267"/>
            <p14:sldId id="268"/>
          </p14:sldIdLst>
        </p14:section>
        <p14:section name="C. Danh" id="{e7ad4bff-de6d-6efa-9e96-af7137952557}">
          <p14:sldIdLst>
            <p14:sldId id="269"/>
            <p14:sldId id="270"/>
            <p14:sldId id="271"/>
            <p14:sldId id="272"/>
          </p14:sldIdLst>
        </p14:section>
        <p14:section name="D. Kiên" id="{769c6483-c182-8c1d-7f70-a593200ee597}">
          <p14:sldIdLst>
            <p14:sldId id="273"/>
            <p14:sldId id="274"/>
            <p14:sldId id="275"/>
            <p14:sldId id="276"/>
          </p14:sldIdLst>
        </p14:section>
        <p14:section name="E. Phong (NT)" id="{fabfc325-ab6c-1d36-77f8-e2922317ba9b}">
          <p14:sldIdLst>
            <p14:sldId id="277"/>
            <p14:sldId id="278"/>
            <p14:sldId id="279"/>
            <p14:sldId id="280"/>
          </p14:sldIdLst>
        </p14:section>
        <p14:section name="F. Trọng Nhân" id="{eab8c210-70b6-c281-f977-a314fdddeac3}">
          <p14:sldIdLst>
            <p14:sldId id="281"/>
            <p14:sldId id="282"/>
            <p14:sldId id="283"/>
            <p14:sldId id="284"/>
          </p14:sldIdLst>
        </p14:section>
        <p14:section name="Tổng hợp" id="{7dfb1b02-9b14-406b-298b-5222b0da6de3}">
          <p14:sldIdLst>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Thành trình bày phân hệ A. Ý chính:
- Liên kết đệ quy DuongBay (LK01) là *:* có thuộc tính: một sân bay vừa là điểm đi vừa là điểm đến của nhiều đường bay.
- CHUYEN_BAY và SAN_BAY có hai liên kết khác nhau (LK03 cất cánh, LK04 hạ cánh), sinh hai khóa ngoại đặt tên theo vai trò.
- Khóa ứng viên (SoHieuCB, NgayBay) vì số hiệu lặp lại mỗi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Vy trình bày phân hệ B. Ý chính:
- GHE_NGOI là thực thể yếu của MAY_BAY: ghế 12A có ở mọi máy bay.
- Multiplicity 1..9 ở LK06 là giới hạn cụ thể, kiểm tra bằng trigger.
- LK09 tùy chọn ở đầu GHE_NGOI (0..1) nên khóa ngoại ghép được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Danh trình bày phân hệ C. Ý chính:
- LK10 là liên kết 1:1 bắt buộc một đầu: khóa ngoại đặt ở THE_HOI_VIEN.
- LICH_SU_TICH_DIEM là thực thể yếu; LK12 là 1:1 tùy chọn cả hai đầu.
- SoDienThoai đa trị [1..3] tách thành quan hệ SDT_KHACH_HANG; HoTen phức hợp; /Tuoi suy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Kiên trình bày phân hệ D. Ý chính:
- Cấu trúc lớp cha/lớp con NHAN_VIEN {Optional, Or} và lý do chọn cách chuyển.
- Liên kết đệ quy NguoiQuanLy (LK15) và liên kết 1:1 Trưởng phòng (LK14).
- Hai liên kết *:* có thuộc tính LK17, LK18 nối từ lớp con sang CHUYEN_BAY (phân hệ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Phong (NT) trình bày phân hệ E. Ý chính:
- CHI_TIET_DICH_VU là thực thể có mã riêng (không phải lớp liên kết) vì một vé mua cùng dịch vụ nhiều lần, mỗi lần tính vào một hóa đơn.
- KichThuoc phức hợp tách thành Dai, Rong, Cao; /ThanhTien suy dẫn không lưu.
- Ba liên kết nối sang phân hệ khác: LK19, LK20 (B) và LK22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Trọng Nhân trình bày phân hệ F. Ý chính:
- Hóa đơn lập theo đặt chỗ (LK23); một đặt chỗ có nhiều hóa đơn.
- Ba liên kết tùy chọn ở đầu một (LK22, LK25, LK26) sinh khóa ngoại cho phép NULL.
- Thuộc tính suy dẫn /TienTruocThue, /TongThanhToan, /SoLuotDaDung không lưu, tính bằng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I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Nhóm ..</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_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Thành</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_B">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Vy</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H_C">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Danh</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_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Kiên</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_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Phong (NT)</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H_F">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Lớp: ........</a:t>
            </a:r>
            <a:endParaRPr lang="en-US" sz="1300" dirty="0"/>
          </a:p>
        </p:txBody>
      </p:sp>
      <p:sp>
        <p:nvSpPr>
          <p:cNvPr id="4" name="Shape 2"/>
          <p:cNvSpPr/>
          <p:nvPr/>
        </p:nvSpPr>
        <p:spPr>
          <a:xfrm>
            <a:off x="10545775" y="82296"/>
            <a:ext cx="1188720" cy="402336"/>
          </a:xfrm>
          <a:prstGeom prst="rect">
            <a:avLst/>
          </a:prstGeom>
          <a:solidFill>
            <a:srgbClr val="FFFFFF"/>
          </a:solidFill>
          <a:ln w="12700">
            <a:solidFill>
              <a:srgbClr val="FFFFFF"/>
            </a:solidFill>
            <a:prstDash val="solid"/>
          </a:ln>
        </p:spPr>
      </p:sp>
      <p:sp>
        <p:nvSpPr>
          <p:cNvPr id="5" name="Text 3"/>
          <p:cNvSpPr/>
          <p:nvPr/>
        </p:nvSpPr>
        <p:spPr>
          <a:xfrm>
            <a:off x="10545775" y="82296"/>
            <a:ext cx="1188720" cy="402336"/>
          </a:xfrm>
          <a:prstGeom prst="rect">
            <a:avLst/>
          </a:prstGeom>
          <a:noFill/>
          <a:ln/>
        </p:spPr>
        <p:txBody>
          <a:bodyPr wrap="square" lIns="0" tIns="0" rIns="0" bIns="0" rtlCol="0" anchor="ctr"/>
          <a:lstStyle/>
          <a:p>
            <a:pPr algn="ctr" indent="0" marL="0">
              <a:buNone/>
            </a:pPr>
            <a:r>
              <a:rPr lang="en-US" sz="1000" b="1" dirty="0">
                <a:solidFill>
                  <a:srgbClr val="1F5FAD"/>
                </a:solidFill>
                <a:latin typeface="Arial" pitchFamily="34" charset="0"/>
                <a:ea typeface="Arial" pitchFamily="34" charset="-122"/>
                <a:cs typeface="Arial" pitchFamily="34" charset="-120"/>
              </a:rPr>
              <a:t>LOGO VAA</a:t>
            </a:r>
            <a:endParaRPr lang="en-US" sz="1000" dirty="0"/>
          </a:p>
        </p:txBody>
      </p:sp>
      <p:sp>
        <p:nvSpPr>
          <p:cNvPr id="6" name="Shape 4"/>
          <p:cNvSpPr/>
          <p:nvPr/>
        </p:nvSpPr>
        <p:spPr>
          <a:xfrm>
            <a:off x="457200" y="6473952"/>
            <a:ext cx="11277295" cy="0"/>
          </a:xfrm>
          <a:prstGeom prst="line">
            <a:avLst/>
          </a:prstGeom>
          <a:noFill/>
          <a:ln w="9525">
            <a:solidFill>
              <a:srgbClr val="C9D3DF"/>
            </a:solidFill>
            <a:prstDash val="solid"/>
          </a:ln>
        </p:spPr>
      </p:sp>
      <p:sp>
        <p:nvSpPr>
          <p:cNvPr id="7" name="Text 5"/>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Trọng Nhân</a:t>
            </a:r>
            <a:endParaRPr lang="en-US" sz="1100" dirty="0"/>
          </a:p>
        </p:txBody>
      </p:sp>
      <p:sp>
        <p:nvSpPr>
          <p:cNvPr id="8" name="Text 6"/>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9" name="Text 7"/>
          <p:cNvSpPr/>
          <p:nvPr>
            <p:ph idx="107"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9.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457200" y="960120"/>
            <a:ext cx="7315200" cy="365760"/>
          </a:xfrm>
          <a:prstGeom prst="rect">
            <a:avLst/>
          </a:prstGeom>
          <a:noFill/>
          <a:ln/>
        </p:spPr>
        <p:txBody>
          <a:bodyPr wrap="square" lIns="0" tIns="0" rIns="0" bIns="0" rtlCol="0" anchor="ctr"/>
          <a:lstStyle/>
          <a:p>
            <a:pPr indent="0" marL="0">
              <a:buNone/>
            </a:pPr>
            <a:r>
              <a:rPr lang="en-US" sz="1400" b="1" spc="100" kern="0" dirty="0">
                <a:solidFill>
                  <a:srgbClr val="8A6A2F"/>
                </a:solidFill>
                <a:latin typeface="Arial" pitchFamily="34" charset="0"/>
                <a:ea typeface="Arial" pitchFamily="34" charset="-122"/>
                <a:cs typeface="Arial" pitchFamily="34" charset="-120"/>
              </a:rPr>
              <a:t>BÁO CÁO LẦN 1  ·  CƠ SỞ DỮ LIỆU (511002)</a:t>
            </a:r>
            <a:endParaRPr lang="en-US" sz="1400" dirty="0"/>
          </a:p>
        </p:txBody>
      </p:sp>
      <p:sp>
        <p:nvSpPr>
          <p:cNvPr id="3" name="txt2"/>
          <p:cNvSpPr txBox="1"/>
          <p:nvPr/>
        </p:nvSpPr>
        <p:spPr>
          <a:xfrm>
            <a:off x="457200" y="1371600"/>
            <a:ext cx="7498080" cy="1554480"/>
          </a:xfrm>
          <a:prstGeom prst="rect">
            <a:avLst/>
          </a:prstGeom>
          <a:noFill/>
          <a:ln/>
        </p:spPr>
        <p:txBody>
          <a:bodyPr wrap="square" lIns="0" tIns="0" rIns="0" bIns="0" rtlCol="0" anchor="t"/>
          <a:lstStyle/>
          <a:p>
            <a:pPr indent="0" marL="0">
              <a:buNone/>
            </a:pPr>
            <a:r>
              <a:rPr lang="en-US" sz="3800" b="1" dirty="0">
                <a:solidFill>
                  <a:srgbClr val="163F73"/>
                </a:solidFill>
                <a:latin typeface="Arial" pitchFamily="34" charset="0"/>
                <a:ea typeface="Arial" pitchFamily="34" charset="-122"/>
                <a:cs typeface="Arial" pitchFamily="34" charset="-120"/>
              </a:rPr>
              <a:t>Hệ thống quản lý bán vé</a:t>
            </a:r>
            <a:endParaRPr lang="en-US" sz="3800" dirty="0"/>
          </a:p>
          <a:p>
            <a:pPr indent="0" marL="0">
              <a:buNone/>
            </a:pPr>
            <a:r>
              <a:rPr lang="en-US" sz="3800" b="1" dirty="0">
                <a:solidFill>
                  <a:srgbClr val="163F73"/>
                </a:solidFill>
                <a:latin typeface="Arial" pitchFamily="34" charset="0"/>
                <a:ea typeface="Arial" pitchFamily="34" charset="-122"/>
                <a:cs typeface="Arial" pitchFamily="34" charset="-120"/>
              </a:rPr>
              <a:t>và đặt chỗ chuyến bay</a:t>
            </a:r>
            <a:endParaRPr lang="en-US" sz="3800" dirty="0"/>
          </a:p>
        </p:txBody>
      </p:sp>
      <p:sp>
        <p:nvSpPr>
          <p:cNvPr id="4" name="txt3"/>
          <p:cNvSpPr txBox="1"/>
          <p:nvPr/>
        </p:nvSpPr>
        <p:spPr>
          <a:xfrm>
            <a:off x="457200" y="2926080"/>
            <a:ext cx="7315200" cy="411480"/>
          </a:xfrm>
          <a:prstGeom prst="rect">
            <a:avLst/>
          </a:prstGeom>
          <a:noFill/>
          <a:ln/>
        </p:spPr>
        <p:txBody>
          <a:bodyPr wrap="square" lIns="0" tIns="0" rIns="0" bIns="0" rtlCol="0" anchor="ctr"/>
          <a:lstStyle/>
          <a:p>
            <a:pPr indent="0" marL="0">
              <a:buNone/>
            </a:pPr>
            <a:r>
              <a:rPr lang="en-US" sz="1800" i="1" dirty="0">
                <a:solidFill>
                  <a:srgbClr val="5F6B7A"/>
                </a:solidFill>
                <a:latin typeface="Arial" pitchFamily="34" charset="0"/>
                <a:ea typeface="Arial" pitchFamily="34" charset="-122"/>
                <a:cs typeface="Arial" pitchFamily="34" charset="-120"/>
              </a:rPr>
              <a:t>Vietnam Airline System</a:t>
            </a:r>
            <a:endParaRPr lang="en-US" sz="1800" dirty="0"/>
          </a:p>
        </p:txBody>
      </p:sp>
      <p:sp>
        <p:nvSpPr>
          <p:cNvPr id="5" name="txt4"/>
          <p:cNvSpPr txBox="1"/>
          <p:nvPr/>
        </p:nvSpPr>
        <p:spPr>
          <a:xfrm>
            <a:off x="457200" y="3566160"/>
            <a:ext cx="7315200" cy="36576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Nhóm ..  ·  Nhóm trưởng: Phong</a:t>
            </a:r>
            <a:endParaRPr lang="en-US" sz="1500" dirty="0"/>
          </a:p>
        </p:txBody>
      </p:sp>
      <p:sp>
        <p:nvSpPr>
          <p:cNvPr id="6" name="khung_thanh_vien"/>
          <p:cNvSpPr/>
          <p:nvPr/>
        </p:nvSpPr>
        <p:spPr>
          <a:xfrm>
            <a:off x="8001000" y="960120"/>
            <a:ext cx="3730752" cy="5120640"/>
          </a:xfrm>
          <a:prstGeom prst="rect">
            <a:avLst/>
          </a:prstGeom>
          <a:solidFill>
            <a:srgbClr val="F7F0E1"/>
          </a:solidFill>
          <a:ln w="12700">
            <a:solidFill>
              <a:srgbClr val="E6D3AA"/>
            </a:solidFill>
            <a:prstDash val="solid"/>
          </a:ln>
        </p:spPr>
      </p:sp>
      <p:sp>
        <p:nvSpPr>
          <p:cNvPr id="7" name="txt5"/>
          <p:cNvSpPr txBox="1"/>
          <p:nvPr/>
        </p:nvSpPr>
        <p:spPr>
          <a:xfrm>
            <a:off x="8229600" y="1143000"/>
            <a:ext cx="3291840" cy="36576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Thành viên</a:t>
            </a:r>
            <a:endParaRPr lang="en-US" sz="1400" dirty="0"/>
          </a:p>
        </p:txBody>
      </p:sp>
      <p:sp>
        <p:nvSpPr>
          <p:cNvPr id="8" name="txt6"/>
          <p:cNvSpPr txBox="1"/>
          <p:nvPr/>
        </p:nvSpPr>
        <p:spPr>
          <a:xfrm>
            <a:off x="8229600" y="16002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Thành</a:t>
            </a:r>
            <a:endParaRPr lang="en-US" sz="1500" dirty="0"/>
          </a:p>
        </p:txBody>
      </p:sp>
      <p:sp>
        <p:nvSpPr>
          <p:cNvPr id="9" name="txt7"/>
          <p:cNvSpPr txBox="1"/>
          <p:nvPr/>
        </p:nvSpPr>
        <p:spPr>
          <a:xfrm>
            <a:off x="8229600" y="18928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A</a:t>
            </a:r>
            <a:endParaRPr lang="en-US" sz="1100" dirty="0"/>
          </a:p>
        </p:txBody>
      </p:sp>
      <p:sp>
        <p:nvSpPr>
          <p:cNvPr id="10" name="txt8"/>
          <p:cNvSpPr txBox="1"/>
          <p:nvPr/>
        </p:nvSpPr>
        <p:spPr>
          <a:xfrm>
            <a:off x="8229600" y="233172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Vy</a:t>
            </a:r>
            <a:endParaRPr lang="en-US" sz="1500" dirty="0"/>
          </a:p>
        </p:txBody>
      </p:sp>
      <p:sp>
        <p:nvSpPr>
          <p:cNvPr id="11" name="txt9"/>
          <p:cNvSpPr txBox="1"/>
          <p:nvPr/>
        </p:nvSpPr>
        <p:spPr>
          <a:xfrm>
            <a:off x="8229600" y="262432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B</a:t>
            </a:r>
            <a:endParaRPr lang="en-US" sz="1100" dirty="0"/>
          </a:p>
        </p:txBody>
      </p:sp>
      <p:sp>
        <p:nvSpPr>
          <p:cNvPr id="12" name="txt10"/>
          <p:cNvSpPr txBox="1"/>
          <p:nvPr/>
        </p:nvSpPr>
        <p:spPr>
          <a:xfrm>
            <a:off x="8229600" y="306324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Danh</a:t>
            </a:r>
            <a:endParaRPr lang="en-US" sz="1500" dirty="0"/>
          </a:p>
        </p:txBody>
      </p:sp>
      <p:sp>
        <p:nvSpPr>
          <p:cNvPr id="13" name="txt11"/>
          <p:cNvSpPr txBox="1"/>
          <p:nvPr/>
        </p:nvSpPr>
        <p:spPr>
          <a:xfrm>
            <a:off x="8229600" y="335584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C</a:t>
            </a:r>
            <a:endParaRPr lang="en-US" sz="1100" dirty="0"/>
          </a:p>
        </p:txBody>
      </p:sp>
      <p:sp>
        <p:nvSpPr>
          <p:cNvPr id="14" name="txt12"/>
          <p:cNvSpPr txBox="1"/>
          <p:nvPr/>
        </p:nvSpPr>
        <p:spPr>
          <a:xfrm>
            <a:off x="8229600" y="379476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Kiên</a:t>
            </a:r>
            <a:endParaRPr lang="en-US" sz="1500" dirty="0"/>
          </a:p>
        </p:txBody>
      </p:sp>
      <p:sp>
        <p:nvSpPr>
          <p:cNvPr id="15" name="txt13"/>
          <p:cNvSpPr txBox="1"/>
          <p:nvPr/>
        </p:nvSpPr>
        <p:spPr>
          <a:xfrm>
            <a:off x="8229600" y="408736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D</a:t>
            </a:r>
            <a:endParaRPr lang="en-US" sz="1100" dirty="0"/>
          </a:p>
        </p:txBody>
      </p:sp>
      <p:sp>
        <p:nvSpPr>
          <p:cNvPr id="16" name="txt14"/>
          <p:cNvSpPr txBox="1"/>
          <p:nvPr/>
        </p:nvSpPr>
        <p:spPr>
          <a:xfrm>
            <a:off x="8229600" y="452628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Phong (NT)</a:t>
            </a:r>
            <a:endParaRPr lang="en-US" sz="1500" dirty="0"/>
          </a:p>
        </p:txBody>
      </p:sp>
      <p:sp>
        <p:nvSpPr>
          <p:cNvPr id="17" name="txt15"/>
          <p:cNvSpPr txBox="1"/>
          <p:nvPr/>
        </p:nvSpPr>
        <p:spPr>
          <a:xfrm>
            <a:off x="8229600" y="481888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E</a:t>
            </a:r>
            <a:endParaRPr lang="en-US" sz="1100" dirty="0"/>
          </a:p>
        </p:txBody>
      </p:sp>
      <p:sp>
        <p:nvSpPr>
          <p:cNvPr id="18" name="txt16"/>
          <p:cNvSpPr txBox="1"/>
          <p:nvPr/>
        </p:nvSpPr>
        <p:spPr>
          <a:xfrm>
            <a:off x="8229600" y="52578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Trọng Nhân</a:t>
            </a:r>
            <a:endParaRPr lang="en-US" sz="1500" dirty="0"/>
          </a:p>
        </p:txBody>
      </p:sp>
      <p:sp>
        <p:nvSpPr>
          <p:cNvPr id="19" name="txt17"/>
          <p:cNvSpPr txBox="1"/>
          <p:nvPr/>
        </p:nvSpPr>
        <p:spPr>
          <a:xfrm>
            <a:off x="8229600" y="55504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F</a:t>
            </a:r>
            <a:endParaRPr lang="en-US" sz="1100" dirty="0"/>
          </a:p>
        </p:txBody>
      </p:sp>
      <p:sp>
        <p:nvSpPr>
          <p:cNvPr id="20" name="txt18"/>
          <p:cNvSpPr txBox="1"/>
          <p:nvPr/>
        </p:nvSpPr>
        <p:spPr>
          <a:xfrm>
            <a:off x="457200" y="6035040"/>
            <a:ext cx="7315200" cy="32004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Học viện Hàng không Việt Nam  ·  Khoa Công nghệ thông tin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phân chia công việc</a:t>
            </a:r>
            <a:endParaRPr lang="en-US" sz="2600" dirty="0"/>
          </a:p>
        </p:txBody>
      </p:sp>
      <p:sp>
        <p:nvSpPr>
          <p:cNvPr id="3" name="bang19_o0_0"/>
          <p:cNvSpPr/>
          <p:nvPr/>
        </p:nvSpPr>
        <p:spPr>
          <a:xfrm>
            <a:off x="457200" y="1481328"/>
            <a:ext cx="548640" cy="481584"/>
          </a:xfrm>
          <a:prstGeom prst="rect">
            <a:avLst/>
          </a:prstGeom>
          <a:solidFill>
            <a:srgbClr val="E6D3AA"/>
          </a:solidFill>
          <a:ln w="9525">
            <a:solidFill>
              <a:srgbClr val="C9D3DF"/>
            </a:solidFill>
            <a:prstDash val="solid"/>
          </a:ln>
        </p:spPr>
      </p:sp>
      <p:sp>
        <p:nvSpPr>
          <p:cNvPr id="4" name="bang19_t0_0"/>
          <p:cNvSpPr txBox="1"/>
          <p:nvPr/>
        </p:nvSpPr>
        <p:spPr>
          <a:xfrm>
            <a:off x="512064" y="1527048"/>
            <a:ext cx="4389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STT</a:t>
            </a:r>
            <a:endParaRPr lang="en-US" sz="1200" dirty="0"/>
          </a:p>
        </p:txBody>
      </p:sp>
      <p:sp>
        <p:nvSpPr>
          <p:cNvPr id="5" name="bang19_o0_1"/>
          <p:cNvSpPr/>
          <p:nvPr/>
        </p:nvSpPr>
        <p:spPr>
          <a:xfrm>
            <a:off x="1005840" y="1481328"/>
            <a:ext cx="1828800" cy="481584"/>
          </a:xfrm>
          <a:prstGeom prst="rect">
            <a:avLst/>
          </a:prstGeom>
          <a:solidFill>
            <a:srgbClr val="E6D3AA"/>
          </a:solidFill>
          <a:ln w="9525">
            <a:solidFill>
              <a:srgbClr val="C9D3DF"/>
            </a:solidFill>
            <a:prstDash val="solid"/>
          </a:ln>
        </p:spPr>
      </p:sp>
      <p:sp>
        <p:nvSpPr>
          <p:cNvPr id="6" name="bang19_t0_1"/>
          <p:cNvSpPr txBox="1"/>
          <p:nvPr/>
        </p:nvSpPr>
        <p:spPr>
          <a:xfrm>
            <a:off x="1060704" y="1527048"/>
            <a:ext cx="171907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Họ và tên</a:t>
            </a:r>
            <a:endParaRPr lang="en-US" sz="1200" dirty="0"/>
          </a:p>
        </p:txBody>
      </p:sp>
      <p:sp>
        <p:nvSpPr>
          <p:cNvPr id="7" name="bang19_o0_2"/>
          <p:cNvSpPr/>
          <p:nvPr/>
        </p:nvSpPr>
        <p:spPr>
          <a:xfrm>
            <a:off x="2834640" y="1481328"/>
            <a:ext cx="1463040" cy="481584"/>
          </a:xfrm>
          <a:prstGeom prst="rect">
            <a:avLst/>
          </a:prstGeom>
          <a:solidFill>
            <a:srgbClr val="E6D3AA"/>
          </a:solidFill>
          <a:ln w="9525">
            <a:solidFill>
              <a:srgbClr val="C9D3DF"/>
            </a:solidFill>
            <a:prstDash val="solid"/>
          </a:ln>
        </p:spPr>
      </p:sp>
      <p:sp>
        <p:nvSpPr>
          <p:cNvPr id="8" name="bang19_t0_2"/>
          <p:cNvSpPr txBox="1"/>
          <p:nvPr/>
        </p:nvSpPr>
        <p:spPr>
          <a:xfrm>
            <a:off x="2889504" y="1527048"/>
            <a:ext cx="13533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MSSV</a:t>
            </a:r>
            <a:endParaRPr lang="en-US" sz="1200" dirty="0"/>
          </a:p>
        </p:txBody>
      </p:sp>
      <p:sp>
        <p:nvSpPr>
          <p:cNvPr id="9" name="bang19_o0_3"/>
          <p:cNvSpPr/>
          <p:nvPr/>
        </p:nvSpPr>
        <p:spPr>
          <a:xfrm>
            <a:off x="4297680" y="1481328"/>
            <a:ext cx="2651760" cy="481584"/>
          </a:xfrm>
          <a:prstGeom prst="rect">
            <a:avLst/>
          </a:prstGeom>
          <a:solidFill>
            <a:srgbClr val="E6D3AA"/>
          </a:solidFill>
          <a:ln w="9525">
            <a:solidFill>
              <a:srgbClr val="C9D3DF"/>
            </a:solidFill>
            <a:prstDash val="solid"/>
          </a:ln>
        </p:spPr>
      </p:sp>
      <p:sp>
        <p:nvSpPr>
          <p:cNvPr id="10" name="bang19_t0_3"/>
          <p:cNvSpPr txBox="1"/>
          <p:nvPr/>
        </p:nvSpPr>
        <p:spPr>
          <a:xfrm>
            <a:off x="4352544" y="1527048"/>
            <a:ext cx="25420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Phân hệ phụ trách</a:t>
            </a:r>
            <a:endParaRPr lang="en-US" sz="1200" dirty="0"/>
          </a:p>
        </p:txBody>
      </p:sp>
      <p:sp>
        <p:nvSpPr>
          <p:cNvPr id="11" name="bang19_o0_4"/>
          <p:cNvSpPr/>
          <p:nvPr/>
        </p:nvSpPr>
        <p:spPr>
          <a:xfrm>
            <a:off x="6949440" y="1481328"/>
            <a:ext cx="3959352" cy="481584"/>
          </a:xfrm>
          <a:prstGeom prst="rect">
            <a:avLst/>
          </a:prstGeom>
          <a:solidFill>
            <a:srgbClr val="E6D3AA"/>
          </a:solidFill>
          <a:ln w="9525">
            <a:solidFill>
              <a:srgbClr val="C9D3DF"/>
            </a:solidFill>
            <a:prstDash val="solid"/>
          </a:ln>
        </p:spPr>
      </p:sp>
      <p:sp>
        <p:nvSpPr>
          <p:cNvPr id="12" name="bang19_t0_4"/>
          <p:cNvSpPr txBox="1"/>
          <p:nvPr/>
        </p:nvSpPr>
        <p:spPr>
          <a:xfrm>
            <a:off x="7004304" y="1527048"/>
            <a:ext cx="3849624"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phụ trách</a:t>
            </a:r>
            <a:endParaRPr lang="en-US" sz="1200" dirty="0"/>
          </a:p>
        </p:txBody>
      </p:sp>
      <p:sp>
        <p:nvSpPr>
          <p:cNvPr id="13" name="bang19_o0_5"/>
          <p:cNvSpPr/>
          <p:nvPr/>
        </p:nvSpPr>
        <p:spPr>
          <a:xfrm>
            <a:off x="10908792" y="1481328"/>
            <a:ext cx="822960" cy="481584"/>
          </a:xfrm>
          <a:prstGeom prst="rect">
            <a:avLst/>
          </a:prstGeom>
          <a:solidFill>
            <a:srgbClr val="E6D3AA"/>
          </a:solidFill>
          <a:ln w="9525">
            <a:solidFill>
              <a:srgbClr val="C9D3DF"/>
            </a:solidFill>
            <a:prstDash val="solid"/>
          </a:ln>
        </p:spPr>
      </p:sp>
      <p:sp>
        <p:nvSpPr>
          <p:cNvPr id="14" name="bang19_t0_5"/>
          <p:cNvSpPr txBox="1"/>
          <p:nvPr/>
        </p:nvSpPr>
        <p:spPr>
          <a:xfrm>
            <a:off x="10963656" y="1527048"/>
            <a:ext cx="7132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Tỷ lệ (%)</a:t>
            </a:r>
            <a:endParaRPr lang="en-US" sz="1200" dirty="0"/>
          </a:p>
        </p:txBody>
      </p:sp>
      <p:sp>
        <p:nvSpPr>
          <p:cNvPr id="15" name="bang19_o1_0"/>
          <p:cNvSpPr/>
          <p:nvPr/>
        </p:nvSpPr>
        <p:spPr>
          <a:xfrm>
            <a:off x="457200" y="1962912"/>
            <a:ext cx="548640" cy="295656"/>
          </a:xfrm>
          <a:prstGeom prst="rect">
            <a:avLst/>
          </a:prstGeom>
          <a:solidFill>
            <a:srgbClr val="FFFFFF"/>
          </a:solidFill>
          <a:ln w="9525">
            <a:solidFill>
              <a:srgbClr val="C9D3DF"/>
            </a:solidFill>
            <a:prstDash val="solid"/>
          </a:ln>
        </p:spPr>
      </p:sp>
      <p:sp>
        <p:nvSpPr>
          <p:cNvPr id="16" name="bang19_t1_0"/>
          <p:cNvSpPr txBox="1"/>
          <p:nvPr/>
        </p:nvSpPr>
        <p:spPr>
          <a:xfrm>
            <a:off x="512064" y="2008632"/>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p>
        </p:txBody>
      </p:sp>
      <p:sp>
        <p:nvSpPr>
          <p:cNvPr id="17" name="bang19_o1_1"/>
          <p:cNvSpPr/>
          <p:nvPr/>
        </p:nvSpPr>
        <p:spPr>
          <a:xfrm>
            <a:off x="1005840" y="1962912"/>
            <a:ext cx="1828800" cy="295656"/>
          </a:xfrm>
          <a:prstGeom prst="rect">
            <a:avLst/>
          </a:prstGeom>
          <a:solidFill>
            <a:srgbClr val="FFFFFF"/>
          </a:solidFill>
          <a:ln w="9525">
            <a:solidFill>
              <a:srgbClr val="C9D3DF"/>
            </a:solidFill>
            <a:prstDash val="solid"/>
          </a:ln>
        </p:spPr>
      </p:sp>
      <p:sp>
        <p:nvSpPr>
          <p:cNvPr id="18" name="bang19_t1_1"/>
          <p:cNvSpPr txBox="1"/>
          <p:nvPr/>
        </p:nvSpPr>
        <p:spPr>
          <a:xfrm>
            <a:off x="1060704" y="2008632"/>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Thành</a:t>
            </a:r>
            <a:endParaRPr lang="en-US" sz="1200" dirty="0"/>
          </a:p>
        </p:txBody>
      </p:sp>
      <p:sp>
        <p:nvSpPr>
          <p:cNvPr id="19" name="bang19_o1_2"/>
          <p:cNvSpPr/>
          <p:nvPr/>
        </p:nvSpPr>
        <p:spPr>
          <a:xfrm>
            <a:off x="2834640" y="1962912"/>
            <a:ext cx="1463040" cy="295656"/>
          </a:xfrm>
          <a:prstGeom prst="rect">
            <a:avLst/>
          </a:prstGeom>
          <a:solidFill>
            <a:srgbClr val="FFFFFF"/>
          </a:solidFill>
          <a:ln w="9525">
            <a:solidFill>
              <a:srgbClr val="C9D3DF"/>
            </a:solidFill>
            <a:prstDash val="solid"/>
          </a:ln>
        </p:spPr>
      </p:sp>
      <p:sp>
        <p:nvSpPr>
          <p:cNvPr id="20" name="bang19_o1_3"/>
          <p:cNvSpPr/>
          <p:nvPr/>
        </p:nvSpPr>
        <p:spPr>
          <a:xfrm>
            <a:off x="4297680" y="1962912"/>
            <a:ext cx="2651760" cy="295656"/>
          </a:xfrm>
          <a:prstGeom prst="rect">
            <a:avLst/>
          </a:prstGeom>
          <a:solidFill>
            <a:srgbClr val="FFFFFF"/>
          </a:solidFill>
          <a:ln w="9525">
            <a:solidFill>
              <a:srgbClr val="C9D3DF"/>
            </a:solidFill>
            <a:prstDash val="solid"/>
          </a:ln>
        </p:spPr>
      </p:sp>
      <p:sp>
        <p:nvSpPr>
          <p:cNvPr id="21" name="bang19_t1_3"/>
          <p:cNvSpPr txBox="1"/>
          <p:nvPr/>
        </p:nvSpPr>
        <p:spPr>
          <a:xfrm>
            <a:off x="4352544" y="2008632"/>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A. Chuyến bay và lịch trình</a:t>
            </a:r>
            <a:endParaRPr lang="en-US" sz="1200" dirty="0"/>
          </a:p>
        </p:txBody>
      </p:sp>
      <p:sp>
        <p:nvSpPr>
          <p:cNvPr id="22" name="bang19_o1_4"/>
          <p:cNvSpPr/>
          <p:nvPr/>
        </p:nvSpPr>
        <p:spPr>
          <a:xfrm>
            <a:off x="6949440" y="1962912"/>
            <a:ext cx="3959352" cy="295656"/>
          </a:xfrm>
          <a:prstGeom prst="rect">
            <a:avLst/>
          </a:prstGeom>
          <a:solidFill>
            <a:srgbClr val="FFFFFF"/>
          </a:solidFill>
          <a:ln w="9525">
            <a:solidFill>
              <a:srgbClr val="C9D3DF"/>
            </a:solidFill>
            <a:prstDash val="solid"/>
          </a:ln>
        </p:spPr>
      </p:sp>
      <p:sp>
        <p:nvSpPr>
          <p:cNvPr id="23" name="bang19_t1_4"/>
          <p:cNvSpPr txBox="1"/>
          <p:nvPr/>
        </p:nvSpPr>
        <p:spPr>
          <a:xfrm>
            <a:off x="7004304" y="2008632"/>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SAN_BAY, MAY_BAY, CHUYEN_BAY</a:t>
            </a:r>
            <a:endParaRPr lang="en-US" sz="1200" dirty="0"/>
          </a:p>
        </p:txBody>
      </p:sp>
      <p:sp>
        <p:nvSpPr>
          <p:cNvPr id="24" name="bang19_o1_5"/>
          <p:cNvSpPr/>
          <p:nvPr/>
        </p:nvSpPr>
        <p:spPr>
          <a:xfrm>
            <a:off x="10908792" y="1962912"/>
            <a:ext cx="822960" cy="295656"/>
          </a:xfrm>
          <a:prstGeom prst="rect">
            <a:avLst/>
          </a:prstGeom>
          <a:solidFill>
            <a:srgbClr val="FFFFFF"/>
          </a:solidFill>
          <a:ln w="9525">
            <a:solidFill>
              <a:srgbClr val="C9D3DF"/>
            </a:solidFill>
            <a:prstDash val="solid"/>
          </a:ln>
        </p:spPr>
      </p:sp>
      <p:sp>
        <p:nvSpPr>
          <p:cNvPr id="25" name="bang19_o2_0"/>
          <p:cNvSpPr/>
          <p:nvPr/>
        </p:nvSpPr>
        <p:spPr>
          <a:xfrm>
            <a:off x="457200" y="2258568"/>
            <a:ext cx="548640" cy="295656"/>
          </a:xfrm>
          <a:prstGeom prst="rect">
            <a:avLst/>
          </a:prstGeom>
          <a:solidFill>
            <a:srgbClr val="F7F0E1"/>
          </a:solidFill>
          <a:ln w="9525">
            <a:solidFill>
              <a:srgbClr val="C9D3DF"/>
            </a:solidFill>
            <a:prstDash val="solid"/>
          </a:ln>
        </p:spPr>
      </p:sp>
      <p:sp>
        <p:nvSpPr>
          <p:cNvPr id="26" name="bang19_t2_0"/>
          <p:cNvSpPr txBox="1"/>
          <p:nvPr/>
        </p:nvSpPr>
        <p:spPr>
          <a:xfrm>
            <a:off x="512064" y="2304288"/>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p>
        </p:txBody>
      </p:sp>
      <p:sp>
        <p:nvSpPr>
          <p:cNvPr id="27" name="bang19_o2_1"/>
          <p:cNvSpPr/>
          <p:nvPr/>
        </p:nvSpPr>
        <p:spPr>
          <a:xfrm>
            <a:off x="1005840" y="2258568"/>
            <a:ext cx="1828800" cy="295656"/>
          </a:xfrm>
          <a:prstGeom prst="rect">
            <a:avLst/>
          </a:prstGeom>
          <a:solidFill>
            <a:srgbClr val="F7F0E1"/>
          </a:solidFill>
          <a:ln w="9525">
            <a:solidFill>
              <a:srgbClr val="C9D3DF"/>
            </a:solidFill>
            <a:prstDash val="solid"/>
          </a:ln>
        </p:spPr>
      </p:sp>
      <p:sp>
        <p:nvSpPr>
          <p:cNvPr id="28" name="bang19_t2_1"/>
          <p:cNvSpPr txBox="1"/>
          <p:nvPr/>
        </p:nvSpPr>
        <p:spPr>
          <a:xfrm>
            <a:off x="1060704" y="2304288"/>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Vy</a:t>
            </a:r>
            <a:endParaRPr lang="en-US" sz="1200" dirty="0"/>
          </a:p>
        </p:txBody>
      </p:sp>
      <p:sp>
        <p:nvSpPr>
          <p:cNvPr id="29" name="bang19_o2_2"/>
          <p:cNvSpPr/>
          <p:nvPr/>
        </p:nvSpPr>
        <p:spPr>
          <a:xfrm>
            <a:off x="2834640" y="2258568"/>
            <a:ext cx="1463040" cy="295656"/>
          </a:xfrm>
          <a:prstGeom prst="rect">
            <a:avLst/>
          </a:prstGeom>
          <a:solidFill>
            <a:srgbClr val="F7F0E1"/>
          </a:solidFill>
          <a:ln w="9525">
            <a:solidFill>
              <a:srgbClr val="C9D3DF"/>
            </a:solidFill>
            <a:prstDash val="solid"/>
          </a:ln>
        </p:spPr>
      </p:sp>
      <p:sp>
        <p:nvSpPr>
          <p:cNvPr id="30" name="bang19_o2_3"/>
          <p:cNvSpPr/>
          <p:nvPr/>
        </p:nvSpPr>
        <p:spPr>
          <a:xfrm>
            <a:off x="4297680" y="2258568"/>
            <a:ext cx="2651760" cy="295656"/>
          </a:xfrm>
          <a:prstGeom prst="rect">
            <a:avLst/>
          </a:prstGeom>
          <a:solidFill>
            <a:srgbClr val="F7F0E1"/>
          </a:solidFill>
          <a:ln w="9525">
            <a:solidFill>
              <a:srgbClr val="C9D3DF"/>
            </a:solidFill>
            <a:prstDash val="solid"/>
          </a:ln>
        </p:spPr>
      </p:sp>
      <p:sp>
        <p:nvSpPr>
          <p:cNvPr id="31" name="bang19_t2_3"/>
          <p:cNvSpPr txBox="1"/>
          <p:nvPr/>
        </p:nvSpPr>
        <p:spPr>
          <a:xfrm>
            <a:off x="4352544" y="2304288"/>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B. Đặt chỗ và vé máy bay</a:t>
            </a:r>
            <a:endParaRPr lang="en-US" sz="1200" dirty="0"/>
          </a:p>
        </p:txBody>
      </p:sp>
      <p:sp>
        <p:nvSpPr>
          <p:cNvPr id="32" name="bang19_o2_4"/>
          <p:cNvSpPr/>
          <p:nvPr/>
        </p:nvSpPr>
        <p:spPr>
          <a:xfrm>
            <a:off x="6949440" y="2258568"/>
            <a:ext cx="3959352" cy="295656"/>
          </a:xfrm>
          <a:prstGeom prst="rect">
            <a:avLst/>
          </a:prstGeom>
          <a:solidFill>
            <a:srgbClr val="F7F0E1"/>
          </a:solidFill>
          <a:ln w="9525">
            <a:solidFill>
              <a:srgbClr val="C9D3DF"/>
            </a:solidFill>
            <a:prstDash val="solid"/>
          </a:ln>
        </p:spPr>
      </p:sp>
      <p:sp>
        <p:nvSpPr>
          <p:cNvPr id="33" name="bang19_t2_4"/>
          <p:cNvSpPr txBox="1"/>
          <p:nvPr/>
        </p:nvSpPr>
        <p:spPr>
          <a:xfrm>
            <a:off x="7004304" y="2304288"/>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DAT_CHO, GHE_NGOI, VE_MAY_BAY</a:t>
            </a:r>
            <a:endParaRPr lang="en-US" sz="1200" dirty="0"/>
          </a:p>
        </p:txBody>
      </p:sp>
      <p:sp>
        <p:nvSpPr>
          <p:cNvPr id="34" name="bang19_o2_5"/>
          <p:cNvSpPr/>
          <p:nvPr/>
        </p:nvSpPr>
        <p:spPr>
          <a:xfrm>
            <a:off x="10908792" y="2258568"/>
            <a:ext cx="822960" cy="295656"/>
          </a:xfrm>
          <a:prstGeom prst="rect">
            <a:avLst/>
          </a:prstGeom>
          <a:solidFill>
            <a:srgbClr val="F7F0E1"/>
          </a:solidFill>
          <a:ln w="9525">
            <a:solidFill>
              <a:srgbClr val="C9D3DF"/>
            </a:solidFill>
            <a:prstDash val="solid"/>
          </a:ln>
        </p:spPr>
      </p:sp>
      <p:sp>
        <p:nvSpPr>
          <p:cNvPr id="35" name="bang19_o3_0"/>
          <p:cNvSpPr/>
          <p:nvPr/>
        </p:nvSpPr>
        <p:spPr>
          <a:xfrm>
            <a:off x="457200" y="2554224"/>
            <a:ext cx="548640" cy="481584"/>
          </a:xfrm>
          <a:prstGeom prst="rect">
            <a:avLst/>
          </a:prstGeom>
          <a:solidFill>
            <a:srgbClr val="FFFFFF"/>
          </a:solidFill>
          <a:ln w="9525">
            <a:solidFill>
              <a:srgbClr val="C9D3DF"/>
            </a:solidFill>
            <a:prstDash val="solid"/>
          </a:ln>
        </p:spPr>
      </p:sp>
      <p:sp>
        <p:nvSpPr>
          <p:cNvPr id="36" name="bang19_t3_0"/>
          <p:cNvSpPr txBox="1"/>
          <p:nvPr/>
        </p:nvSpPr>
        <p:spPr>
          <a:xfrm>
            <a:off x="512064" y="2599944"/>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3</a:t>
            </a:r>
            <a:endParaRPr lang="en-US" sz="1200" dirty="0"/>
          </a:p>
        </p:txBody>
      </p:sp>
      <p:sp>
        <p:nvSpPr>
          <p:cNvPr id="37" name="bang19_o3_1"/>
          <p:cNvSpPr/>
          <p:nvPr/>
        </p:nvSpPr>
        <p:spPr>
          <a:xfrm>
            <a:off x="1005840" y="2554224"/>
            <a:ext cx="1828800" cy="481584"/>
          </a:xfrm>
          <a:prstGeom prst="rect">
            <a:avLst/>
          </a:prstGeom>
          <a:solidFill>
            <a:srgbClr val="FFFFFF"/>
          </a:solidFill>
          <a:ln w="9525">
            <a:solidFill>
              <a:srgbClr val="C9D3DF"/>
            </a:solidFill>
            <a:prstDash val="solid"/>
          </a:ln>
        </p:spPr>
      </p:sp>
      <p:sp>
        <p:nvSpPr>
          <p:cNvPr id="38" name="bang19_t3_1"/>
          <p:cNvSpPr txBox="1"/>
          <p:nvPr/>
        </p:nvSpPr>
        <p:spPr>
          <a:xfrm>
            <a:off x="1060704" y="2599944"/>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Danh</a:t>
            </a:r>
            <a:endParaRPr lang="en-US" sz="1200" dirty="0"/>
          </a:p>
        </p:txBody>
      </p:sp>
      <p:sp>
        <p:nvSpPr>
          <p:cNvPr id="39" name="bang19_o3_2"/>
          <p:cNvSpPr/>
          <p:nvPr/>
        </p:nvSpPr>
        <p:spPr>
          <a:xfrm>
            <a:off x="2834640" y="2554224"/>
            <a:ext cx="1463040" cy="481584"/>
          </a:xfrm>
          <a:prstGeom prst="rect">
            <a:avLst/>
          </a:prstGeom>
          <a:solidFill>
            <a:srgbClr val="FFFFFF"/>
          </a:solidFill>
          <a:ln w="9525">
            <a:solidFill>
              <a:srgbClr val="C9D3DF"/>
            </a:solidFill>
            <a:prstDash val="solid"/>
          </a:ln>
        </p:spPr>
      </p:sp>
      <p:sp>
        <p:nvSpPr>
          <p:cNvPr id="40" name="bang19_o3_3"/>
          <p:cNvSpPr/>
          <p:nvPr/>
        </p:nvSpPr>
        <p:spPr>
          <a:xfrm>
            <a:off x="4297680" y="2554224"/>
            <a:ext cx="2651760" cy="481584"/>
          </a:xfrm>
          <a:prstGeom prst="rect">
            <a:avLst/>
          </a:prstGeom>
          <a:solidFill>
            <a:srgbClr val="FFFFFF"/>
          </a:solidFill>
          <a:ln w="9525">
            <a:solidFill>
              <a:srgbClr val="C9D3DF"/>
            </a:solidFill>
            <a:prstDash val="solid"/>
          </a:ln>
        </p:spPr>
      </p:sp>
      <p:sp>
        <p:nvSpPr>
          <p:cNvPr id="41" name="bang19_t3_3"/>
          <p:cNvSpPr txBox="1"/>
          <p:nvPr/>
        </p:nvSpPr>
        <p:spPr>
          <a:xfrm>
            <a:off x="4352544" y="2599944"/>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C. Khách hàng và hội viên</a:t>
            </a:r>
            <a:endParaRPr lang="en-US" sz="1200" dirty="0"/>
          </a:p>
        </p:txBody>
      </p:sp>
      <p:sp>
        <p:nvSpPr>
          <p:cNvPr id="42" name="bang19_o3_4"/>
          <p:cNvSpPr/>
          <p:nvPr/>
        </p:nvSpPr>
        <p:spPr>
          <a:xfrm>
            <a:off x="6949440" y="2554224"/>
            <a:ext cx="3959352" cy="481584"/>
          </a:xfrm>
          <a:prstGeom prst="rect">
            <a:avLst/>
          </a:prstGeom>
          <a:solidFill>
            <a:srgbClr val="FFFFFF"/>
          </a:solidFill>
          <a:ln w="9525">
            <a:solidFill>
              <a:srgbClr val="C9D3DF"/>
            </a:solidFill>
            <a:prstDash val="solid"/>
          </a:ln>
        </p:spPr>
      </p:sp>
      <p:sp>
        <p:nvSpPr>
          <p:cNvPr id="43" name="bang19_t3_4"/>
          <p:cNvSpPr txBox="1"/>
          <p:nvPr/>
        </p:nvSpPr>
        <p:spPr>
          <a:xfrm>
            <a:off x="7004304" y="2599944"/>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KHACH_HANG, THE_HOI_VIEN, LICH_SU_TICH_DIEM</a:t>
            </a:r>
            <a:endParaRPr lang="en-US" sz="1200" dirty="0"/>
          </a:p>
        </p:txBody>
      </p:sp>
      <p:sp>
        <p:nvSpPr>
          <p:cNvPr id="44" name="bang19_o3_5"/>
          <p:cNvSpPr/>
          <p:nvPr/>
        </p:nvSpPr>
        <p:spPr>
          <a:xfrm>
            <a:off x="10908792" y="2554224"/>
            <a:ext cx="822960" cy="481584"/>
          </a:xfrm>
          <a:prstGeom prst="rect">
            <a:avLst/>
          </a:prstGeom>
          <a:solidFill>
            <a:srgbClr val="FFFFFF"/>
          </a:solidFill>
          <a:ln w="9525">
            <a:solidFill>
              <a:srgbClr val="C9D3DF"/>
            </a:solidFill>
            <a:prstDash val="solid"/>
          </a:ln>
        </p:spPr>
      </p:sp>
      <p:sp>
        <p:nvSpPr>
          <p:cNvPr id="45" name="bang19_o4_0"/>
          <p:cNvSpPr/>
          <p:nvPr/>
        </p:nvSpPr>
        <p:spPr>
          <a:xfrm>
            <a:off x="457200" y="3035808"/>
            <a:ext cx="548640" cy="481584"/>
          </a:xfrm>
          <a:prstGeom prst="rect">
            <a:avLst/>
          </a:prstGeom>
          <a:solidFill>
            <a:srgbClr val="F7F0E1"/>
          </a:solidFill>
          <a:ln w="9525">
            <a:solidFill>
              <a:srgbClr val="C9D3DF"/>
            </a:solidFill>
            <a:prstDash val="solid"/>
          </a:ln>
        </p:spPr>
      </p:sp>
      <p:sp>
        <p:nvSpPr>
          <p:cNvPr id="46" name="bang19_t4_0"/>
          <p:cNvSpPr txBox="1"/>
          <p:nvPr/>
        </p:nvSpPr>
        <p:spPr>
          <a:xfrm>
            <a:off x="512064" y="3081528"/>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4</a:t>
            </a:r>
            <a:endParaRPr lang="en-US" sz="1200" dirty="0"/>
          </a:p>
        </p:txBody>
      </p:sp>
      <p:sp>
        <p:nvSpPr>
          <p:cNvPr id="47" name="bang19_o4_1"/>
          <p:cNvSpPr/>
          <p:nvPr/>
        </p:nvSpPr>
        <p:spPr>
          <a:xfrm>
            <a:off x="1005840" y="3035808"/>
            <a:ext cx="1828800" cy="481584"/>
          </a:xfrm>
          <a:prstGeom prst="rect">
            <a:avLst/>
          </a:prstGeom>
          <a:solidFill>
            <a:srgbClr val="F7F0E1"/>
          </a:solidFill>
          <a:ln w="9525">
            <a:solidFill>
              <a:srgbClr val="C9D3DF"/>
            </a:solidFill>
            <a:prstDash val="solid"/>
          </a:ln>
        </p:spPr>
      </p:sp>
      <p:sp>
        <p:nvSpPr>
          <p:cNvPr id="48" name="bang19_t4_1"/>
          <p:cNvSpPr txBox="1"/>
          <p:nvPr/>
        </p:nvSpPr>
        <p:spPr>
          <a:xfrm>
            <a:off x="1060704" y="3081528"/>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Kiên</a:t>
            </a:r>
            <a:endParaRPr lang="en-US" sz="1200" dirty="0"/>
          </a:p>
        </p:txBody>
      </p:sp>
      <p:sp>
        <p:nvSpPr>
          <p:cNvPr id="49" name="bang19_o4_2"/>
          <p:cNvSpPr/>
          <p:nvPr/>
        </p:nvSpPr>
        <p:spPr>
          <a:xfrm>
            <a:off x="2834640" y="3035808"/>
            <a:ext cx="1463040" cy="481584"/>
          </a:xfrm>
          <a:prstGeom prst="rect">
            <a:avLst/>
          </a:prstGeom>
          <a:solidFill>
            <a:srgbClr val="F7F0E1"/>
          </a:solidFill>
          <a:ln w="9525">
            <a:solidFill>
              <a:srgbClr val="C9D3DF"/>
            </a:solidFill>
            <a:prstDash val="solid"/>
          </a:ln>
        </p:spPr>
      </p:sp>
      <p:sp>
        <p:nvSpPr>
          <p:cNvPr id="50" name="bang19_o4_3"/>
          <p:cNvSpPr/>
          <p:nvPr/>
        </p:nvSpPr>
        <p:spPr>
          <a:xfrm>
            <a:off x="4297680" y="3035808"/>
            <a:ext cx="2651760" cy="481584"/>
          </a:xfrm>
          <a:prstGeom prst="rect">
            <a:avLst/>
          </a:prstGeom>
          <a:solidFill>
            <a:srgbClr val="F7F0E1"/>
          </a:solidFill>
          <a:ln w="9525">
            <a:solidFill>
              <a:srgbClr val="C9D3DF"/>
            </a:solidFill>
            <a:prstDash val="solid"/>
          </a:ln>
        </p:spPr>
      </p:sp>
      <p:sp>
        <p:nvSpPr>
          <p:cNvPr id="51" name="bang19_t4_3"/>
          <p:cNvSpPr txBox="1"/>
          <p:nvPr/>
        </p:nvSpPr>
        <p:spPr>
          <a:xfrm>
            <a:off x="4352544" y="3081528"/>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 Nhân sự và phi hành đoàn</a:t>
            </a:r>
            <a:endParaRPr lang="en-US" sz="1200" dirty="0"/>
          </a:p>
        </p:txBody>
      </p:sp>
      <p:sp>
        <p:nvSpPr>
          <p:cNvPr id="52" name="bang19_o4_4"/>
          <p:cNvSpPr/>
          <p:nvPr/>
        </p:nvSpPr>
        <p:spPr>
          <a:xfrm>
            <a:off x="6949440" y="3035808"/>
            <a:ext cx="3959352" cy="481584"/>
          </a:xfrm>
          <a:prstGeom prst="rect">
            <a:avLst/>
          </a:prstGeom>
          <a:solidFill>
            <a:srgbClr val="F7F0E1"/>
          </a:solidFill>
          <a:ln w="9525">
            <a:solidFill>
              <a:srgbClr val="C9D3DF"/>
            </a:solidFill>
            <a:prstDash val="solid"/>
          </a:ln>
        </p:spPr>
      </p:sp>
      <p:sp>
        <p:nvSpPr>
          <p:cNvPr id="53" name="bang19_t4_4"/>
          <p:cNvSpPr txBox="1"/>
          <p:nvPr/>
        </p:nvSpPr>
        <p:spPr>
          <a:xfrm>
            <a:off x="7004304" y="3081528"/>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NHAN_VIEN, PHI_CONG, TIEP_VIEN, PHONG_BAN, GIAY_PHEP_BAY</a:t>
            </a:r>
            <a:endParaRPr lang="en-US" sz="1200" dirty="0"/>
          </a:p>
        </p:txBody>
      </p:sp>
      <p:sp>
        <p:nvSpPr>
          <p:cNvPr id="54" name="bang19_o4_5"/>
          <p:cNvSpPr/>
          <p:nvPr/>
        </p:nvSpPr>
        <p:spPr>
          <a:xfrm>
            <a:off x="10908792" y="3035808"/>
            <a:ext cx="822960" cy="481584"/>
          </a:xfrm>
          <a:prstGeom prst="rect">
            <a:avLst/>
          </a:prstGeom>
          <a:solidFill>
            <a:srgbClr val="F7F0E1"/>
          </a:solidFill>
          <a:ln w="9525">
            <a:solidFill>
              <a:srgbClr val="C9D3DF"/>
            </a:solidFill>
            <a:prstDash val="solid"/>
          </a:ln>
        </p:spPr>
      </p:sp>
      <p:sp>
        <p:nvSpPr>
          <p:cNvPr id="55" name="bang19_o5_0"/>
          <p:cNvSpPr/>
          <p:nvPr/>
        </p:nvSpPr>
        <p:spPr>
          <a:xfrm>
            <a:off x="457200" y="3517392"/>
            <a:ext cx="548640" cy="481584"/>
          </a:xfrm>
          <a:prstGeom prst="rect">
            <a:avLst/>
          </a:prstGeom>
          <a:solidFill>
            <a:srgbClr val="FFFFFF"/>
          </a:solidFill>
          <a:ln w="9525">
            <a:solidFill>
              <a:srgbClr val="C9D3DF"/>
            </a:solidFill>
            <a:prstDash val="solid"/>
          </a:ln>
        </p:spPr>
      </p:sp>
      <p:sp>
        <p:nvSpPr>
          <p:cNvPr id="56" name="bang19_t5_0"/>
          <p:cNvSpPr txBox="1"/>
          <p:nvPr/>
        </p:nvSpPr>
        <p:spPr>
          <a:xfrm>
            <a:off x="512064" y="3563112"/>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5</a:t>
            </a:r>
            <a:endParaRPr lang="en-US" sz="1200" dirty="0"/>
          </a:p>
        </p:txBody>
      </p:sp>
      <p:sp>
        <p:nvSpPr>
          <p:cNvPr id="57" name="bang19_o5_1"/>
          <p:cNvSpPr/>
          <p:nvPr/>
        </p:nvSpPr>
        <p:spPr>
          <a:xfrm>
            <a:off x="1005840" y="3517392"/>
            <a:ext cx="1828800" cy="481584"/>
          </a:xfrm>
          <a:prstGeom prst="rect">
            <a:avLst/>
          </a:prstGeom>
          <a:solidFill>
            <a:srgbClr val="FFFFFF"/>
          </a:solidFill>
          <a:ln w="9525">
            <a:solidFill>
              <a:srgbClr val="C9D3DF"/>
            </a:solidFill>
            <a:prstDash val="solid"/>
          </a:ln>
        </p:spPr>
      </p:sp>
      <p:sp>
        <p:nvSpPr>
          <p:cNvPr id="58" name="bang19_t5_1"/>
          <p:cNvSpPr txBox="1"/>
          <p:nvPr/>
        </p:nvSpPr>
        <p:spPr>
          <a:xfrm>
            <a:off x="1060704" y="3563112"/>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Phong (NT)</a:t>
            </a:r>
            <a:endParaRPr lang="en-US" sz="1200" dirty="0"/>
          </a:p>
        </p:txBody>
      </p:sp>
      <p:sp>
        <p:nvSpPr>
          <p:cNvPr id="59" name="bang19_o5_2"/>
          <p:cNvSpPr/>
          <p:nvPr/>
        </p:nvSpPr>
        <p:spPr>
          <a:xfrm>
            <a:off x="2834640" y="3517392"/>
            <a:ext cx="1463040" cy="481584"/>
          </a:xfrm>
          <a:prstGeom prst="rect">
            <a:avLst/>
          </a:prstGeom>
          <a:solidFill>
            <a:srgbClr val="FFFFFF"/>
          </a:solidFill>
          <a:ln w="9525">
            <a:solidFill>
              <a:srgbClr val="C9D3DF"/>
            </a:solidFill>
            <a:prstDash val="solid"/>
          </a:ln>
        </p:spPr>
      </p:sp>
      <p:sp>
        <p:nvSpPr>
          <p:cNvPr id="60" name="bang19_o5_3"/>
          <p:cNvSpPr/>
          <p:nvPr/>
        </p:nvSpPr>
        <p:spPr>
          <a:xfrm>
            <a:off x="4297680" y="3517392"/>
            <a:ext cx="2651760" cy="481584"/>
          </a:xfrm>
          <a:prstGeom prst="rect">
            <a:avLst/>
          </a:prstGeom>
          <a:solidFill>
            <a:srgbClr val="FFFFFF"/>
          </a:solidFill>
          <a:ln w="9525">
            <a:solidFill>
              <a:srgbClr val="C9D3DF"/>
            </a:solidFill>
            <a:prstDash val="solid"/>
          </a:ln>
        </p:spPr>
      </p:sp>
      <p:sp>
        <p:nvSpPr>
          <p:cNvPr id="61" name="bang19_t5_3"/>
          <p:cNvSpPr txBox="1"/>
          <p:nvPr/>
        </p:nvSpPr>
        <p:spPr>
          <a:xfrm>
            <a:off x="4352544" y="3563112"/>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E. Hành lý và dịch vụ bổ sung</a:t>
            </a:r>
            <a:endParaRPr lang="en-US" sz="1200" dirty="0"/>
          </a:p>
        </p:txBody>
      </p:sp>
      <p:sp>
        <p:nvSpPr>
          <p:cNvPr id="62" name="bang19_o5_4"/>
          <p:cNvSpPr/>
          <p:nvPr/>
        </p:nvSpPr>
        <p:spPr>
          <a:xfrm>
            <a:off x="6949440" y="3517392"/>
            <a:ext cx="3959352" cy="481584"/>
          </a:xfrm>
          <a:prstGeom prst="rect">
            <a:avLst/>
          </a:prstGeom>
          <a:solidFill>
            <a:srgbClr val="FFFFFF"/>
          </a:solidFill>
          <a:ln w="9525">
            <a:solidFill>
              <a:srgbClr val="C9D3DF"/>
            </a:solidFill>
            <a:prstDash val="solid"/>
          </a:ln>
        </p:spPr>
      </p:sp>
      <p:sp>
        <p:nvSpPr>
          <p:cNvPr id="63" name="bang19_t5_4"/>
          <p:cNvSpPr txBox="1"/>
          <p:nvPr/>
        </p:nvSpPr>
        <p:spPr>
          <a:xfrm>
            <a:off x="7004304" y="3563112"/>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HANH_LY, DICH_VU_BO_SUNG, CHI_TIET_DICH_VU</a:t>
            </a:r>
            <a:endParaRPr lang="en-US" sz="1200" dirty="0"/>
          </a:p>
        </p:txBody>
      </p:sp>
      <p:sp>
        <p:nvSpPr>
          <p:cNvPr id="64" name="bang19_o5_5"/>
          <p:cNvSpPr/>
          <p:nvPr/>
        </p:nvSpPr>
        <p:spPr>
          <a:xfrm>
            <a:off x="10908792" y="3517392"/>
            <a:ext cx="822960" cy="481584"/>
          </a:xfrm>
          <a:prstGeom prst="rect">
            <a:avLst/>
          </a:prstGeom>
          <a:solidFill>
            <a:srgbClr val="FFFFFF"/>
          </a:solidFill>
          <a:ln w="9525">
            <a:solidFill>
              <a:srgbClr val="C9D3DF"/>
            </a:solidFill>
            <a:prstDash val="solid"/>
          </a:ln>
        </p:spPr>
      </p:sp>
      <p:sp>
        <p:nvSpPr>
          <p:cNvPr id="65" name="bang19_o6_0"/>
          <p:cNvSpPr/>
          <p:nvPr/>
        </p:nvSpPr>
        <p:spPr>
          <a:xfrm>
            <a:off x="457200" y="3998976"/>
            <a:ext cx="548640" cy="481584"/>
          </a:xfrm>
          <a:prstGeom prst="rect">
            <a:avLst/>
          </a:prstGeom>
          <a:solidFill>
            <a:srgbClr val="F7F0E1"/>
          </a:solidFill>
          <a:ln w="9525">
            <a:solidFill>
              <a:srgbClr val="C9D3DF"/>
            </a:solidFill>
            <a:prstDash val="solid"/>
          </a:ln>
        </p:spPr>
      </p:sp>
      <p:sp>
        <p:nvSpPr>
          <p:cNvPr id="66" name="bang19_t6_0"/>
          <p:cNvSpPr txBox="1"/>
          <p:nvPr/>
        </p:nvSpPr>
        <p:spPr>
          <a:xfrm>
            <a:off x="512064" y="4044696"/>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6</a:t>
            </a:r>
            <a:endParaRPr lang="en-US" sz="1200" dirty="0"/>
          </a:p>
        </p:txBody>
      </p:sp>
      <p:sp>
        <p:nvSpPr>
          <p:cNvPr id="67" name="bang19_o6_1"/>
          <p:cNvSpPr/>
          <p:nvPr/>
        </p:nvSpPr>
        <p:spPr>
          <a:xfrm>
            <a:off x="1005840" y="3998976"/>
            <a:ext cx="1828800" cy="481584"/>
          </a:xfrm>
          <a:prstGeom prst="rect">
            <a:avLst/>
          </a:prstGeom>
          <a:solidFill>
            <a:srgbClr val="F7F0E1"/>
          </a:solidFill>
          <a:ln w="9525">
            <a:solidFill>
              <a:srgbClr val="C9D3DF"/>
            </a:solidFill>
            <a:prstDash val="solid"/>
          </a:ln>
        </p:spPr>
      </p:sp>
      <p:sp>
        <p:nvSpPr>
          <p:cNvPr id="68" name="bang19_t6_1"/>
          <p:cNvSpPr txBox="1"/>
          <p:nvPr/>
        </p:nvSpPr>
        <p:spPr>
          <a:xfrm>
            <a:off x="1060704" y="4044696"/>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Trọng Nhân</a:t>
            </a:r>
            <a:endParaRPr lang="en-US" sz="1200" dirty="0"/>
          </a:p>
        </p:txBody>
      </p:sp>
      <p:sp>
        <p:nvSpPr>
          <p:cNvPr id="69" name="bang19_o6_2"/>
          <p:cNvSpPr/>
          <p:nvPr/>
        </p:nvSpPr>
        <p:spPr>
          <a:xfrm>
            <a:off x="2834640" y="3998976"/>
            <a:ext cx="1463040" cy="481584"/>
          </a:xfrm>
          <a:prstGeom prst="rect">
            <a:avLst/>
          </a:prstGeom>
          <a:solidFill>
            <a:srgbClr val="F7F0E1"/>
          </a:solidFill>
          <a:ln w="9525">
            <a:solidFill>
              <a:srgbClr val="C9D3DF"/>
            </a:solidFill>
            <a:prstDash val="solid"/>
          </a:ln>
        </p:spPr>
      </p:sp>
      <p:sp>
        <p:nvSpPr>
          <p:cNvPr id="70" name="bang19_o6_3"/>
          <p:cNvSpPr/>
          <p:nvPr/>
        </p:nvSpPr>
        <p:spPr>
          <a:xfrm>
            <a:off x="4297680" y="3998976"/>
            <a:ext cx="2651760" cy="481584"/>
          </a:xfrm>
          <a:prstGeom prst="rect">
            <a:avLst/>
          </a:prstGeom>
          <a:solidFill>
            <a:srgbClr val="F7F0E1"/>
          </a:solidFill>
          <a:ln w="9525">
            <a:solidFill>
              <a:srgbClr val="C9D3DF"/>
            </a:solidFill>
            <a:prstDash val="solid"/>
          </a:ln>
        </p:spPr>
      </p:sp>
      <p:sp>
        <p:nvSpPr>
          <p:cNvPr id="71" name="bang19_t6_3"/>
          <p:cNvSpPr txBox="1"/>
          <p:nvPr/>
        </p:nvSpPr>
        <p:spPr>
          <a:xfrm>
            <a:off x="4352544" y="4044696"/>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F. Thanh toán và hóa đơn</a:t>
            </a:r>
            <a:endParaRPr lang="en-US" sz="1200" dirty="0"/>
          </a:p>
        </p:txBody>
      </p:sp>
      <p:sp>
        <p:nvSpPr>
          <p:cNvPr id="72" name="bang19_o6_4"/>
          <p:cNvSpPr/>
          <p:nvPr/>
        </p:nvSpPr>
        <p:spPr>
          <a:xfrm>
            <a:off x="6949440" y="3998976"/>
            <a:ext cx="3959352" cy="481584"/>
          </a:xfrm>
          <a:prstGeom prst="rect">
            <a:avLst/>
          </a:prstGeom>
          <a:solidFill>
            <a:srgbClr val="F7F0E1"/>
          </a:solidFill>
          <a:ln w="9525">
            <a:solidFill>
              <a:srgbClr val="C9D3DF"/>
            </a:solidFill>
            <a:prstDash val="solid"/>
          </a:ln>
        </p:spPr>
      </p:sp>
      <p:sp>
        <p:nvSpPr>
          <p:cNvPr id="73" name="bang19_t6_4"/>
          <p:cNvSpPr txBox="1"/>
          <p:nvPr/>
        </p:nvSpPr>
        <p:spPr>
          <a:xfrm>
            <a:off x="7004304" y="4044696"/>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HOA_DON, GIAO_DICH_THANH_TOAN, MA_KHUYEN_MAI</a:t>
            </a:r>
            <a:endParaRPr lang="en-US" sz="1200" dirty="0"/>
          </a:p>
        </p:txBody>
      </p:sp>
      <p:sp>
        <p:nvSpPr>
          <p:cNvPr id="74" name="bang19_o6_5"/>
          <p:cNvSpPr/>
          <p:nvPr/>
        </p:nvSpPr>
        <p:spPr>
          <a:xfrm>
            <a:off x="10908792" y="3998976"/>
            <a:ext cx="822960" cy="481584"/>
          </a:xfrm>
          <a:prstGeom prst="rect">
            <a:avLst/>
          </a:prstGeom>
          <a:solidFill>
            <a:srgbClr val="F7F0E1"/>
          </a:solidFill>
          <a:ln w="9525">
            <a:solidFill>
              <a:srgbClr val="C9D3DF"/>
            </a:solidFill>
            <a:prstDash val="solid"/>
          </a:ln>
        </p:spPr>
      </p:sp>
      <p:sp>
        <p:nvSpPr>
          <p:cNvPr id="75" name="bang19_o7_0"/>
          <p:cNvSpPr/>
          <p:nvPr/>
        </p:nvSpPr>
        <p:spPr>
          <a:xfrm>
            <a:off x="457200" y="4480560"/>
            <a:ext cx="548640" cy="295656"/>
          </a:xfrm>
          <a:prstGeom prst="rect">
            <a:avLst/>
          </a:prstGeom>
          <a:solidFill>
            <a:srgbClr val="FFFFFF"/>
          </a:solidFill>
          <a:ln w="9525">
            <a:solidFill>
              <a:srgbClr val="C9D3DF"/>
            </a:solidFill>
            <a:prstDash val="solid"/>
          </a:ln>
        </p:spPr>
      </p:sp>
      <p:sp>
        <p:nvSpPr>
          <p:cNvPr id="76" name="bang19_o7_1"/>
          <p:cNvSpPr/>
          <p:nvPr/>
        </p:nvSpPr>
        <p:spPr>
          <a:xfrm>
            <a:off x="1005840" y="4480560"/>
            <a:ext cx="1828800" cy="295656"/>
          </a:xfrm>
          <a:prstGeom prst="rect">
            <a:avLst/>
          </a:prstGeom>
          <a:solidFill>
            <a:srgbClr val="FFFFFF"/>
          </a:solidFill>
          <a:ln w="9525">
            <a:solidFill>
              <a:srgbClr val="C9D3DF"/>
            </a:solidFill>
            <a:prstDash val="solid"/>
          </a:ln>
        </p:spPr>
      </p:sp>
      <p:sp>
        <p:nvSpPr>
          <p:cNvPr id="77" name="bang19_t7_1"/>
          <p:cNvSpPr txBox="1"/>
          <p:nvPr/>
        </p:nvSpPr>
        <p:spPr>
          <a:xfrm>
            <a:off x="1060704" y="4526280"/>
            <a:ext cx="171907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Tổng</a:t>
            </a:r>
            <a:endParaRPr lang="en-US" sz="1200" dirty="0"/>
          </a:p>
        </p:txBody>
      </p:sp>
      <p:sp>
        <p:nvSpPr>
          <p:cNvPr id="78" name="bang19_o7_2"/>
          <p:cNvSpPr/>
          <p:nvPr/>
        </p:nvSpPr>
        <p:spPr>
          <a:xfrm>
            <a:off x="2834640" y="4480560"/>
            <a:ext cx="1463040" cy="295656"/>
          </a:xfrm>
          <a:prstGeom prst="rect">
            <a:avLst/>
          </a:prstGeom>
          <a:solidFill>
            <a:srgbClr val="FFFFFF"/>
          </a:solidFill>
          <a:ln w="9525">
            <a:solidFill>
              <a:srgbClr val="C9D3DF"/>
            </a:solidFill>
            <a:prstDash val="solid"/>
          </a:ln>
        </p:spPr>
      </p:sp>
      <p:sp>
        <p:nvSpPr>
          <p:cNvPr id="79" name="bang19_o7_3"/>
          <p:cNvSpPr/>
          <p:nvPr/>
        </p:nvSpPr>
        <p:spPr>
          <a:xfrm>
            <a:off x="4297680" y="4480560"/>
            <a:ext cx="2651760" cy="295656"/>
          </a:xfrm>
          <a:prstGeom prst="rect">
            <a:avLst/>
          </a:prstGeom>
          <a:solidFill>
            <a:srgbClr val="FFFFFF"/>
          </a:solidFill>
          <a:ln w="9525">
            <a:solidFill>
              <a:srgbClr val="C9D3DF"/>
            </a:solidFill>
            <a:prstDash val="solid"/>
          </a:ln>
        </p:spPr>
      </p:sp>
      <p:sp>
        <p:nvSpPr>
          <p:cNvPr id="80" name="bang19_o7_4"/>
          <p:cNvSpPr/>
          <p:nvPr/>
        </p:nvSpPr>
        <p:spPr>
          <a:xfrm>
            <a:off x="6949440" y="4480560"/>
            <a:ext cx="3959352" cy="295656"/>
          </a:xfrm>
          <a:prstGeom prst="rect">
            <a:avLst/>
          </a:prstGeom>
          <a:solidFill>
            <a:srgbClr val="FFFFFF"/>
          </a:solidFill>
          <a:ln w="9525">
            <a:solidFill>
              <a:srgbClr val="C9D3DF"/>
            </a:solidFill>
            <a:prstDash val="solid"/>
          </a:ln>
        </p:spPr>
      </p:sp>
      <p:sp>
        <p:nvSpPr>
          <p:cNvPr id="81" name="bang19_o7_5"/>
          <p:cNvSpPr/>
          <p:nvPr/>
        </p:nvSpPr>
        <p:spPr>
          <a:xfrm>
            <a:off x="10908792" y="4480560"/>
            <a:ext cx="822960" cy="295656"/>
          </a:xfrm>
          <a:prstGeom prst="rect">
            <a:avLst/>
          </a:prstGeom>
          <a:solidFill>
            <a:srgbClr val="FFFFFF"/>
          </a:solidFill>
          <a:ln w="9525">
            <a:solidFill>
              <a:srgbClr val="C9D3DF"/>
            </a:solidFill>
            <a:prstDash val="solid"/>
          </a:ln>
        </p:spPr>
      </p:sp>
      <p:sp>
        <p:nvSpPr>
          <p:cNvPr id="82" name="bang19_t7_5"/>
          <p:cNvSpPr txBox="1"/>
          <p:nvPr/>
        </p:nvSpPr>
        <p:spPr>
          <a:xfrm>
            <a:off x="10963656" y="4526280"/>
            <a:ext cx="71323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100%</a:t>
            </a:r>
            <a:endParaRPr lang="en-US" sz="1200" dirty="0"/>
          </a:p>
        </p:txBody>
      </p:sp>
      <p:sp>
        <p:nvSpPr>
          <p:cNvPr id="83" name="txt20"/>
          <p:cNvSpPr txBox="1"/>
          <p:nvPr/>
        </p:nvSpPr>
        <p:spPr>
          <a:xfrm>
            <a:off x="457200" y="5989320"/>
            <a:ext cx="73152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(NT) là nhóm trưởng. Tỷ lệ đóng góp do cả nhóm thống nhất.</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Giới thiệu đề tài</a:t>
            </a:r>
            <a:endParaRPr lang="en-US" sz="2600" dirty="0"/>
          </a:p>
        </p:txBody>
      </p:sp>
      <p:sp>
        <p:nvSpPr>
          <p:cNvPr id="3" name="the_Tổ chức"/>
          <p:cNvSpPr/>
          <p:nvPr/>
        </p:nvSpPr>
        <p:spPr>
          <a:xfrm>
            <a:off x="457200" y="1481328"/>
            <a:ext cx="5486400" cy="2103120"/>
          </a:xfrm>
          <a:prstGeom prst="rect">
            <a:avLst/>
          </a:prstGeom>
          <a:solidFill>
            <a:srgbClr val="F7F0E1"/>
          </a:solidFill>
          <a:ln w="12700">
            <a:solidFill>
              <a:srgbClr val="E6D3AA"/>
            </a:solidFill>
            <a:prstDash val="solid"/>
          </a:ln>
        </p:spPr>
      </p:sp>
      <p:sp>
        <p:nvSpPr>
          <p:cNvPr id="4" name="txt21"/>
          <p:cNvSpPr txBox="1"/>
          <p:nvPr/>
        </p:nvSpPr>
        <p:spPr>
          <a:xfrm>
            <a:off x="731520"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Tổ chức</a:t>
            </a:r>
            <a:endParaRPr lang="en-US" sz="1600" dirty="0"/>
          </a:p>
        </p:txBody>
      </p:sp>
      <p:sp>
        <p:nvSpPr>
          <p:cNvPr id="5" name="txt22"/>
          <p:cNvSpPr txBox="1"/>
          <p:nvPr/>
        </p:nvSpPr>
        <p:spPr>
          <a:xfrm>
            <a:off x="731520"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Vietnam Airlines, hãng hàng không quốc gia, bán vé qua website, ứng dụng, phòng vé và đại lý. Quy tắc được đơn giản hóa từ quy trình công khai.</a:t>
            </a:r>
            <a:endParaRPr lang="en-US" sz="1500" dirty="0"/>
          </a:p>
        </p:txBody>
      </p:sp>
      <p:sp>
        <p:nvSpPr>
          <p:cNvPr id="6" name="the_Mục tiêu"/>
          <p:cNvSpPr/>
          <p:nvPr/>
        </p:nvSpPr>
        <p:spPr>
          <a:xfrm>
            <a:off x="6190488" y="1481328"/>
            <a:ext cx="5486400" cy="2103120"/>
          </a:xfrm>
          <a:prstGeom prst="rect">
            <a:avLst/>
          </a:prstGeom>
          <a:solidFill>
            <a:srgbClr val="FFFFFF"/>
          </a:solidFill>
          <a:ln w="12700">
            <a:solidFill>
              <a:srgbClr val="E6D3AA"/>
            </a:solidFill>
            <a:prstDash val="solid"/>
          </a:ln>
        </p:spPr>
      </p:sp>
      <p:sp>
        <p:nvSpPr>
          <p:cNvPr id="7" name="txt23"/>
          <p:cNvSpPr txBox="1"/>
          <p:nvPr/>
        </p:nvSpPr>
        <p:spPr>
          <a:xfrm>
            <a:off x="6464808"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Mục tiêu</a:t>
            </a:r>
            <a:endParaRPr lang="en-US" sz="1600" dirty="0"/>
          </a:p>
        </p:txBody>
      </p:sp>
      <p:sp>
        <p:nvSpPr>
          <p:cNvPr id="8" name="txt24"/>
          <p:cNvSpPr txBox="1"/>
          <p:nvPr/>
        </p:nvSpPr>
        <p:spPr>
          <a:xfrm>
            <a:off x="6464808"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Quản lý vòng đời một tấm vé: lịch bay, đặt chỗ, xuất vé, chọn ghế, hành lý và dịch vụ, tích điểm, hóa đơn; quản lý tổ bay từng chuyến.</a:t>
            </a:r>
            <a:endParaRPr lang="en-US" sz="1500" dirty="0"/>
          </a:p>
        </p:txBody>
      </p:sp>
      <p:sp>
        <p:nvSpPr>
          <p:cNvPr id="9" name="the_Người dùng"/>
          <p:cNvSpPr/>
          <p:nvPr/>
        </p:nvSpPr>
        <p:spPr>
          <a:xfrm>
            <a:off x="457200" y="3813048"/>
            <a:ext cx="5486400" cy="2103120"/>
          </a:xfrm>
          <a:prstGeom prst="rect">
            <a:avLst/>
          </a:prstGeom>
          <a:solidFill>
            <a:srgbClr val="FFFFFF"/>
          </a:solidFill>
          <a:ln w="12700">
            <a:solidFill>
              <a:srgbClr val="E6D3AA"/>
            </a:solidFill>
            <a:prstDash val="solid"/>
          </a:ln>
        </p:spPr>
      </p:sp>
      <p:sp>
        <p:nvSpPr>
          <p:cNvPr id="10" name="txt25"/>
          <p:cNvSpPr txBox="1"/>
          <p:nvPr/>
        </p:nvSpPr>
        <p:spPr>
          <a:xfrm>
            <a:off x="731520"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Người dùng</a:t>
            </a:r>
            <a:endParaRPr lang="en-US" sz="1600" dirty="0"/>
          </a:p>
        </p:txBody>
      </p:sp>
      <p:sp>
        <p:nvSpPr>
          <p:cNvPr id="11" name="txt26"/>
          <p:cNvSpPr txBox="1"/>
          <p:nvPr/>
        </p:nvSpPr>
        <p:spPr>
          <a:xfrm>
            <a:off x="731520"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Khách hàng, nhân viên phòng vé, khai thác bay, điều hành bay và nhân sự, quầy thủ tục, chăm sóc hội viên, kế toán.</a:t>
            </a:r>
            <a:endParaRPr lang="en-US" sz="1500" dirty="0"/>
          </a:p>
        </p:txBody>
      </p:sp>
      <p:sp>
        <p:nvSpPr>
          <p:cNvPr id="12" name="the_Phạm vi"/>
          <p:cNvSpPr/>
          <p:nvPr/>
        </p:nvSpPr>
        <p:spPr>
          <a:xfrm>
            <a:off x="6190488" y="3813048"/>
            <a:ext cx="5486400" cy="2103120"/>
          </a:xfrm>
          <a:prstGeom prst="rect">
            <a:avLst/>
          </a:prstGeom>
          <a:solidFill>
            <a:srgbClr val="FFFFFF"/>
          </a:solidFill>
          <a:ln w="12700">
            <a:solidFill>
              <a:srgbClr val="E6D3AA"/>
            </a:solidFill>
            <a:prstDash val="solid"/>
          </a:ln>
        </p:spPr>
      </p:sp>
      <p:sp>
        <p:nvSpPr>
          <p:cNvPr id="13" name="txt27"/>
          <p:cNvSpPr txBox="1"/>
          <p:nvPr/>
        </p:nvSpPr>
        <p:spPr>
          <a:xfrm>
            <a:off x="6464808"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Phạm vi</a:t>
            </a:r>
            <a:endParaRPr lang="en-US" sz="1600" dirty="0"/>
          </a:p>
        </p:txBody>
      </p:sp>
      <p:sp>
        <p:nvSpPr>
          <p:cNvPr id="14" name="txt28"/>
          <p:cNvSpPr txBox="1"/>
          <p:nvPr/>
        </p:nvSpPr>
        <p:spPr>
          <a:xfrm>
            <a:off x="6464808"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Sáu phân hệ A đến F. Ngoài phạm vi: giá vé động, làm thủ tục lên máy bay, bảo dưỡng máy bay, tiền lương.</a:t>
            </a:r>
            <a:endParaRPr lang="en-US" sz="15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Các phân hệ và mối nối</a:t>
            </a:r>
            <a:endParaRPr lang="en-US" sz="2600" dirty="0"/>
          </a:p>
        </p:txBody>
      </p:sp>
      <p:sp>
        <p:nvSpPr>
          <p:cNvPr id="3" name="noi_BC"/>
          <p:cNvSpPr/>
          <p:nvPr/>
        </p:nvSpPr>
        <p:spPr>
          <a:xfrm>
            <a:off x="5943600" y="3630168"/>
            <a:ext cx="914" cy="548640"/>
          </a:xfrm>
          <a:prstGeom prst="line">
            <a:avLst/>
          </a:prstGeom>
          <a:noFill/>
          <a:ln w="19050">
            <a:solidFill>
              <a:srgbClr val="8A6A2F"/>
            </a:solidFill>
            <a:prstDash val="solid"/>
          </a:ln>
        </p:spPr>
      </p:sp>
      <p:sp>
        <p:nvSpPr>
          <p:cNvPr id="4" name="txt29"/>
          <p:cNvSpPr txBox="1"/>
          <p:nvPr/>
        </p:nvSpPr>
        <p:spPr>
          <a:xfrm>
            <a:off x="6016752"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LK05, LK12</a:t>
            </a:r>
            <a:endParaRPr lang="en-US" sz="1000" dirty="0"/>
          </a:p>
        </p:txBody>
      </p:sp>
      <p:sp>
        <p:nvSpPr>
          <p:cNvPr id="5" name="noi_AB"/>
          <p:cNvSpPr/>
          <p:nvPr/>
        </p:nvSpPr>
        <p:spPr>
          <a:xfrm>
            <a:off x="3730752" y="5070348"/>
            <a:ext cx="612648" cy="914"/>
          </a:xfrm>
          <a:prstGeom prst="line">
            <a:avLst/>
          </a:prstGeom>
          <a:noFill/>
          <a:ln w="19050">
            <a:solidFill>
              <a:srgbClr val="8A6A2F"/>
            </a:solidFill>
            <a:prstDash val="solid"/>
          </a:ln>
        </p:spPr>
      </p:sp>
      <p:sp>
        <p:nvSpPr>
          <p:cNvPr id="6" name="txt30"/>
          <p:cNvSpPr txBox="1"/>
          <p:nvPr/>
        </p:nvSpPr>
        <p:spPr>
          <a:xfrm>
            <a:off x="3744468"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LK07</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LK08</a:t>
            </a:r>
            <a:endParaRPr lang="en-US" sz="900" dirty="0"/>
          </a:p>
        </p:txBody>
      </p:sp>
      <p:sp>
        <p:nvSpPr>
          <p:cNvPr id="7" name="noi_AD"/>
          <p:cNvSpPr/>
          <p:nvPr/>
        </p:nvSpPr>
        <p:spPr>
          <a:xfrm>
            <a:off x="2130552" y="3630168"/>
            <a:ext cx="914" cy="548640"/>
          </a:xfrm>
          <a:prstGeom prst="line">
            <a:avLst/>
          </a:prstGeom>
          <a:noFill/>
          <a:ln w="19050">
            <a:solidFill>
              <a:srgbClr val="8A6A2F"/>
            </a:solidFill>
            <a:prstDash val="solid"/>
          </a:ln>
        </p:spPr>
      </p:sp>
      <p:sp>
        <p:nvSpPr>
          <p:cNvPr id="8" name="txt31"/>
          <p:cNvSpPr txBox="1"/>
          <p:nvPr/>
        </p:nvSpPr>
        <p:spPr>
          <a:xfrm>
            <a:off x="2203704"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LK17, LK18</a:t>
            </a:r>
            <a:endParaRPr lang="en-US" sz="1000" dirty="0"/>
          </a:p>
        </p:txBody>
      </p:sp>
      <p:sp>
        <p:nvSpPr>
          <p:cNvPr id="9" name="noi_BE"/>
          <p:cNvSpPr/>
          <p:nvPr/>
        </p:nvSpPr>
        <p:spPr>
          <a:xfrm>
            <a:off x="7543800" y="5070348"/>
            <a:ext cx="612648" cy="914"/>
          </a:xfrm>
          <a:prstGeom prst="line">
            <a:avLst/>
          </a:prstGeom>
          <a:noFill/>
          <a:ln w="19050">
            <a:solidFill>
              <a:srgbClr val="8A6A2F"/>
            </a:solidFill>
            <a:prstDash val="solid"/>
          </a:ln>
        </p:spPr>
      </p:sp>
      <p:sp>
        <p:nvSpPr>
          <p:cNvPr id="10" name="txt32"/>
          <p:cNvSpPr txBox="1"/>
          <p:nvPr/>
        </p:nvSpPr>
        <p:spPr>
          <a:xfrm>
            <a:off x="7557516"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LK19</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LK20</a:t>
            </a:r>
            <a:endParaRPr lang="en-US" sz="900" dirty="0"/>
          </a:p>
        </p:txBody>
      </p:sp>
      <p:sp>
        <p:nvSpPr>
          <p:cNvPr id="11" name="noi_EF"/>
          <p:cNvSpPr/>
          <p:nvPr/>
        </p:nvSpPr>
        <p:spPr>
          <a:xfrm>
            <a:off x="9756648" y="3630168"/>
            <a:ext cx="914" cy="548640"/>
          </a:xfrm>
          <a:prstGeom prst="line">
            <a:avLst/>
          </a:prstGeom>
          <a:noFill/>
          <a:ln w="19050">
            <a:solidFill>
              <a:srgbClr val="8A6A2F"/>
            </a:solidFill>
            <a:prstDash val="solid"/>
          </a:ln>
        </p:spPr>
      </p:sp>
      <p:sp>
        <p:nvSpPr>
          <p:cNvPr id="12" name="txt33"/>
          <p:cNvSpPr txBox="1"/>
          <p:nvPr/>
        </p:nvSpPr>
        <p:spPr>
          <a:xfrm>
            <a:off x="9829800"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LK22</a:t>
            </a:r>
            <a:endParaRPr lang="en-US" sz="1000" dirty="0"/>
          </a:p>
        </p:txBody>
      </p:sp>
      <p:sp>
        <p:nvSpPr>
          <p:cNvPr id="13" name="noi_BF"/>
          <p:cNvSpPr/>
          <p:nvPr/>
        </p:nvSpPr>
        <p:spPr>
          <a:xfrm flipV="1">
            <a:off x="7543800" y="3630168"/>
            <a:ext cx="612648" cy="548640"/>
          </a:xfrm>
          <a:prstGeom prst="line">
            <a:avLst/>
          </a:prstGeom>
          <a:noFill/>
          <a:ln w="19050">
            <a:solidFill>
              <a:srgbClr val="8A6A2F"/>
            </a:solidFill>
            <a:prstDash val="solid"/>
          </a:ln>
        </p:spPr>
      </p:sp>
      <p:sp>
        <p:nvSpPr>
          <p:cNvPr id="14" name="txt34"/>
          <p:cNvSpPr txBox="1"/>
          <p:nvPr/>
        </p:nvSpPr>
        <p:spPr>
          <a:xfrm>
            <a:off x="7164324" y="3575304"/>
            <a:ext cx="1371600" cy="27432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LK23</a:t>
            </a:r>
            <a:endParaRPr lang="en-US" sz="1000" dirty="0"/>
          </a:p>
        </p:txBody>
      </p:sp>
      <p:sp>
        <p:nvSpPr>
          <p:cNvPr id="15" name="noi_DF_1"/>
          <p:cNvSpPr/>
          <p:nvPr/>
        </p:nvSpPr>
        <p:spPr>
          <a:xfrm>
            <a:off x="2130552" y="1645920"/>
            <a:ext cx="914" cy="201168"/>
          </a:xfrm>
          <a:prstGeom prst="line">
            <a:avLst/>
          </a:prstGeom>
          <a:noFill/>
          <a:ln w="19050">
            <a:solidFill>
              <a:srgbClr val="8A6A2F"/>
            </a:solidFill>
            <a:prstDash val="solid"/>
          </a:ln>
        </p:spPr>
      </p:sp>
      <p:sp>
        <p:nvSpPr>
          <p:cNvPr id="16" name="noi_DF_2"/>
          <p:cNvSpPr/>
          <p:nvPr/>
        </p:nvSpPr>
        <p:spPr>
          <a:xfrm>
            <a:off x="2130552" y="1645920"/>
            <a:ext cx="7626096" cy="914"/>
          </a:xfrm>
          <a:prstGeom prst="line">
            <a:avLst/>
          </a:prstGeom>
          <a:noFill/>
          <a:ln w="19050">
            <a:solidFill>
              <a:srgbClr val="8A6A2F"/>
            </a:solidFill>
            <a:prstDash val="solid"/>
          </a:ln>
        </p:spPr>
      </p:sp>
      <p:sp>
        <p:nvSpPr>
          <p:cNvPr id="17" name="noi_DF_3"/>
          <p:cNvSpPr/>
          <p:nvPr/>
        </p:nvSpPr>
        <p:spPr>
          <a:xfrm>
            <a:off x="9756648" y="1645920"/>
            <a:ext cx="914" cy="201168"/>
          </a:xfrm>
          <a:prstGeom prst="line">
            <a:avLst/>
          </a:prstGeom>
          <a:noFill/>
          <a:ln w="19050">
            <a:solidFill>
              <a:srgbClr val="8A6A2F"/>
            </a:solidFill>
            <a:prstDash val="solid"/>
          </a:ln>
        </p:spPr>
      </p:sp>
      <p:sp>
        <p:nvSpPr>
          <p:cNvPr id="18" name="txt35"/>
          <p:cNvSpPr txBox="1"/>
          <p:nvPr/>
        </p:nvSpPr>
        <p:spPr>
          <a:xfrm>
            <a:off x="5257800" y="1399032"/>
            <a:ext cx="1371600" cy="22860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LK26</a:t>
            </a:r>
            <a:endParaRPr lang="en-US" sz="1000" dirty="0"/>
          </a:p>
        </p:txBody>
      </p:sp>
      <p:sp>
        <p:nvSpPr>
          <p:cNvPr id="19" name="phanhe_A"/>
          <p:cNvSpPr/>
          <p:nvPr/>
        </p:nvSpPr>
        <p:spPr>
          <a:xfrm>
            <a:off x="530352" y="4178808"/>
            <a:ext cx="3200400" cy="1783080"/>
          </a:xfrm>
          <a:prstGeom prst="rect">
            <a:avLst/>
          </a:prstGeom>
          <a:solidFill>
            <a:srgbClr val="FFFFFF"/>
          </a:solidFill>
          <a:ln w="15875">
            <a:solidFill>
              <a:srgbClr val="1F5FAD"/>
            </a:solidFill>
            <a:prstDash val="solid"/>
          </a:ln>
        </p:spPr>
      </p:sp>
      <p:sp>
        <p:nvSpPr>
          <p:cNvPr id="20" name="phanhe_dau_A"/>
          <p:cNvSpPr/>
          <p:nvPr/>
        </p:nvSpPr>
        <p:spPr>
          <a:xfrm>
            <a:off x="530352" y="4178808"/>
            <a:ext cx="3200400" cy="384048"/>
          </a:xfrm>
          <a:prstGeom prst="rect">
            <a:avLst/>
          </a:prstGeom>
          <a:solidFill>
            <a:srgbClr val="1F5FAD"/>
          </a:solidFill>
          <a:ln w="15875">
            <a:solidFill>
              <a:srgbClr val="1F5FAD"/>
            </a:solidFill>
            <a:prstDash val="solid"/>
          </a:ln>
        </p:spPr>
      </p:sp>
      <p:sp>
        <p:nvSpPr>
          <p:cNvPr id="21" name="txt36"/>
          <p:cNvSpPr txBox="1"/>
          <p:nvPr/>
        </p:nvSpPr>
        <p:spPr>
          <a:xfrm>
            <a:off x="667512"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 Chuyến bay và lịch trình</a:t>
            </a:r>
            <a:endParaRPr lang="en-US" sz="1300" dirty="0"/>
          </a:p>
        </p:txBody>
      </p:sp>
      <p:sp>
        <p:nvSpPr>
          <p:cNvPr id="22" name="txt37"/>
          <p:cNvSpPr txBox="1"/>
          <p:nvPr/>
        </p:nvSpPr>
        <p:spPr>
          <a:xfrm>
            <a:off x="667512"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Thành</a:t>
            </a:r>
            <a:endParaRPr lang="en-US" sz="1300" dirty="0"/>
          </a:p>
        </p:txBody>
      </p:sp>
      <p:sp>
        <p:nvSpPr>
          <p:cNvPr id="23" name="txt38"/>
          <p:cNvSpPr txBox="1"/>
          <p:nvPr/>
        </p:nvSpPr>
        <p:spPr>
          <a:xfrm>
            <a:off x="667512"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SAN_BAY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MAY_BAY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CHUYEN_BAY</a:t>
            </a:r>
            <a:endParaRPr lang="en-US" sz="1100" dirty="0"/>
          </a:p>
        </p:txBody>
      </p:sp>
      <p:sp>
        <p:nvSpPr>
          <p:cNvPr id="24" name="phanhe_B"/>
          <p:cNvSpPr/>
          <p:nvPr/>
        </p:nvSpPr>
        <p:spPr>
          <a:xfrm>
            <a:off x="4343400" y="4178808"/>
            <a:ext cx="3200400" cy="1783080"/>
          </a:xfrm>
          <a:prstGeom prst="rect">
            <a:avLst/>
          </a:prstGeom>
          <a:solidFill>
            <a:srgbClr val="FFFFFF"/>
          </a:solidFill>
          <a:ln w="15875">
            <a:solidFill>
              <a:srgbClr val="1F5FAD"/>
            </a:solidFill>
            <a:prstDash val="solid"/>
          </a:ln>
        </p:spPr>
      </p:sp>
      <p:sp>
        <p:nvSpPr>
          <p:cNvPr id="25" name="phanhe_dau_B"/>
          <p:cNvSpPr/>
          <p:nvPr/>
        </p:nvSpPr>
        <p:spPr>
          <a:xfrm>
            <a:off x="4343400" y="4178808"/>
            <a:ext cx="3200400" cy="384048"/>
          </a:xfrm>
          <a:prstGeom prst="rect">
            <a:avLst/>
          </a:prstGeom>
          <a:solidFill>
            <a:srgbClr val="1F5FAD"/>
          </a:solidFill>
          <a:ln w="15875">
            <a:solidFill>
              <a:srgbClr val="1F5FAD"/>
            </a:solidFill>
            <a:prstDash val="solid"/>
          </a:ln>
        </p:spPr>
      </p:sp>
      <p:sp>
        <p:nvSpPr>
          <p:cNvPr id="26" name="txt39"/>
          <p:cNvSpPr txBox="1"/>
          <p:nvPr/>
        </p:nvSpPr>
        <p:spPr>
          <a:xfrm>
            <a:off x="4480560"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 Đặt chỗ và vé máy bay</a:t>
            </a:r>
            <a:endParaRPr lang="en-US" sz="1300" dirty="0"/>
          </a:p>
        </p:txBody>
      </p:sp>
      <p:sp>
        <p:nvSpPr>
          <p:cNvPr id="27" name="txt40"/>
          <p:cNvSpPr txBox="1"/>
          <p:nvPr/>
        </p:nvSpPr>
        <p:spPr>
          <a:xfrm>
            <a:off x="4480560"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Vy</a:t>
            </a:r>
            <a:endParaRPr lang="en-US" sz="1300" dirty="0"/>
          </a:p>
        </p:txBody>
      </p:sp>
      <p:sp>
        <p:nvSpPr>
          <p:cNvPr id="28" name="txt41"/>
          <p:cNvSpPr txBox="1"/>
          <p:nvPr/>
        </p:nvSpPr>
        <p:spPr>
          <a:xfrm>
            <a:off x="4480560"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DAT_CHO</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GHE_NGOI</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VE_MAY_BAY</a:t>
            </a:r>
            <a:endParaRPr lang="en-US" sz="1100" dirty="0"/>
          </a:p>
        </p:txBody>
      </p:sp>
      <p:sp>
        <p:nvSpPr>
          <p:cNvPr id="29" name="phanhe_C"/>
          <p:cNvSpPr/>
          <p:nvPr/>
        </p:nvSpPr>
        <p:spPr>
          <a:xfrm>
            <a:off x="4343400" y="1847088"/>
            <a:ext cx="3200400" cy="1783080"/>
          </a:xfrm>
          <a:prstGeom prst="rect">
            <a:avLst/>
          </a:prstGeom>
          <a:solidFill>
            <a:srgbClr val="FFFFFF"/>
          </a:solidFill>
          <a:ln w="15875">
            <a:solidFill>
              <a:srgbClr val="1F5FAD"/>
            </a:solidFill>
            <a:prstDash val="solid"/>
          </a:ln>
        </p:spPr>
      </p:sp>
      <p:sp>
        <p:nvSpPr>
          <p:cNvPr id="30" name="phanhe_dau_C"/>
          <p:cNvSpPr/>
          <p:nvPr/>
        </p:nvSpPr>
        <p:spPr>
          <a:xfrm>
            <a:off x="4343400" y="1847088"/>
            <a:ext cx="3200400" cy="384048"/>
          </a:xfrm>
          <a:prstGeom prst="rect">
            <a:avLst/>
          </a:prstGeom>
          <a:solidFill>
            <a:srgbClr val="1F5FAD"/>
          </a:solidFill>
          <a:ln w="15875">
            <a:solidFill>
              <a:srgbClr val="1F5FAD"/>
            </a:solidFill>
            <a:prstDash val="solid"/>
          </a:ln>
        </p:spPr>
      </p:sp>
      <p:sp>
        <p:nvSpPr>
          <p:cNvPr id="31" name="txt42"/>
          <p:cNvSpPr txBox="1"/>
          <p:nvPr/>
        </p:nvSpPr>
        <p:spPr>
          <a:xfrm>
            <a:off x="4480560"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 Khách hàng và hội viên</a:t>
            </a:r>
            <a:endParaRPr lang="en-US" sz="1300" dirty="0"/>
          </a:p>
        </p:txBody>
      </p:sp>
      <p:sp>
        <p:nvSpPr>
          <p:cNvPr id="32" name="txt43"/>
          <p:cNvSpPr txBox="1"/>
          <p:nvPr/>
        </p:nvSpPr>
        <p:spPr>
          <a:xfrm>
            <a:off x="4480560"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Danh</a:t>
            </a:r>
            <a:endParaRPr lang="en-US" sz="1300" dirty="0"/>
          </a:p>
        </p:txBody>
      </p:sp>
      <p:sp>
        <p:nvSpPr>
          <p:cNvPr id="33" name="txt44"/>
          <p:cNvSpPr txBox="1"/>
          <p:nvPr/>
        </p:nvSpPr>
        <p:spPr>
          <a:xfrm>
            <a:off x="4480560"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KHACH_HANG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THE_HOI_VIEN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LICH_SU_TICH_DIEM</a:t>
            </a:r>
            <a:endParaRPr lang="en-US" sz="1100" dirty="0"/>
          </a:p>
        </p:txBody>
      </p:sp>
      <p:sp>
        <p:nvSpPr>
          <p:cNvPr id="34" name="phanhe_D"/>
          <p:cNvSpPr/>
          <p:nvPr/>
        </p:nvSpPr>
        <p:spPr>
          <a:xfrm>
            <a:off x="530352" y="1847088"/>
            <a:ext cx="3200400" cy="1783080"/>
          </a:xfrm>
          <a:prstGeom prst="rect">
            <a:avLst/>
          </a:prstGeom>
          <a:solidFill>
            <a:srgbClr val="FFFFFF"/>
          </a:solidFill>
          <a:ln w="15875">
            <a:solidFill>
              <a:srgbClr val="1F5FAD"/>
            </a:solidFill>
            <a:prstDash val="solid"/>
          </a:ln>
        </p:spPr>
      </p:sp>
      <p:sp>
        <p:nvSpPr>
          <p:cNvPr id="35" name="phanhe_dau_D"/>
          <p:cNvSpPr/>
          <p:nvPr/>
        </p:nvSpPr>
        <p:spPr>
          <a:xfrm>
            <a:off x="530352" y="1847088"/>
            <a:ext cx="3200400" cy="384048"/>
          </a:xfrm>
          <a:prstGeom prst="rect">
            <a:avLst/>
          </a:prstGeom>
          <a:solidFill>
            <a:srgbClr val="1F5FAD"/>
          </a:solidFill>
          <a:ln w="15875">
            <a:solidFill>
              <a:srgbClr val="1F5FAD"/>
            </a:solidFill>
            <a:prstDash val="solid"/>
          </a:ln>
        </p:spPr>
      </p:sp>
      <p:sp>
        <p:nvSpPr>
          <p:cNvPr id="36" name="txt45"/>
          <p:cNvSpPr txBox="1"/>
          <p:nvPr/>
        </p:nvSpPr>
        <p:spPr>
          <a:xfrm>
            <a:off x="667512"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 Nhân sự và phi hành đoàn</a:t>
            </a:r>
            <a:endParaRPr lang="en-US" sz="1300" dirty="0"/>
          </a:p>
        </p:txBody>
      </p:sp>
      <p:sp>
        <p:nvSpPr>
          <p:cNvPr id="37" name="txt46"/>
          <p:cNvSpPr txBox="1"/>
          <p:nvPr/>
        </p:nvSpPr>
        <p:spPr>
          <a:xfrm>
            <a:off x="667512"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Kiên</a:t>
            </a:r>
            <a:endParaRPr lang="en-US" sz="1300" dirty="0"/>
          </a:p>
        </p:txBody>
      </p:sp>
      <p:sp>
        <p:nvSpPr>
          <p:cNvPr id="38" name="txt47"/>
          <p:cNvSpPr txBox="1"/>
          <p:nvPr/>
        </p:nvSpPr>
        <p:spPr>
          <a:xfrm>
            <a:off x="667512"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NHAN_VIEN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PHI_CONG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TIEP_VIEN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PHONG_BAN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GIAY_PHEP_BAY</a:t>
            </a:r>
            <a:endParaRPr lang="en-US" sz="1100" dirty="0"/>
          </a:p>
        </p:txBody>
      </p:sp>
      <p:sp>
        <p:nvSpPr>
          <p:cNvPr id="39" name="phanhe_E"/>
          <p:cNvSpPr/>
          <p:nvPr/>
        </p:nvSpPr>
        <p:spPr>
          <a:xfrm>
            <a:off x="8156448" y="4178808"/>
            <a:ext cx="3200400" cy="1783080"/>
          </a:xfrm>
          <a:prstGeom prst="rect">
            <a:avLst/>
          </a:prstGeom>
          <a:solidFill>
            <a:srgbClr val="FFFFFF"/>
          </a:solidFill>
          <a:ln w="15875">
            <a:solidFill>
              <a:srgbClr val="1F5FAD"/>
            </a:solidFill>
            <a:prstDash val="solid"/>
          </a:ln>
        </p:spPr>
      </p:sp>
      <p:sp>
        <p:nvSpPr>
          <p:cNvPr id="40" name="phanhe_dau_E"/>
          <p:cNvSpPr/>
          <p:nvPr/>
        </p:nvSpPr>
        <p:spPr>
          <a:xfrm>
            <a:off x="8156448" y="4178808"/>
            <a:ext cx="3200400" cy="384048"/>
          </a:xfrm>
          <a:prstGeom prst="rect">
            <a:avLst/>
          </a:prstGeom>
          <a:solidFill>
            <a:srgbClr val="1F5FAD"/>
          </a:solidFill>
          <a:ln w="15875">
            <a:solidFill>
              <a:srgbClr val="1F5FAD"/>
            </a:solidFill>
            <a:prstDash val="solid"/>
          </a:ln>
        </p:spPr>
      </p:sp>
      <p:sp>
        <p:nvSpPr>
          <p:cNvPr id="41" name="txt48"/>
          <p:cNvSpPr txBox="1"/>
          <p:nvPr/>
        </p:nvSpPr>
        <p:spPr>
          <a:xfrm>
            <a:off x="8293608"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 Hành lý và dịch vụ bổ sung</a:t>
            </a:r>
            <a:endParaRPr lang="en-US" sz="1300" dirty="0"/>
          </a:p>
        </p:txBody>
      </p:sp>
      <p:sp>
        <p:nvSpPr>
          <p:cNvPr id="42" name="txt49"/>
          <p:cNvSpPr txBox="1"/>
          <p:nvPr/>
        </p:nvSpPr>
        <p:spPr>
          <a:xfrm>
            <a:off x="8293608"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Phong (NT)</a:t>
            </a:r>
            <a:endParaRPr lang="en-US" sz="1300" dirty="0"/>
          </a:p>
        </p:txBody>
      </p:sp>
      <p:sp>
        <p:nvSpPr>
          <p:cNvPr id="43" name="txt50"/>
          <p:cNvSpPr txBox="1"/>
          <p:nvPr/>
        </p:nvSpPr>
        <p:spPr>
          <a:xfrm>
            <a:off x="8293608"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HANH_LY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DICH_VU_BO_SUNG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CHI_TIET_DICH_VU</a:t>
            </a:r>
            <a:endParaRPr lang="en-US" sz="1100" dirty="0"/>
          </a:p>
        </p:txBody>
      </p:sp>
      <p:sp>
        <p:nvSpPr>
          <p:cNvPr id="44" name="phanhe_F"/>
          <p:cNvSpPr/>
          <p:nvPr/>
        </p:nvSpPr>
        <p:spPr>
          <a:xfrm>
            <a:off x="8156448" y="1847088"/>
            <a:ext cx="3200400" cy="1783080"/>
          </a:xfrm>
          <a:prstGeom prst="rect">
            <a:avLst/>
          </a:prstGeom>
          <a:solidFill>
            <a:srgbClr val="FFFFFF"/>
          </a:solidFill>
          <a:ln w="15875">
            <a:solidFill>
              <a:srgbClr val="1F5FAD"/>
            </a:solidFill>
            <a:prstDash val="solid"/>
          </a:ln>
        </p:spPr>
      </p:sp>
      <p:sp>
        <p:nvSpPr>
          <p:cNvPr id="45" name="phanhe_dau_F"/>
          <p:cNvSpPr/>
          <p:nvPr/>
        </p:nvSpPr>
        <p:spPr>
          <a:xfrm>
            <a:off x="8156448" y="1847088"/>
            <a:ext cx="3200400" cy="384048"/>
          </a:xfrm>
          <a:prstGeom prst="rect">
            <a:avLst/>
          </a:prstGeom>
          <a:solidFill>
            <a:srgbClr val="1F5FAD"/>
          </a:solidFill>
          <a:ln w="15875">
            <a:solidFill>
              <a:srgbClr val="1F5FAD"/>
            </a:solidFill>
            <a:prstDash val="solid"/>
          </a:ln>
        </p:spPr>
      </p:sp>
      <p:sp>
        <p:nvSpPr>
          <p:cNvPr id="46" name="txt51"/>
          <p:cNvSpPr txBox="1"/>
          <p:nvPr/>
        </p:nvSpPr>
        <p:spPr>
          <a:xfrm>
            <a:off x="8293608"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 Thanh toán và hóa đơn</a:t>
            </a:r>
            <a:endParaRPr lang="en-US" sz="1300" dirty="0"/>
          </a:p>
        </p:txBody>
      </p:sp>
      <p:sp>
        <p:nvSpPr>
          <p:cNvPr id="47" name="txt52"/>
          <p:cNvSpPr txBox="1"/>
          <p:nvPr/>
        </p:nvSpPr>
        <p:spPr>
          <a:xfrm>
            <a:off x="8293608"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Trọng Nhân</a:t>
            </a:r>
            <a:endParaRPr lang="en-US" sz="1300" dirty="0"/>
          </a:p>
        </p:txBody>
      </p:sp>
      <p:sp>
        <p:nvSpPr>
          <p:cNvPr id="48" name="txt53"/>
          <p:cNvSpPr txBox="1"/>
          <p:nvPr/>
        </p:nvSpPr>
        <p:spPr>
          <a:xfrm>
            <a:off x="8293608"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HOA_DON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GIAO_DICH_THANH_TOAN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MA_KHUYEN_MAI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toàn hệ thống</a:t>
            </a:r>
            <a:endParaRPr lang="en-US" sz="2600" dirty="0"/>
          </a:p>
        </p:txBody>
      </p:sp>
      <p:pic>
        <p:nvPicPr>
          <p:cNvPr id="3" name="erd_toan_he_thong" descr="erd_toan_he_thong">    </p:cNvPr>
          <p:cNvPicPr>
            <a:picLocks noChangeAspect="1"/>
          </p:cNvPicPr>
          <p:nvPr/>
        </p:nvPicPr>
        <p:blipFill>
          <a:blip r:embed="rId1"/>
          <a:stretch>
            <a:fillRect/>
          </a:stretch>
        </p:blipFill>
        <p:spPr>
          <a:xfrm>
            <a:off x="457200" y="1605081"/>
            <a:ext cx="11277295" cy="4489086"/>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A. Chuyến bay và lịch trình</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54"/>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55"/>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mạng sân bay, đội máy bay và lịch khai thác. Mỗi sân bay nhận diện bằng mã IATA. Giữa hai sân bay có thể có đường bay (khoảng cách, thời gian bay chuẩn). Mỗi chuyến bay theo lịch có số hiệu, ngày bay, giờ cất và hạ cánh, do một máy bay thực hiện trên một đường bay.</a:t>
            </a:r>
            <a:endParaRPr lang="en-US" sz="1300" dirty="0"/>
          </a:p>
        </p:txBody>
      </p:sp>
      <p:sp>
        <p:nvSpPr>
          <p:cNvPr id="6" name="txt56"/>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57"/>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SAN_BAY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MAY_BAY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CHUYEN_BAY</a:t>
            </a:r>
            <a:endParaRPr lang="en-US" sz="1200" dirty="0"/>
          </a:p>
        </p:txBody>
      </p:sp>
      <p:sp>
        <p:nvSpPr>
          <p:cNvPr id="8" name="bang58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58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58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58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58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58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QT01</a:t>
            </a:r>
            <a:endParaRPr lang="en-US" sz="1350" dirty="0"/>
          </a:p>
        </p:txBody>
      </p:sp>
      <p:sp>
        <p:nvSpPr>
          <p:cNvPr id="14" name="bang58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58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sân bay có đúng một mã IATA (3 ký tự, là khóa chính) và đúng một mã ICAO; mỗi mã chỉ thuộc về một sân bay.</a:t>
            </a:r>
            <a:endParaRPr lang="en-US" sz="1350" dirty="0"/>
          </a:p>
        </p:txBody>
      </p:sp>
      <p:sp>
        <p:nvSpPr>
          <p:cNvPr id="16" name="bang58_o2_0"/>
          <p:cNvSpPr/>
          <p:nvPr/>
        </p:nvSpPr>
        <p:spPr>
          <a:xfrm>
            <a:off x="4251960" y="2305050"/>
            <a:ext cx="685800" cy="946404"/>
          </a:xfrm>
          <a:prstGeom prst="rect">
            <a:avLst/>
          </a:prstGeom>
          <a:solidFill>
            <a:srgbClr val="F7F0E1"/>
          </a:solidFill>
          <a:ln w="9525">
            <a:solidFill>
              <a:srgbClr val="C9D3DF"/>
            </a:solidFill>
            <a:prstDash val="solid"/>
          </a:ln>
        </p:spPr>
      </p:sp>
      <p:sp>
        <p:nvSpPr>
          <p:cNvPr id="17" name="bang58_t2_0"/>
          <p:cNvSpPr txBox="1"/>
          <p:nvPr/>
        </p:nvSpPr>
        <p:spPr>
          <a:xfrm>
            <a:off x="4306824" y="2350770"/>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QT02</a:t>
            </a:r>
            <a:endParaRPr lang="en-US" sz="1350" dirty="0"/>
          </a:p>
        </p:txBody>
      </p:sp>
      <p:sp>
        <p:nvSpPr>
          <p:cNvPr id="18" name="bang58_o2_1"/>
          <p:cNvSpPr/>
          <p:nvPr/>
        </p:nvSpPr>
        <p:spPr>
          <a:xfrm>
            <a:off x="4937760" y="2305050"/>
            <a:ext cx="6796735" cy="946404"/>
          </a:xfrm>
          <a:prstGeom prst="rect">
            <a:avLst/>
          </a:prstGeom>
          <a:solidFill>
            <a:srgbClr val="F7F0E1"/>
          </a:solidFill>
          <a:ln w="9525">
            <a:solidFill>
              <a:srgbClr val="C9D3DF"/>
            </a:solidFill>
            <a:prstDash val="solid"/>
          </a:ln>
        </p:spPr>
      </p:sp>
      <p:sp>
        <p:nvSpPr>
          <p:cNvPr id="19" name="bang58_t2_1"/>
          <p:cNvSpPr txBox="1"/>
          <p:nvPr/>
        </p:nvSpPr>
        <p:spPr>
          <a:xfrm>
            <a:off x="4992624" y="2350770"/>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đường bay nối đúng một sân bay đi với đúng một sân bay đến khác nó. Mỗi sân bay là điểm đi của 0 hoặc nhiều đường bay và là điểm đến của 0 hoặc nhiều đường bay; mỗi cặp (đi, đến) ghi khoảng cách và thời gian bay chuẩn.</a:t>
            </a:r>
            <a:endParaRPr lang="en-US" sz="1350" dirty="0"/>
          </a:p>
        </p:txBody>
      </p:sp>
      <p:sp>
        <p:nvSpPr>
          <p:cNvPr id="20" name="bang58_o3_0"/>
          <p:cNvSpPr/>
          <p:nvPr/>
        </p:nvSpPr>
        <p:spPr>
          <a:xfrm>
            <a:off x="4251960" y="3251454"/>
            <a:ext cx="685800" cy="946404"/>
          </a:xfrm>
          <a:prstGeom prst="rect">
            <a:avLst/>
          </a:prstGeom>
          <a:solidFill>
            <a:srgbClr val="FFFFFF"/>
          </a:solidFill>
          <a:ln w="9525">
            <a:solidFill>
              <a:srgbClr val="C9D3DF"/>
            </a:solidFill>
            <a:prstDash val="solid"/>
          </a:ln>
        </p:spPr>
      </p:sp>
      <p:sp>
        <p:nvSpPr>
          <p:cNvPr id="21" name="bang58_t3_0"/>
          <p:cNvSpPr txBox="1"/>
          <p:nvPr/>
        </p:nvSpPr>
        <p:spPr>
          <a:xfrm>
            <a:off x="4306824" y="3297174"/>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QT03</a:t>
            </a:r>
            <a:endParaRPr lang="en-US" sz="1350" dirty="0"/>
          </a:p>
        </p:txBody>
      </p:sp>
      <p:sp>
        <p:nvSpPr>
          <p:cNvPr id="22" name="bang58_o3_1"/>
          <p:cNvSpPr/>
          <p:nvPr/>
        </p:nvSpPr>
        <p:spPr>
          <a:xfrm>
            <a:off x="4937760" y="3251454"/>
            <a:ext cx="6796735" cy="946404"/>
          </a:xfrm>
          <a:prstGeom prst="rect">
            <a:avLst/>
          </a:prstGeom>
          <a:solidFill>
            <a:srgbClr val="FFFFFF"/>
          </a:solidFill>
          <a:ln w="9525">
            <a:solidFill>
              <a:srgbClr val="C9D3DF"/>
            </a:solidFill>
            <a:prstDash val="solid"/>
          </a:ln>
        </p:spPr>
      </p:sp>
      <p:sp>
        <p:nvSpPr>
          <p:cNvPr id="23" name="bang58_t3_1"/>
          <p:cNvSpPr txBox="1"/>
          <p:nvPr/>
        </p:nvSpPr>
        <p:spPr>
          <a:xfrm>
            <a:off x="4992624" y="3297174"/>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cất cánh từ đúng 1 sân bay và hạ cánh tại đúng 1 sân bay khác; mỗi sân bay có 0 hoặc nhiều chuyến bay đi và 0 hoặc nhiều chuyến bay đến. Cặp sân bay của chuyến bay phải là một đường bay đã có.</a:t>
            </a:r>
            <a:endParaRPr lang="en-US" sz="1350" dirty="0"/>
          </a:p>
        </p:txBody>
      </p:sp>
      <p:sp>
        <p:nvSpPr>
          <p:cNvPr id="24" name="bang58_o4_0"/>
          <p:cNvSpPr/>
          <p:nvPr/>
        </p:nvSpPr>
        <p:spPr>
          <a:xfrm>
            <a:off x="4251960" y="4197858"/>
            <a:ext cx="685800" cy="737235"/>
          </a:xfrm>
          <a:prstGeom prst="rect">
            <a:avLst/>
          </a:prstGeom>
          <a:solidFill>
            <a:srgbClr val="F7F0E1"/>
          </a:solidFill>
          <a:ln w="9525">
            <a:solidFill>
              <a:srgbClr val="C9D3DF"/>
            </a:solidFill>
            <a:prstDash val="solid"/>
          </a:ln>
        </p:spPr>
      </p:sp>
      <p:sp>
        <p:nvSpPr>
          <p:cNvPr id="25" name="bang58_t4_0"/>
          <p:cNvSpPr txBox="1"/>
          <p:nvPr/>
        </p:nvSpPr>
        <p:spPr>
          <a:xfrm>
            <a:off x="4306824" y="4243578"/>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QT04</a:t>
            </a:r>
            <a:endParaRPr lang="en-US" sz="1350" dirty="0"/>
          </a:p>
        </p:txBody>
      </p:sp>
      <p:sp>
        <p:nvSpPr>
          <p:cNvPr id="26" name="bang58_o4_1"/>
          <p:cNvSpPr/>
          <p:nvPr/>
        </p:nvSpPr>
        <p:spPr>
          <a:xfrm>
            <a:off x="4937760" y="4197858"/>
            <a:ext cx="6796735" cy="737235"/>
          </a:xfrm>
          <a:prstGeom prst="rect">
            <a:avLst/>
          </a:prstGeom>
          <a:solidFill>
            <a:srgbClr val="F7F0E1"/>
          </a:solidFill>
          <a:ln w="9525">
            <a:solidFill>
              <a:srgbClr val="C9D3DF"/>
            </a:solidFill>
            <a:prstDash val="solid"/>
          </a:ln>
        </p:spPr>
      </p:sp>
      <p:sp>
        <p:nvSpPr>
          <p:cNvPr id="27" name="bang58_t4_1"/>
          <p:cNvSpPr txBox="1"/>
          <p:nvPr/>
        </p:nvSpPr>
        <p:spPr>
          <a:xfrm>
            <a:off x="4992624" y="4243578"/>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do đúng 1 máy bay thực hiện; mỗi máy bay thực hiện 0 hoặc nhiều chuyến bay (máy bay mới nhận chưa có chuyến). Một máy bay không được xếp cho hai chuyến trùng giờ.</a:t>
            </a:r>
            <a:endParaRPr lang="en-US" sz="1350" dirty="0"/>
          </a:p>
        </p:txBody>
      </p:sp>
      <p:sp>
        <p:nvSpPr>
          <p:cNvPr id="28" name="bang58_o5_0"/>
          <p:cNvSpPr/>
          <p:nvPr/>
        </p:nvSpPr>
        <p:spPr>
          <a:xfrm>
            <a:off x="4251960" y="4935093"/>
            <a:ext cx="685800" cy="737235"/>
          </a:xfrm>
          <a:prstGeom prst="rect">
            <a:avLst/>
          </a:prstGeom>
          <a:solidFill>
            <a:srgbClr val="FFFFFF"/>
          </a:solidFill>
          <a:ln w="9525">
            <a:solidFill>
              <a:srgbClr val="C9D3DF"/>
            </a:solidFill>
            <a:prstDash val="solid"/>
          </a:ln>
        </p:spPr>
      </p:sp>
      <p:sp>
        <p:nvSpPr>
          <p:cNvPr id="29" name="bang58_t5_0"/>
          <p:cNvSpPr txBox="1"/>
          <p:nvPr/>
        </p:nvSpPr>
        <p:spPr>
          <a:xfrm>
            <a:off x="4306824" y="4980813"/>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QT05</a:t>
            </a:r>
            <a:endParaRPr lang="en-US" sz="1350" dirty="0"/>
          </a:p>
        </p:txBody>
      </p:sp>
      <p:sp>
        <p:nvSpPr>
          <p:cNvPr id="30" name="bang58_o5_1"/>
          <p:cNvSpPr/>
          <p:nvPr/>
        </p:nvSpPr>
        <p:spPr>
          <a:xfrm>
            <a:off x="4937760" y="4935093"/>
            <a:ext cx="6796735" cy="737235"/>
          </a:xfrm>
          <a:prstGeom prst="rect">
            <a:avLst/>
          </a:prstGeom>
          <a:solidFill>
            <a:srgbClr val="FFFFFF"/>
          </a:solidFill>
          <a:ln w="9525">
            <a:solidFill>
              <a:srgbClr val="C9D3DF"/>
            </a:solidFill>
            <a:prstDash val="solid"/>
          </a:ln>
        </p:spPr>
      </p:sp>
      <p:sp>
        <p:nvSpPr>
          <p:cNvPr id="31" name="bang58_t5_1"/>
          <p:cNvSpPr txBox="1"/>
          <p:nvPr/>
        </p:nvSpPr>
        <p:spPr>
          <a:xfrm>
            <a:off x="4992624" y="4980813"/>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Số hiệu chuyến bay (ví dụ VN213) lặp lại hằng ngày, nên cặp (số hiệu, ngày bay) xác định duy nhất một chuyến bay. Thời gian bay và tổng số ghế là thuộc tính suy dẫn.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A</a:t>
            </a:r>
            <a:endParaRPr lang="en-US" sz="2600" dirty="0"/>
          </a:p>
        </p:txBody>
      </p:sp>
      <p:pic>
        <p:nvPicPr>
          <p:cNvPr id="3" name="erd_A" descr="erd_A">    </p:cNvPr>
          <p:cNvPicPr>
            <a:picLocks noChangeAspect="1"/>
          </p:cNvPicPr>
          <p:nvPr/>
        </p:nvPicPr>
        <p:blipFill>
          <a:blip r:embed="rId1"/>
          <a:stretch>
            <a:fillRect/>
          </a:stretch>
        </p:blipFill>
        <p:spPr>
          <a:xfrm>
            <a:off x="2998064" y="1389888"/>
            <a:ext cx="6195568"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59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59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59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59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59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59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59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59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59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59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59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59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59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59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59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59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59_o1_0"/>
          <p:cNvSpPr/>
          <p:nvPr/>
        </p:nvSpPr>
        <p:spPr>
          <a:xfrm>
            <a:off x="457200" y="2148840"/>
            <a:ext cx="914400" cy="713994"/>
          </a:xfrm>
          <a:prstGeom prst="rect">
            <a:avLst/>
          </a:prstGeom>
          <a:solidFill>
            <a:srgbClr val="FFFFFF"/>
          </a:solidFill>
          <a:ln w="9525">
            <a:solidFill>
              <a:srgbClr val="C9D3DF"/>
            </a:solidFill>
            <a:prstDash val="solid"/>
          </a:ln>
        </p:spPr>
      </p:sp>
      <p:sp>
        <p:nvSpPr>
          <p:cNvPr id="20" name="bang59_t1_0"/>
          <p:cNvSpPr txBox="1"/>
          <p:nvPr/>
        </p:nvSpPr>
        <p:spPr>
          <a:xfrm>
            <a:off x="512064" y="21945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LK01</a:t>
            </a:r>
            <a:endParaRPr lang="en-US" sz="1300" dirty="0"/>
          </a:p>
        </p:txBody>
      </p:sp>
      <p:sp>
        <p:nvSpPr>
          <p:cNvPr id="21" name="bang59_o1_1"/>
          <p:cNvSpPr/>
          <p:nvPr/>
        </p:nvSpPr>
        <p:spPr>
          <a:xfrm>
            <a:off x="1371600" y="2148840"/>
            <a:ext cx="1828800" cy="713994"/>
          </a:xfrm>
          <a:prstGeom prst="rect">
            <a:avLst/>
          </a:prstGeom>
          <a:solidFill>
            <a:srgbClr val="FFFFFF"/>
          </a:solidFill>
          <a:ln w="9525">
            <a:solidFill>
              <a:srgbClr val="C9D3DF"/>
            </a:solidFill>
            <a:prstDash val="solid"/>
          </a:ln>
        </p:spPr>
      </p:sp>
      <p:sp>
        <p:nvSpPr>
          <p:cNvPr id="22" name="bang59_t1_1"/>
          <p:cNvSpPr txBox="1"/>
          <p:nvPr/>
        </p:nvSpPr>
        <p:spPr>
          <a:xfrm>
            <a:off x="142646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Đường bay</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(sân bay đi / sân bay đến)</a:t>
            </a:r>
            <a:endParaRPr lang="en-US" sz="1300" dirty="0"/>
          </a:p>
        </p:txBody>
      </p:sp>
      <p:sp>
        <p:nvSpPr>
          <p:cNvPr id="23" name="bang59_o1_2"/>
          <p:cNvSpPr/>
          <p:nvPr/>
        </p:nvSpPr>
        <p:spPr>
          <a:xfrm>
            <a:off x="3200400" y="2148840"/>
            <a:ext cx="1965960" cy="713994"/>
          </a:xfrm>
          <a:prstGeom prst="rect">
            <a:avLst/>
          </a:prstGeom>
          <a:solidFill>
            <a:srgbClr val="FFFFFF"/>
          </a:solidFill>
          <a:ln w="9525">
            <a:solidFill>
              <a:srgbClr val="C9D3DF"/>
            </a:solidFill>
            <a:prstDash val="solid"/>
          </a:ln>
        </p:spPr>
      </p:sp>
      <p:sp>
        <p:nvSpPr>
          <p:cNvPr id="24" name="bang59_t1_2"/>
          <p:cNvSpPr txBox="1"/>
          <p:nvPr/>
        </p:nvSpPr>
        <p:spPr>
          <a:xfrm>
            <a:off x="3255264" y="21945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5" name="bang59_o1_3"/>
          <p:cNvSpPr/>
          <p:nvPr/>
        </p:nvSpPr>
        <p:spPr>
          <a:xfrm>
            <a:off x="5166360" y="2148840"/>
            <a:ext cx="2148840" cy="713994"/>
          </a:xfrm>
          <a:prstGeom prst="rect">
            <a:avLst/>
          </a:prstGeom>
          <a:solidFill>
            <a:srgbClr val="FFFFFF"/>
          </a:solidFill>
          <a:ln w="9525">
            <a:solidFill>
              <a:srgbClr val="C9D3DF"/>
            </a:solidFill>
            <a:prstDash val="solid"/>
          </a:ln>
        </p:spPr>
      </p:sp>
      <p:sp>
        <p:nvSpPr>
          <p:cNvPr id="26" name="bang59_t1_3"/>
          <p:cNvSpPr txBox="1"/>
          <p:nvPr/>
        </p:nvSpPr>
        <p:spPr>
          <a:xfrm>
            <a:off x="5221224" y="21945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7" name="bang59_o1_4"/>
          <p:cNvSpPr/>
          <p:nvPr/>
        </p:nvSpPr>
        <p:spPr>
          <a:xfrm>
            <a:off x="7315200" y="2148840"/>
            <a:ext cx="960120" cy="713994"/>
          </a:xfrm>
          <a:prstGeom prst="rect">
            <a:avLst/>
          </a:prstGeom>
          <a:solidFill>
            <a:srgbClr val="FFFFFF"/>
          </a:solidFill>
          <a:ln w="9525">
            <a:solidFill>
              <a:srgbClr val="C9D3DF"/>
            </a:solidFill>
            <a:prstDash val="solid"/>
          </a:ln>
        </p:spPr>
      </p:sp>
      <p:sp>
        <p:nvSpPr>
          <p:cNvPr id="28" name="bang59_t1_4"/>
          <p:cNvSpPr txBox="1"/>
          <p:nvPr/>
        </p:nvSpPr>
        <p:spPr>
          <a:xfrm>
            <a:off x="737006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59_o1_5"/>
          <p:cNvSpPr/>
          <p:nvPr/>
        </p:nvSpPr>
        <p:spPr>
          <a:xfrm>
            <a:off x="8275320" y="2148840"/>
            <a:ext cx="960120" cy="713994"/>
          </a:xfrm>
          <a:prstGeom prst="rect">
            <a:avLst/>
          </a:prstGeom>
          <a:solidFill>
            <a:srgbClr val="FFFFFF"/>
          </a:solidFill>
          <a:ln w="9525">
            <a:solidFill>
              <a:srgbClr val="C9D3DF"/>
            </a:solidFill>
            <a:prstDash val="solid"/>
          </a:ln>
        </p:spPr>
      </p:sp>
      <p:sp>
        <p:nvSpPr>
          <p:cNvPr id="30" name="bang59_t1_5"/>
          <p:cNvSpPr txBox="1"/>
          <p:nvPr/>
        </p:nvSpPr>
        <p:spPr>
          <a:xfrm>
            <a:off x="833018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31" name="bang59_o1_6"/>
          <p:cNvSpPr/>
          <p:nvPr/>
        </p:nvSpPr>
        <p:spPr>
          <a:xfrm>
            <a:off x="9235440" y="2148840"/>
            <a:ext cx="1828800" cy="713994"/>
          </a:xfrm>
          <a:prstGeom prst="rect">
            <a:avLst/>
          </a:prstGeom>
          <a:solidFill>
            <a:srgbClr val="FFFFFF"/>
          </a:solidFill>
          <a:ln w="9525">
            <a:solidFill>
              <a:srgbClr val="C9D3DF"/>
            </a:solidFill>
            <a:prstDash val="solid"/>
          </a:ln>
        </p:spPr>
      </p:sp>
      <p:sp>
        <p:nvSpPr>
          <p:cNvPr id="32" name="bang59_t1_6"/>
          <p:cNvSpPr txBox="1"/>
          <p:nvPr/>
        </p:nvSpPr>
        <p:spPr>
          <a:xfrm>
            <a:off x="929030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DUONG_BAY: KhoangCach, ThoiGianBayChuan</a:t>
            </a:r>
            <a:endParaRPr lang="en-US" sz="1300" dirty="0"/>
          </a:p>
        </p:txBody>
      </p:sp>
      <p:sp>
        <p:nvSpPr>
          <p:cNvPr id="33" name="bang59_o1_7"/>
          <p:cNvSpPr/>
          <p:nvPr/>
        </p:nvSpPr>
        <p:spPr>
          <a:xfrm>
            <a:off x="11064240" y="2148840"/>
            <a:ext cx="667512" cy="713994"/>
          </a:xfrm>
          <a:prstGeom prst="rect">
            <a:avLst/>
          </a:prstGeom>
          <a:solidFill>
            <a:srgbClr val="FFFFFF"/>
          </a:solidFill>
          <a:ln w="9525">
            <a:solidFill>
              <a:srgbClr val="C9D3DF"/>
            </a:solidFill>
            <a:prstDash val="solid"/>
          </a:ln>
        </p:spPr>
      </p:sp>
      <p:sp>
        <p:nvSpPr>
          <p:cNvPr id="34" name="bang59_t1_7"/>
          <p:cNvSpPr txBox="1"/>
          <p:nvPr/>
        </p:nvSpPr>
        <p:spPr>
          <a:xfrm>
            <a:off x="11119104" y="21945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QT02</a:t>
            </a:r>
            <a:endParaRPr lang="en-US" sz="1300" dirty="0"/>
          </a:p>
        </p:txBody>
      </p:sp>
      <p:sp>
        <p:nvSpPr>
          <p:cNvPr id="35" name="bang59_o2_0"/>
          <p:cNvSpPr/>
          <p:nvPr/>
        </p:nvSpPr>
        <p:spPr>
          <a:xfrm>
            <a:off x="457200" y="2862834"/>
            <a:ext cx="914400" cy="311150"/>
          </a:xfrm>
          <a:prstGeom prst="rect">
            <a:avLst/>
          </a:prstGeom>
          <a:solidFill>
            <a:srgbClr val="F7F0E1"/>
          </a:solidFill>
          <a:ln w="9525">
            <a:solidFill>
              <a:srgbClr val="C9D3DF"/>
            </a:solidFill>
            <a:prstDash val="solid"/>
          </a:ln>
        </p:spPr>
      </p:sp>
      <p:sp>
        <p:nvSpPr>
          <p:cNvPr id="36" name="bang59_t2_0"/>
          <p:cNvSpPr txBox="1"/>
          <p:nvPr/>
        </p:nvSpPr>
        <p:spPr>
          <a:xfrm>
            <a:off x="512064" y="29085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LK02</a:t>
            </a:r>
            <a:endParaRPr lang="en-US" sz="1300" dirty="0"/>
          </a:p>
        </p:txBody>
      </p:sp>
      <p:sp>
        <p:nvSpPr>
          <p:cNvPr id="37" name="bang59_o2_1"/>
          <p:cNvSpPr/>
          <p:nvPr/>
        </p:nvSpPr>
        <p:spPr>
          <a:xfrm>
            <a:off x="1371600" y="2862834"/>
            <a:ext cx="1828800" cy="311150"/>
          </a:xfrm>
          <a:prstGeom prst="rect">
            <a:avLst/>
          </a:prstGeom>
          <a:solidFill>
            <a:srgbClr val="F7F0E1"/>
          </a:solidFill>
          <a:ln w="9525">
            <a:solidFill>
              <a:srgbClr val="C9D3DF"/>
            </a:solidFill>
            <a:prstDash val="solid"/>
          </a:ln>
        </p:spPr>
      </p:sp>
      <p:sp>
        <p:nvSpPr>
          <p:cNvPr id="38" name="bang59_t2_1"/>
          <p:cNvSpPr txBox="1"/>
          <p:nvPr/>
        </p:nvSpPr>
        <p:spPr>
          <a:xfrm>
            <a:off x="1426464" y="29085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Thực hiện</a:t>
            </a:r>
            <a:endParaRPr lang="en-US" sz="1300" dirty="0"/>
          </a:p>
        </p:txBody>
      </p:sp>
      <p:sp>
        <p:nvSpPr>
          <p:cNvPr id="39" name="bang59_o2_2"/>
          <p:cNvSpPr/>
          <p:nvPr/>
        </p:nvSpPr>
        <p:spPr>
          <a:xfrm>
            <a:off x="3200400" y="2862834"/>
            <a:ext cx="1965960" cy="311150"/>
          </a:xfrm>
          <a:prstGeom prst="rect">
            <a:avLst/>
          </a:prstGeom>
          <a:solidFill>
            <a:srgbClr val="F7F0E1"/>
          </a:solidFill>
          <a:ln w="9525">
            <a:solidFill>
              <a:srgbClr val="C9D3DF"/>
            </a:solidFill>
            <a:prstDash val="solid"/>
          </a:ln>
        </p:spPr>
      </p:sp>
      <p:sp>
        <p:nvSpPr>
          <p:cNvPr id="40" name="bang59_t2_2"/>
          <p:cNvSpPr txBox="1"/>
          <p:nvPr/>
        </p:nvSpPr>
        <p:spPr>
          <a:xfrm>
            <a:off x="3255264" y="29085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41" name="bang59_o2_3"/>
          <p:cNvSpPr/>
          <p:nvPr/>
        </p:nvSpPr>
        <p:spPr>
          <a:xfrm>
            <a:off x="5166360" y="2862834"/>
            <a:ext cx="2148840" cy="311150"/>
          </a:xfrm>
          <a:prstGeom prst="rect">
            <a:avLst/>
          </a:prstGeom>
          <a:solidFill>
            <a:srgbClr val="F7F0E1"/>
          </a:solidFill>
          <a:ln w="9525">
            <a:solidFill>
              <a:srgbClr val="C9D3DF"/>
            </a:solidFill>
            <a:prstDash val="solid"/>
          </a:ln>
        </p:spPr>
      </p:sp>
      <p:sp>
        <p:nvSpPr>
          <p:cNvPr id="42" name="bang59_t2_3"/>
          <p:cNvSpPr txBox="1"/>
          <p:nvPr/>
        </p:nvSpPr>
        <p:spPr>
          <a:xfrm>
            <a:off x="5221224" y="29085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43" name="bang59_o2_4"/>
          <p:cNvSpPr/>
          <p:nvPr/>
        </p:nvSpPr>
        <p:spPr>
          <a:xfrm>
            <a:off x="7315200" y="2862834"/>
            <a:ext cx="960120" cy="311150"/>
          </a:xfrm>
          <a:prstGeom prst="rect">
            <a:avLst/>
          </a:prstGeom>
          <a:solidFill>
            <a:srgbClr val="F7F0E1"/>
          </a:solidFill>
          <a:ln w="9525">
            <a:solidFill>
              <a:srgbClr val="C9D3DF"/>
            </a:solidFill>
            <a:prstDash val="solid"/>
          </a:ln>
        </p:spPr>
      </p:sp>
      <p:sp>
        <p:nvSpPr>
          <p:cNvPr id="44" name="bang59_t2_4"/>
          <p:cNvSpPr txBox="1"/>
          <p:nvPr/>
        </p:nvSpPr>
        <p:spPr>
          <a:xfrm>
            <a:off x="737006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5" name="bang59_o2_5"/>
          <p:cNvSpPr/>
          <p:nvPr/>
        </p:nvSpPr>
        <p:spPr>
          <a:xfrm>
            <a:off x="8275320" y="2862834"/>
            <a:ext cx="960120" cy="311150"/>
          </a:xfrm>
          <a:prstGeom prst="rect">
            <a:avLst/>
          </a:prstGeom>
          <a:solidFill>
            <a:srgbClr val="F7F0E1"/>
          </a:solidFill>
          <a:ln w="9525">
            <a:solidFill>
              <a:srgbClr val="C9D3DF"/>
            </a:solidFill>
            <a:prstDash val="solid"/>
          </a:ln>
        </p:spPr>
      </p:sp>
      <p:sp>
        <p:nvSpPr>
          <p:cNvPr id="46" name="bang59_t2_5"/>
          <p:cNvSpPr txBox="1"/>
          <p:nvPr/>
        </p:nvSpPr>
        <p:spPr>
          <a:xfrm>
            <a:off x="833018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7" name="bang59_o2_6"/>
          <p:cNvSpPr/>
          <p:nvPr/>
        </p:nvSpPr>
        <p:spPr>
          <a:xfrm>
            <a:off x="9235440" y="2862834"/>
            <a:ext cx="1828800" cy="311150"/>
          </a:xfrm>
          <a:prstGeom prst="rect">
            <a:avLst/>
          </a:prstGeom>
          <a:solidFill>
            <a:srgbClr val="F7F0E1"/>
          </a:solidFill>
          <a:ln w="9525">
            <a:solidFill>
              <a:srgbClr val="C9D3DF"/>
            </a:solidFill>
            <a:prstDash val="solid"/>
          </a:ln>
        </p:spPr>
      </p:sp>
      <p:sp>
        <p:nvSpPr>
          <p:cNvPr id="48" name="bang59_o2_7"/>
          <p:cNvSpPr/>
          <p:nvPr/>
        </p:nvSpPr>
        <p:spPr>
          <a:xfrm>
            <a:off x="11064240" y="2862834"/>
            <a:ext cx="667512" cy="311150"/>
          </a:xfrm>
          <a:prstGeom prst="rect">
            <a:avLst/>
          </a:prstGeom>
          <a:solidFill>
            <a:srgbClr val="F7F0E1"/>
          </a:solidFill>
          <a:ln w="9525">
            <a:solidFill>
              <a:srgbClr val="C9D3DF"/>
            </a:solidFill>
            <a:prstDash val="solid"/>
          </a:ln>
        </p:spPr>
      </p:sp>
      <p:sp>
        <p:nvSpPr>
          <p:cNvPr id="49" name="bang59_t2_7"/>
          <p:cNvSpPr txBox="1"/>
          <p:nvPr/>
        </p:nvSpPr>
        <p:spPr>
          <a:xfrm>
            <a:off x="11119104" y="29085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QT04</a:t>
            </a:r>
            <a:endParaRPr lang="en-US" sz="1300" dirty="0"/>
          </a:p>
        </p:txBody>
      </p:sp>
      <p:sp>
        <p:nvSpPr>
          <p:cNvPr id="50" name="bang59_o3_0"/>
          <p:cNvSpPr/>
          <p:nvPr/>
        </p:nvSpPr>
        <p:spPr>
          <a:xfrm>
            <a:off x="457200" y="3173984"/>
            <a:ext cx="914400" cy="311150"/>
          </a:xfrm>
          <a:prstGeom prst="rect">
            <a:avLst/>
          </a:prstGeom>
          <a:solidFill>
            <a:srgbClr val="FFFFFF"/>
          </a:solidFill>
          <a:ln w="9525">
            <a:solidFill>
              <a:srgbClr val="C9D3DF"/>
            </a:solidFill>
            <a:prstDash val="solid"/>
          </a:ln>
        </p:spPr>
      </p:sp>
      <p:sp>
        <p:nvSpPr>
          <p:cNvPr id="51" name="bang59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LK03</a:t>
            </a:r>
            <a:endParaRPr lang="en-US" sz="1300" dirty="0"/>
          </a:p>
        </p:txBody>
      </p:sp>
      <p:sp>
        <p:nvSpPr>
          <p:cNvPr id="52" name="bang59_o3_1"/>
          <p:cNvSpPr/>
          <p:nvPr/>
        </p:nvSpPr>
        <p:spPr>
          <a:xfrm>
            <a:off x="1371600" y="3173984"/>
            <a:ext cx="1828800" cy="311150"/>
          </a:xfrm>
          <a:prstGeom prst="rect">
            <a:avLst/>
          </a:prstGeom>
          <a:solidFill>
            <a:srgbClr val="FFFFFF"/>
          </a:solidFill>
          <a:ln w="9525">
            <a:solidFill>
              <a:srgbClr val="C9D3DF"/>
            </a:solidFill>
            <a:prstDash val="solid"/>
          </a:ln>
        </p:spPr>
      </p:sp>
      <p:sp>
        <p:nvSpPr>
          <p:cNvPr id="53" name="bang59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Cất cánh từ</a:t>
            </a:r>
            <a:endParaRPr lang="en-US" sz="1300" dirty="0"/>
          </a:p>
        </p:txBody>
      </p:sp>
      <p:sp>
        <p:nvSpPr>
          <p:cNvPr id="54" name="bang59_o3_2"/>
          <p:cNvSpPr/>
          <p:nvPr/>
        </p:nvSpPr>
        <p:spPr>
          <a:xfrm>
            <a:off x="3200400" y="3173984"/>
            <a:ext cx="1965960" cy="311150"/>
          </a:xfrm>
          <a:prstGeom prst="rect">
            <a:avLst/>
          </a:prstGeom>
          <a:solidFill>
            <a:srgbClr val="FFFFFF"/>
          </a:solidFill>
          <a:ln w="9525">
            <a:solidFill>
              <a:srgbClr val="C9D3DF"/>
            </a:solidFill>
            <a:prstDash val="solid"/>
          </a:ln>
        </p:spPr>
      </p:sp>
      <p:sp>
        <p:nvSpPr>
          <p:cNvPr id="55" name="bang59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6" name="bang59_o3_3"/>
          <p:cNvSpPr/>
          <p:nvPr/>
        </p:nvSpPr>
        <p:spPr>
          <a:xfrm>
            <a:off x="5166360" y="3173984"/>
            <a:ext cx="2148840" cy="311150"/>
          </a:xfrm>
          <a:prstGeom prst="rect">
            <a:avLst/>
          </a:prstGeom>
          <a:solidFill>
            <a:srgbClr val="FFFFFF"/>
          </a:solidFill>
          <a:ln w="9525">
            <a:solidFill>
              <a:srgbClr val="C9D3DF"/>
            </a:solidFill>
            <a:prstDash val="solid"/>
          </a:ln>
        </p:spPr>
      </p:sp>
      <p:sp>
        <p:nvSpPr>
          <p:cNvPr id="57" name="bang59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58" name="bang59_o3_4"/>
          <p:cNvSpPr/>
          <p:nvPr/>
        </p:nvSpPr>
        <p:spPr>
          <a:xfrm>
            <a:off x="7315200" y="3173984"/>
            <a:ext cx="960120" cy="311150"/>
          </a:xfrm>
          <a:prstGeom prst="rect">
            <a:avLst/>
          </a:prstGeom>
          <a:solidFill>
            <a:srgbClr val="FFFFFF"/>
          </a:solidFill>
          <a:ln w="9525">
            <a:solidFill>
              <a:srgbClr val="C9D3DF"/>
            </a:solidFill>
            <a:prstDash val="solid"/>
          </a:ln>
        </p:spPr>
      </p:sp>
      <p:sp>
        <p:nvSpPr>
          <p:cNvPr id="59" name="bang59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0" name="bang59_o3_5"/>
          <p:cNvSpPr/>
          <p:nvPr/>
        </p:nvSpPr>
        <p:spPr>
          <a:xfrm>
            <a:off x="8275320" y="3173984"/>
            <a:ext cx="960120" cy="311150"/>
          </a:xfrm>
          <a:prstGeom prst="rect">
            <a:avLst/>
          </a:prstGeom>
          <a:solidFill>
            <a:srgbClr val="FFFFFF"/>
          </a:solidFill>
          <a:ln w="9525">
            <a:solidFill>
              <a:srgbClr val="C9D3DF"/>
            </a:solidFill>
            <a:prstDash val="solid"/>
          </a:ln>
        </p:spPr>
      </p:sp>
      <p:sp>
        <p:nvSpPr>
          <p:cNvPr id="61" name="bang59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2" name="bang59_o3_6"/>
          <p:cNvSpPr/>
          <p:nvPr/>
        </p:nvSpPr>
        <p:spPr>
          <a:xfrm>
            <a:off x="9235440" y="3173984"/>
            <a:ext cx="1828800" cy="311150"/>
          </a:xfrm>
          <a:prstGeom prst="rect">
            <a:avLst/>
          </a:prstGeom>
          <a:solidFill>
            <a:srgbClr val="FFFFFF"/>
          </a:solidFill>
          <a:ln w="9525">
            <a:solidFill>
              <a:srgbClr val="C9D3DF"/>
            </a:solidFill>
            <a:prstDash val="solid"/>
          </a:ln>
        </p:spPr>
      </p:sp>
      <p:sp>
        <p:nvSpPr>
          <p:cNvPr id="63" name="bang59_o3_7"/>
          <p:cNvSpPr/>
          <p:nvPr/>
        </p:nvSpPr>
        <p:spPr>
          <a:xfrm>
            <a:off x="11064240" y="3173984"/>
            <a:ext cx="667512" cy="311150"/>
          </a:xfrm>
          <a:prstGeom prst="rect">
            <a:avLst/>
          </a:prstGeom>
          <a:solidFill>
            <a:srgbClr val="FFFFFF"/>
          </a:solidFill>
          <a:ln w="9525">
            <a:solidFill>
              <a:srgbClr val="C9D3DF"/>
            </a:solidFill>
            <a:prstDash val="solid"/>
          </a:ln>
        </p:spPr>
      </p:sp>
      <p:sp>
        <p:nvSpPr>
          <p:cNvPr id="64" name="bang59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65" name="bang59_o4_0"/>
          <p:cNvSpPr/>
          <p:nvPr/>
        </p:nvSpPr>
        <p:spPr>
          <a:xfrm>
            <a:off x="457200" y="3485134"/>
            <a:ext cx="914400" cy="311150"/>
          </a:xfrm>
          <a:prstGeom prst="rect">
            <a:avLst/>
          </a:prstGeom>
          <a:solidFill>
            <a:srgbClr val="F7F0E1"/>
          </a:solidFill>
          <a:ln w="9525">
            <a:solidFill>
              <a:srgbClr val="C9D3DF"/>
            </a:solidFill>
            <a:prstDash val="solid"/>
          </a:ln>
        </p:spPr>
      </p:sp>
      <p:sp>
        <p:nvSpPr>
          <p:cNvPr id="66" name="bang59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LK04</a:t>
            </a:r>
            <a:endParaRPr lang="en-US" sz="1300" dirty="0"/>
          </a:p>
        </p:txBody>
      </p:sp>
      <p:sp>
        <p:nvSpPr>
          <p:cNvPr id="67" name="bang59_o4_1"/>
          <p:cNvSpPr/>
          <p:nvPr/>
        </p:nvSpPr>
        <p:spPr>
          <a:xfrm>
            <a:off x="1371600" y="3485134"/>
            <a:ext cx="1828800" cy="311150"/>
          </a:xfrm>
          <a:prstGeom prst="rect">
            <a:avLst/>
          </a:prstGeom>
          <a:solidFill>
            <a:srgbClr val="F7F0E1"/>
          </a:solidFill>
          <a:ln w="9525">
            <a:solidFill>
              <a:srgbClr val="C9D3DF"/>
            </a:solidFill>
            <a:prstDash val="solid"/>
          </a:ln>
        </p:spPr>
      </p:sp>
      <p:sp>
        <p:nvSpPr>
          <p:cNvPr id="68" name="bang59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Hạ cánh tại</a:t>
            </a:r>
            <a:endParaRPr lang="en-US" sz="1300" dirty="0"/>
          </a:p>
        </p:txBody>
      </p:sp>
      <p:sp>
        <p:nvSpPr>
          <p:cNvPr id="69" name="bang59_o4_2"/>
          <p:cNvSpPr/>
          <p:nvPr/>
        </p:nvSpPr>
        <p:spPr>
          <a:xfrm>
            <a:off x="3200400" y="3485134"/>
            <a:ext cx="1965960" cy="311150"/>
          </a:xfrm>
          <a:prstGeom prst="rect">
            <a:avLst/>
          </a:prstGeom>
          <a:solidFill>
            <a:srgbClr val="F7F0E1"/>
          </a:solidFill>
          <a:ln w="9525">
            <a:solidFill>
              <a:srgbClr val="C9D3DF"/>
            </a:solidFill>
            <a:prstDash val="solid"/>
          </a:ln>
        </p:spPr>
      </p:sp>
      <p:sp>
        <p:nvSpPr>
          <p:cNvPr id="70" name="bang59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71" name="bang59_o4_3"/>
          <p:cNvSpPr/>
          <p:nvPr/>
        </p:nvSpPr>
        <p:spPr>
          <a:xfrm>
            <a:off x="5166360" y="3485134"/>
            <a:ext cx="2148840" cy="311150"/>
          </a:xfrm>
          <a:prstGeom prst="rect">
            <a:avLst/>
          </a:prstGeom>
          <a:solidFill>
            <a:srgbClr val="F7F0E1"/>
          </a:solidFill>
          <a:ln w="9525">
            <a:solidFill>
              <a:srgbClr val="C9D3DF"/>
            </a:solidFill>
            <a:prstDash val="solid"/>
          </a:ln>
        </p:spPr>
      </p:sp>
      <p:sp>
        <p:nvSpPr>
          <p:cNvPr id="72" name="bang59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73" name="bang59_o4_4"/>
          <p:cNvSpPr/>
          <p:nvPr/>
        </p:nvSpPr>
        <p:spPr>
          <a:xfrm>
            <a:off x="7315200" y="3485134"/>
            <a:ext cx="960120" cy="311150"/>
          </a:xfrm>
          <a:prstGeom prst="rect">
            <a:avLst/>
          </a:prstGeom>
          <a:solidFill>
            <a:srgbClr val="F7F0E1"/>
          </a:solidFill>
          <a:ln w="9525">
            <a:solidFill>
              <a:srgbClr val="C9D3DF"/>
            </a:solidFill>
            <a:prstDash val="solid"/>
          </a:ln>
        </p:spPr>
      </p:sp>
      <p:sp>
        <p:nvSpPr>
          <p:cNvPr id="74" name="bang59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5" name="bang59_o4_5"/>
          <p:cNvSpPr/>
          <p:nvPr/>
        </p:nvSpPr>
        <p:spPr>
          <a:xfrm>
            <a:off x="8275320" y="3485134"/>
            <a:ext cx="960120" cy="311150"/>
          </a:xfrm>
          <a:prstGeom prst="rect">
            <a:avLst/>
          </a:prstGeom>
          <a:solidFill>
            <a:srgbClr val="F7F0E1"/>
          </a:solidFill>
          <a:ln w="9525">
            <a:solidFill>
              <a:srgbClr val="C9D3DF"/>
            </a:solidFill>
            <a:prstDash val="solid"/>
          </a:ln>
        </p:spPr>
      </p:sp>
      <p:sp>
        <p:nvSpPr>
          <p:cNvPr id="76" name="bang59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7" name="bang59_o4_6"/>
          <p:cNvSpPr/>
          <p:nvPr/>
        </p:nvSpPr>
        <p:spPr>
          <a:xfrm>
            <a:off x="9235440" y="3485134"/>
            <a:ext cx="1828800" cy="311150"/>
          </a:xfrm>
          <a:prstGeom prst="rect">
            <a:avLst/>
          </a:prstGeom>
          <a:solidFill>
            <a:srgbClr val="F7F0E1"/>
          </a:solidFill>
          <a:ln w="9525">
            <a:solidFill>
              <a:srgbClr val="C9D3DF"/>
            </a:solidFill>
            <a:prstDash val="solid"/>
          </a:ln>
        </p:spPr>
      </p:sp>
      <p:sp>
        <p:nvSpPr>
          <p:cNvPr id="78" name="bang59_o4_7"/>
          <p:cNvSpPr/>
          <p:nvPr/>
        </p:nvSpPr>
        <p:spPr>
          <a:xfrm>
            <a:off x="11064240" y="3485134"/>
            <a:ext cx="667512" cy="311150"/>
          </a:xfrm>
          <a:prstGeom prst="rect">
            <a:avLst/>
          </a:prstGeom>
          <a:solidFill>
            <a:srgbClr val="F7F0E1"/>
          </a:solidFill>
          <a:ln w="9525">
            <a:solidFill>
              <a:srgbClr val="C9D3DF"/>
            </a:solidFill>
            <a:prstDash val="solid"/>
          </a:ln>
        </p:spPr>
      </p:sp>
      <p:sp>
        <p:nvSpPr>
          <p:cNvPr id="79" name="bang59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80" name="txt6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61"/>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SAN_BAY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MaICAO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ThanhPho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MuiGio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DUONG_BAY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KhoangCach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ThoiGianBayChuan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NamSanXuat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SoGheThuongGia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SoGhePhoThong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TinhTrang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CHUYEN_BAY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SoHieuCB</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GioHaCanhDK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p:txBody>
      </p:sp>
      <p:sp>
        <p:nvSpPr>
          <p:cNvPr id="4" name="txt62"/>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B. Đặt chỗ và vé máy bay</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63"/>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64"/>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đặt chỗ (mã PNR) từ khi khách giữ chỗ đến khi xuất vé. Một đặt chỗ gồm nhiều vé, mỗi vé là một hành khách trên một chặng bay, có hạng Thương gia hoặc Phổ thông. Sơ đồ ghế của từng máy bay được lưu để hành khách chọn chỗ.</a:t>
            </a:r>
            <a:endParaRPr lang="en-US" sz="1300" dirty="0"/>
          </a:p>
        </p:txBody>
      </p:sp>
      <p:sp>
        <p:nvSpPr>
          <p:cNvPr id="6" name="txt65"/>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66"/>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DAT_CHO</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GHE_NGOI (thực thể yếu)</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VE_MAY_BAY</a:t>
            </a:r>
            <a:endParaRPr lang="en-US" sz="1200" dirty="0"/>
          </a:p>
        </p:txBody>
      </p:sp>
      <p:sp>
        <p:nvSpPr>
          <p:cNvPr id="8" name="bang67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67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67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67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67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67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QT06</a:t>
            </a:r>
            <a:endParaRPr lang="en-US" sz="1350" dirty="0"/>
          </a:p>
        </p:txBody>
      </p:sp>
      <p:sp>
        <p:nvSpPr>
          <p:cNvPr id="14" name="bang67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67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do đúng 1 khách hàng thực hiện; mỗi khách hàng có 0 hoặc nhiều đặt chỗ.</a:t>
            </a:r>
            <a:endParaRPr lang="en-US" sz="1350" dirty="0"/>
          </a:p>
        </p:txBody>
      </p:sp>
      <p:sp>
        <p:nvSpPr>
          <p:cNvPr id="16" name="bang67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67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QT07</a:t>
            </a:r>
            <a:endParaRPr lang="en-US" sz="1350" dirty="0"/>
          </a:p>
        </p:txBody>
      </p:sp>
      <p:sp>
        <p:nvSpPr>
          <p:cNvPr id="18" name="bang67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67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gồm từ 1 đến 9 vé (mỗi hành khách trên mỗi chặng một vé); mỗi vé thuộc đúng 1 đặt chỗ.</a:t>
            </a:r>
            <a:endParaRPr lang="en-US" sz="1350" dirty="0"/>
          </a:p>
        </p:txBody>
      </p:sp>
      <p:sp>
        <p:nvSpPr>
          <p:cNvPr id="20" name="bang67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67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QT08</a:t>
            </a:r>
            <a:endParaRPr lang="en-US" sz="1350" dirty="0"/>
          </a:p>
        </p:txBody>
      </p:sp>
      <p:sp>
        <p:nvSpPr>
          <p:cNvPr id="22" name="bang67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67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dùng cho đúng 1 chuyến bay; mỗi chuyến bay có 0 hoặc nhiều vé. Hạng vé là Thương gia hoặc Phổ thông.</a:t>
            </a:r>
            <a:endParaRPr lang="en-US" sz="1350" dirty="0"/>
          </a:p>
        </p:txBody>
      </p:sp>
      <p:sp>
        <p:nvSpPr>
          <p:cNvPr id="24" name="bang67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67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QT09</a:t>
            </a:r>
            <a:endParaRPr lang="en-US" sz="1350" dirty="0"/>
          </a:p>
        </p:txBody>
      </p:sp>
      <p:sp>
        <p:nvSpPr>
          <p:cNvPr id="26" name="bang67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67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máy bay có ít nhất 1 ghế; mỗi ghế thuộc đúng 1 máy bay và chỉ phân biệt được trong máy bay đó (ghế 12A có ở nhiều máy bay), nên GHE_NGOI là thực thể yếu.</a:t>
            </a:r>
            <a:endParaRPr lang="en-US" sz="1350" dirty="0"/>
          </a:p>
        </p:txBody>
      </p:sp>
      <p:sp>
        <p:nvSpPr>
          <p:cNvPr id="28" name="bang67_o5_0"/>
          <p:cNvSpPr/>
          <p:nvPr/>
        </p:nvSpPr>
        <p:spPr>
          <a:xfrm>
            <a:off x="4251960" y="4098417"/>
            <a:ext cx="685800" cy="946404"/>
          </a:xfrm>
          <a:prstGeom prst="rect">
            <a:avLst/>
          </a:prstGeom>
          <a:solidFill>
            <a:srgbClr val="FFFFFF"/>
          </a:solidFill>
          <a:ln w="9525">
            <a:solidFill>
              <a:srgbClr val="C9D3DF"/>
            </a:solidFill>
            <a:prstDash val="solid"/>
          </a:ln>
        </p:spPr>
      </p:sp>
      <p:sp>
        <p:nvSpPr>
          <p:cNvPr id="29" name="bang67_t5_0"/>
          <p:cNvSpPr txBox="1"/>
          <p:nvPr/>
        </p:nvSpPr>
        <p:spPr>
          <a:xfrm>
            <a:off x="4306824" y="4144137"/>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QT10</a:t>
            </a:r>
            <a:endParaRPr lang="en-US" sz="1350" dirty="0"/>
          </a:p>
        </p:txBody>
      </p:sp>
      <p:sp>
        <p:nvSpPr>
          <p:cNvPr id="30" name="bang67_o5_1"/>
          <p:cNvSpPr/>
          <p:nvPr/>
        </p:nvSpPr>
        <p:spPr>
          <a:xfrm>
            <a:off x="4937760" y="4098417"/>
            <a:ext cx="6796735" cy="946404"/>
          </a:xfrm>
          <a:prstGeom prst="rect">
            <a:avLst/>
          </a:prstGeom>
          <a:solidFill>
            <a:srgbClr val="FFFFFF"/>
          </a:solidFill>
          <a:ln w="9525">
            <a:solidFill>
              <a:srgbClr val="C9D3DF"/>
            </a:solidFill>
            <a:prstDash val="solid"/>
          </a:ln>
        </p:spPr>
      </p:sp>
      <p:sp>
        <p:nvSpPr>
          <p:cNvPr id="31" name="bang67_t5_1"/>
          <p:cNvSpPr txBox="1"/>
          <p:nvPr/>
        </p:nvSpPr>
        <p:spPr>
          <a:xfrm>
            <a:off x="4992624" y="4144137"/>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được gán 0 hoặc 1 ghế (chưa chọn chỗ thì chưa có ghế); mỗi ghế được gán cho 0 hoặc nhiều vé ở các chuyến khác nhau, nhưng trong một chuyến bay mỗi ghế thuộc tối đa 1 vé. Ghế phải cùng hạng với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B</a:t>
            </a:r>
            <a:endParaRPr lang="en-US" sz="2600" dirty="0"/>
          </a:p>
        </p:txBody>
      </p:sp>
      <p:pic>
        <p:nvPicPr>
          <p:cNvPr id="3" name="erd_B" descr="erd_B">    </p:cNvPr>
          <p:cNvPicPr>
            <a:picLocks noChangeAspect="1"/>
          </p:cNvPicPr>
          <p:nvPr/>
        </p:nvPicPr>
        <p:blipFill>
          <a:blip r:embed="rId1"/>
          <a:stretch>
            <a:fillRect/>
          </a:stretch>
        </p:blipFill>
        <p:spPr>
          <a:xfrm>
            <a:off x="1473853" y="1389888"/>
            <a:ext cx="9243990"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68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68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68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68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68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68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68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68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68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68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68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68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68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68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68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68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68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68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LK05 (*)</a:t>
            </a:r>
            <a:endParaRPr lang="en-US" sz="1300" dirty="0"/>
          </a:p>
        </p:txBody>
      </p:sp>
      <p:sp>
        <p:nvSpPr>
          <p:cNvPr id="21" name="bang68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68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Đặt</a:t>
            </a:r>
            <a:endParaRPr lang="en-US" sz="1300" dirty="0"/>
          </a:p>
        </p:txBody>
      </p:sp>
      <p:sp>
        <p:nvSpPr>
          <p:cNvPr id="23" name="bang68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68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68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68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7" name="bang68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68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68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68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68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68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68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QT06</a:t>
            </a:r>
            <a:endParaRPr lang="en-US" sz="1300" dirty="0"/>
          </a:p>
        </p:txBody>
      </p:sp>
      <p:sp>
        <p:nvSpPr>
          <p:cNvPr id="34" name="bang68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68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LK06</a:t>
            </a:r>
            <a:endParaRPr lang="en-US" sz="1300" dirty="0"/>
          </a:p>
        </p:txBody>
      </p:sp>
      <p:sp>
        <p:nvSpPr>
          <p:cNvPr id="36" name="bang68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68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Gồm vé</a:t>
            </a:r>
            <a:endParaRPr lang="en-US" sz="1300" dirty="0"/>
          </a:p>
        </p:txBody>
      </p:sp>
      <p:sp>
        <p:nvSpPr>
          <p:cNvPr id="38" name="bang68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68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40" name="bang68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68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2" name="bang68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68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1..9</a:t>
            </a:r>
            <a:endParaRPr lang="en-US" sz="1300" dirty="0"/>
          </a:p>
        </p:txBody>
      </p:sp>
      <p:sp>
        <p:nvSpPr>
          <p:cNvPr id="44" name="bang68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68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68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68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68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QT07</a:t>
            </a:r>
            <a:endParaRPr lang="en-US" sz="1300" dirty="0"/>
          </a:p>
        </p:txBody>
      </p:sp>
      <p:sp>
        <p:nvSpPr>
          <p:cNvPr id="49" name="bang68_o3_0"/>
          <p:cNvSpPr/>
          <p:nvPr/>
        </p:nvSpPr>
        <p:spPr>
          <a:xfrm>
            <a:off x="457200" y="2972562"/>
            <a:ext cx="914400" cy="512572"/>
          </a:xfrm>
          <a:prstGeom prst="rect">
            <a:avLst/>
          </a:prstGeom>
          <a:solidFill>
            <a:srgbClr val="FFFFFF"/>
          </a:solidFill>
          <a:ln w="9525">
            <a:solidFill>
              <a:srgbClr val="C9D3DF"/>
            </a:solidFill>
            <a:prstDash val="solid"/>
          </a:ln>
        </p:spPr>
      </p:sp>
      <p:sp>
        <p:nvSpPr>
          <p:cNvPr id="50" name="bang68_t3_0"/>
          <p:cNvSpPr txBox="1"/>
          <p:nvPr/>
        </p:nvSpPr>
        <p:spPr>
          <a:xfrm>
            <a:off x="512064" y="301828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LK07 (*)</a:t>
            </a:r>
            <a:endParaRPr lang="en-US" sz="1300" dirty="0"/>
          </a:p>
        </p:txBody>
      </p:sp>
      <p:sp>
        <p:nvSpPr>
          <p:cNvPr id="51" name="bang68_o3_1"/>
          <p:cNvSpPr/>
          <p:nvPr/>
        </p:nvSpPr>
        <p:spPr>
          <a:xfrm>
            <a:off x="1371600" y="2972562"/>
            <a:ext cx="1828800" cy="512572"/>
          </a:xfrm>
          <a:prstGeom prst="rect">
            <a:avLst/>
          </a:prstGeom>
          <a:solidFill>
            <a:srgbClr val="FFFFFF"/>
          </a:solidFill>
          <a:ln w="9525">
            <a:solidFill>
              <a:srgbClr val="C9D3DF"/>
            </a:solidFill>
            <a:prstDash val="solid"/>
          </a:ln>
        </p:spPr>
      </p:sp>
      <p:sp>
        <p:nvSpPr>
          <p:cNvPr id="52" name="bang68_t3_1"/>
          <p:cNvSpPr txBox="1"/>
          <p:nvPr/>
        </p:nvSpPr>
        <p:spPr>
          <a:xfrm>
            <a:off x="1426464" y="301828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Dùng cho</a:t>
            </a:r>
            <a:endParaRPr lang="en-US" sz="1300" dirty="0"/>
          </a:p>
        </p:txBody>
      </p:sp>
      <p:sp>
        <p:nvSpPr>
          <p:cNvPr id="53" name="bang68_o3_2"/>
          <p:cNvSpPr/>
          <p:nvPr/>
        </p:nvSpPr>
        <p:spPr>
          <a:xfrm>
            <a:off x="3200400" y="2972562"/>
            <a:ext cx="1965960" cy="512572"/>
          </a:xfrm>
          <a:prstGeom prst="rect">
            <a:avLst/>
          </a:prstGeom>
          <a:solidFill>
            <a:srgbClr val="FFFFFF"/>
          </a:solidFill>
          <a:ln w="9525">
            <a:solidFill>
              <a:srgbClr val="C9D3DF"/>
            </a:solidFill>
            <a:prstDash val="solid"/>
          </a:ln>
        </p:spPr>
      </p:sp>
      <p:sp>
        <p:nvSpPr>
          <p:cNvPr id="54" name="bang68_t3_2"/>
          <p:cNvSpPr txBox="1"/>
          <p:nvPr/>
        </p:nvSpPr>
        <p:spPr>
          <a:xfrm>
            <a:off x="3255264" y="301828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68_o3_3"/>
          <p:cNvSpPr/>
          <p:nvPr/>
        </p:nvSpPr>
        <p:spPr>
          <a:xfrm>
            <a:off x="5166360" y="2972562"/>
            <a:ext cx="2148840" cy="512572"/>
          </a:xfrm>
          <a:prstGeom prst="rect">
            <a:avLst/>
          </a:prstGeom>
          <a:solidFill>
            <a:srgbClr val="FFFFFF"/>
          </a:solidFill>
          <a:ln w="9525">
            <a:solidFill>
              <a:srgbClr val="C9D3DF"/>
            </a:solidFill>
            <a:prstDash val="solid"/>
          </a:ln>
        </p:spPr>
      </p:sp>
      <p:sp>
        <p:nvSpPr>
          <p:cNvPr id="56" name="bang68_t3_3"/>
          <p:cNvSpPr txBox="1"/>
          <p:nvPr/>
        </p:nvSpPr>
        <p:spPr>
          <a:xfrm>
            <a:off x="5221224" y="301828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7" name="bang68_o3_4"/>
          <p:cNvSpPr/>
          <p:nvPr/>
        </p:nvSpPr>
        <p:spPr>
          <a:xfrm>
            <a:off x="7315200" y="2972562"/>
            <a:ext cx="960120" cy="512572"/>
          </a:xfrm>
          <a:prstGeom prst="rect">
            <a:avLst/>
          </a:prstGeom>
          <a:solidFill>
            <a:srgbClr val="FFFFFF"/>
          </a:solidFill>
          <a:ln w="9525">
            <a:solidFill>
              <a:srgbClr val="C9D3DF"/>
            </a:solidFill>
            <a:prstDash val="solid"/>
          </a:ln>
        </p:spPr>
      </p:sp>
      <p:sp>
        <p:nvSpPr>
          <p:cNvPr id="58" name="bang68_t3_4"/>
          <p:cNvSpPr txBox="1"/>
          <p:nvPr/>
        </p:nvSpPr>
        <p:spPr>
          <a:xfrm>
            <a:off x="737006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59" name="bang68_o3_5"/>
          <p:cNvSpPr/>
          <p:nvPr/>
        </p:nvSpPr>
        <p:spPr>
          <a:xfrm>
            <a:off x="8275320" y="2972562"/>
            <a:ext cx="960120" cy="512572"/>
          </a:xfrm>
          <a:prstGeom prst="rect">
            <a:avLst/>
          </a:prstGeom>
          <a:solidFill>
            <a:srgbClr val="FFFFFF"/>
          </a:solidFill>
          <a:ln w="9525">
            <a:solidFill>
              <a:srgbClr val="C9D3DF"/>
            </a:solidFill>
            <a:prstDash val="solid"/>
          </a:ln>
        </p:spPr>
      </p:sp>
      <p:sp>
        <p:nvSpPr>
          <p:cNvPr id="60" name="bang68_t3_5"/>
          <p:cNvSpPr txBox="1"/>
          <p:nvPr/>
        </p:nvSpPr>
        <p:spPr>
          <a:xfrm>
            <a:off x="833018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1" name="bang68_o3_6"/>
          <p:cNvSpPr/>
          <p:nvPr/>
        </p:nvSpPr>
        <p:spPr>
          <a:xfrm>
            <a:off x="9235440" y="2972562"/>
            <a:ext cx="1828800" cy="512572"/>
          </a:xfrm>
          <a:prstGeom prst="rect">
            <a:avLst/>
          </a:prstGeom>
          <a:solidFill>
            <a:srgbClr val="FFFFFF"/>
          </a:solidFill>
          <a:ln w="9525">
            <a:solidFill>
              <a:srgbClr val="C9D3DF"/>
            </a:solidFill>
            <a:prstDash val="solid"/>
          </a:ln>
        </p:spPr>
      </p:sp>
      <p:sp>
        <p:nvSpPr>
          <p:cNvPr id="62" name="bang68_o3_7"/>
          <p:cNvSpPr/>
          <p:nvPr/>
        </p:nvSpPr>
        <p:spPr>
          <a:xfrm>
            <a:off x="11064240" y="2972562"/>
            <a:ext cx="667512" cy="512572"/>
          </a:xfrm>
          <a:prstGeom prst="rect">
            <a:avLst/>
          </a:prstGeom>
          <a:solidFill>
            <a:srgbClr val="FFFFFF"/>
          </a:solidFill>
          <a:ln w="9525">
            <a:solidFill>
              <a:srgbClr val="C9D3DF"/>
            </a:solidFill>
            <a:prstDash val="solid"/>
          </a:ln>
        </p:spPr>
      </p:sp>
      <p:sp>
        <p:nvSpPr>
          <p:cNvPr id="63" name="bang68_t3_7"/>
          <p:cNvSpPr txBox="1"/>
          <p:nvPr/>
        </p:nvSpPr>
        <p:spPr>
          <a:xfrm>
            <a:off x="11119104" y="301828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QT08</a:t>
            </a:r>
            <a:endParaRPr lang="en-US" sz="1300" dirty="0"/>
          </a:p>
        </p:txBody>
      </p:sp>
      <p:sp>
        <p:nvSpPr>
          <p:cNvPr id="64" name="bang68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68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LK08 (*)</a:t>
            </a:r>
            <a:endParaRPr lang="en-US" sz="1300" dirty="0"/>
          </a:p>
        </p:txBody>
      </p:sp>
      <p:sp>
        <p:nvSpPr>
          <p:cNvPr id="66" name="bang68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68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Có ghế</a:t>
            </a:r>
            <a:endParaRPr lang="en-US" sz="1300" dirty="0"/>
          </a:p>
        </p:txBody>
      </p:sp>
      <p:sp>
        <p:nvSpPr>
          <p:cNvPr id="68" name="bang68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68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70" name="bang68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68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72" name="bang68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68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68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68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68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68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68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QT09</a:t>
            </a:r>
            <a:endParaRPr lang="en-US" sz="1300" dirty="0"/>
          </a:p>
        </p:txBody>
      </p:sp>
      <p:sp>
        <p:nvSpPr>
          <p:cNvPr id="79" name="bang68_o5_0"/>
          <p:cNvSpPr/>
          <p:nvPr/>
        </p:nvSpPr>
        <p:spPr>
          <a:xfrm>
            <a:off x="457200" y="3997706"/>
            <a:ext cx="914400" cy="311150"/>
          </a:xfrm>
          <a:prstGeom prst="rect">
            <a:avLst/>
          </a:prstGeom>
          <a:solidFill>
            <a:srgbClr val="FFFFFF"/>
          </a:solidFill>
          <a:ln w="9525">
            <a:solidFill>
              <a:srgbClr val="C9D3DF"/>
            </a:solidFill>
            <a:prstDash val="solid"/>
          </a:ln>
        </p:spPr>
      </p:sp>
      <p:sp>
        <p:nvSpPr>
          <p:cNvPr id="80" name="bang68_t5_0"/>
          <p:cNvSpPr txBox="1"/>
          <p:nvPr/>
        </p:nvSpPr>
        <p:spPr>
          <a:xfrm>
            <a:off x="512064" y="4043426"/>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LK09</a:t>
            </a:r>
            <a:endParaRPr lang="en-US" sz="1300" dirty="0"/>
          </a:p>
        </p:txBody>
      </p:sp>
      <p:sp>
        <p:nvSpPr>
          <p:cNvPr id="81" name="bang68_o5_1"/>
          <p:cNvSpPr/>
          <p:nvPr/>
        </p:nvSpPr>
        <p:spPr>
          <a:xfrm>
            <a:off x="1371600" y="3997706"/>
            <a:ext cx="1828800" cy="311150"/>
          </a:xfrm>
          <a:prstGeom prst="rect">
            <a:avLst/>
          </a:prstGeom>
          <a:solidFill>
            <a:srgbClr val="FFFFFF"/>
          </a:solidFill>
          <a:ln w="9525">
            <a:solidFill>
              <a:srgbClr val="C9D3DF"/>
            </a:solidFill>
            <a:prstDash val="solid"/>
          </a:ln>
        </p:spPr>
      </p:sp>
      <p:sp>
        <p:nvSpPr>
          <p:cNvPr id="82" name="bang68_t5_1"/>
          <p:cNvSpPr txBox="1"/>
          <p:nvPr/>
        </p:nvSpPr>
        <p:spPr>
          <a:xfrm>
            <a:off x="1426464" y="4043426"/>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Ngồi ghế</a:t>
            </a:r>
            <a:endParaRPr lang="en-US" sz="1300" dirty="0"/>
          </a:p>
        </p:txBody>
      </p:sp>
      <p:sp>
        <p:nvSpPr>
          <p:cNvPr id="83" name="bang68_o5_2"/>
          <p:cNvSpPr/>
          <p:nvPr/>
        </p:nvSpPr>
        <p:spPr>
          <a:xfrm>
            <a:off x="3200400" y="3997706"/>
            <a:ext cx="1965960" cy="311150"/>
          </a:xfrm>
          <a:prstGeom prst="rect">
            <a:avLst/>
          </a:prstGeom>
          <a:solidFill>
            <a:srgbClr val="FFFFFF"/>
          </a:solidFill>
          <a:ln w="9525">
            <a:solidFill>
              <a:srgbClr val="C9D3DF"/>
            </a:solidFill>
            <a:prstDash val="solid"/>
          </a:ln>
        </p:spPr>
      </p:sp>
      <p:sp>
        <p:nvSpPr>
          <p:cNvPr id="84" name="bang68_t5_2"/>
          <p:cNvSpPr txBox="1"/>
          <p:nvPr/>
        </p:nvSpPr>
        <p:spPr>
          <a:xfrm>
            <a:off x="3255264" y="4043426"/>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85" name="bang68_o5_3"/>
          <p:cNvSpPr/>
          <p:nvPr/>
        </p:nvSpPr>
        <p:spPr>
          <a:xfrm>
            <a:off x="5166360" y="3997706"/>
            <a:ext cx="2148840" cy="311150"/>
          </a:xfrm>
          <a:prstGeom prst="rect">
            <a:avLst/>
          </a:prstGeom>
          <a:solidFill>
            <a:srgbClr val="FFFFFF"/>
          </a:solidFill>
          <a:ln w="9525">
            <a:solidFill>
              <a:srgbClr val="C9D3DF"/>
            </a:solidFill>
            <a:prstDash val="solid"/>
          </a:ln>
        </p:spPr>
      </p:sp>
      <p:sp>
        <p:nvSpPr>
          <p:cNvPr id="86" name="bang68_t5_3"/>
          <p:cNvSpPr txBox="1"/>
          <p:nvPr/>
        </p:nvSpPr>
        <p:spPr>
          <a:xfrm>
            <a:off x="5221224" y="4043426"/>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87" name="bang68_o5_4"/>
          <p:cNvSpPr/>
          <p:nvPr/>
        </p:nvSpPr>
        <p:spPr>
          <a:xfrm>
            <a:off x="7315200" y="3997706"/>
            <a:ext cx="960120" cy="311150"/>
          </a:xfrm>
          <a:prstGeom prst="rect">
            <a:avLst/>
          </a:prstGeom>
          <a:solidFill>
            <a:srgbClr val="FFFFFF"/>
          </a:solidFill>
          <a:ln w="9525">
            <a:solidFill>
              <a:srgbClr val="C9D3DF"/>
            </a:solidFill>
            <a:prstDash val="solid"/>
          </a:ln>
        </p:spPr>
      </p:sp>
      <p:sp>
        <p:nvSpPr>
          <p:cNvPr id="88" name="bang68_t5_4"/>
          <p:cNvSpPr txBox="1"/>
          <p:nvPr/>
        </p:nvSpPr>
        <p:spPr>
          <a:xfrm>
            <a:off x="737006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89" name="bang68_o5_5"/>
          <p:cNvSpPr/>
          <p:nvPr/>
        </p:nvSpPr>
        <p:spPr>
          <a:xfrm>
            <a:off x="8275320" y="3997706"/>
            <a:ext cx="960120" cy="311150"/>
          </a:xfrm>
          <a:prstGeom prst="rect">
            <a:avLst/>
          </a:prstGeom>
          <a:solidFill>
            <a:srgbClr val="FFFFFF"/>
          </a:solidFill>
          <a:ln w="9525">
            <a:solidFill>
              <a:srgbClr val="C9D3DF"/>
            </a:solidFill>
            <a:prstDash val="solid"/>
          </a:ln>
        </p:spPr>
      </p:sp>
      <p:sp>
        <p:nvSpPr>
          <p:cNvPr id="90" name="bang68_t5_5"/>
          <p:cNvSpPr txBox="1"/>
          <p:nvPr/>
        </p:nvSpPr>
        <p:spPr>
          <a:xfrm>
            <a:off x="833018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91" name="bang68_o5_6"/>
          <p:cNvSpPr/>
          <p:nvPr/>
        </p:nvSpPr>
        <p:spPr>
          <a:xfrm>
            <a:off x="9235440" y="3997706"/>
            <a:ext cx="1828800" cy="311150"/>
          </a:xfrm>
          <a:prstGeom prst="rect">
            <a:avLst/>
          </a:prstGeom>
          <a:solidFill>
            <a:srgbClr val="FFFFFF"/>
          </a:solidFill>
          <a:ln w="9525">
            <a:solidFill>
              <a:srgbClr val="C9D3DF"/>
            </a:solidFill>
            <a:prstDash val="solid"/>
          </a:ln>
        </p:spPr>
      </p:sp>
      <p:sp>
        <p:nvSpPr>
          <p:cNvPr id="92" name="bang68_o5_7"/>
          <p:cNvSpPr/>
          <p:nvPr/>
        </p:nvSpPr>
        <p:spPr>
          <a:xfrm>
            <a:off x="11064240" y="3997706"/>
            <a:ext cx="667512" cy="311150"/>
          </a:xfrm>
          <a:prstGeom prst="rect">
            <a:avLst/>
          </a:prstGeom>
          <a:solidFill>
            <a:srgbClr val="FFFFFF"/>
          </a:solidFill>
          <a:ln w="9525">
            <a:solidFill>
              <a:srgbClr val="C9D3DF"/>
            </a:solidFill>
            <a:prstDash val="solid"/>
          </a:ln>
        </p:spPr>
      </p:sp>
      <p:sp>
        <p:nvSpPr>
          <p:cNvPr id="93" name="bang68_t5_7"/>
          <p:cNvSpPr txBox="1"/>
          <p:nvPr/>
        </p:nvSpPr>
        <p:spPr>
          <a:xfrm>
            <a:off x="11119104" y="4043426"/>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QT10</a:t>
            </a:r>
            <a:endParaRPr lang="en-US" sz="1300" dirty="0"/>
          </a:p>
        </p:txBody>
      </p:sp>
      <p:sp>
        <p:nvSpPr>
          <p:cNvPr id="94" name="txt6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0"/>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DAT_CHO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NgayGioDat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KenhDat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HanThanhToan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GHE_NGOI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ViTriGhe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LaGheLoiThoat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VE_MAY_BAY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HoTenHK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LoaiHanhKhach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ThueVaPhi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NgayXuatVe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MaChuyenBay → CHUYEN_BAY(MaChuyenBay)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SoGhe) → GHE_NGOI(SoDangKy, SoGhe), NULL</a:t>
            </a:r>
            <a:endParaRPr lang="en-US" sz="1600" dirty="0"/>
          </a:p>
        </p:txBody>
      </p:sp>
      <p:sp>
        <p:nvSpPr>
          <p:cNvPr id="4" name="txt7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C. Khách hàng và hội viên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7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7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khách hàng và chương trình hội viên. Khách hàng có thể đăng ký một thẻ hội viên với ba hạng Đồng, Vàng, Bạch Kim. Mọi biến động điểm (cộng điểm sau chuyến bay, đổi điểm, điểm hết hạn) được ghi vào lịch sử tích điểm.</a:t>
            </a:r>
            <a:endParaRPr lang="en-US" sz="1300" dirty="0"/>
          </a:p>
        </p:txBody>
      </p:sp>
      <p:sp>
        <p:nvSpPr>
          <p:cNvPr id="6" name="txt7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7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KHACH_HANG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THE_HOI_VIEN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LICH_SU_TICH_DIEM (thực thể yếu)</a:t>
            </a:r>
            <a:endParaRPr lang="en-US" sz="1200" dirty="0"/>
          </a:p>
        </p:txBody>
      </p:sp>
      <p:sp>
        <p:nvSpPr>
          <p:cNvPr id="8" name="bang76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76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76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76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76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76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QT11</a:t>
            </a:r>
            <a:endParaRPr lang="en-US" sz="1350" dirty="0"/>
          </a:p>
        </p:txBody>
      </p:sp>
      <p:sp>
        <p:nvSpPr>
          <p:cNvPr id="14" name="bang76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76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có số giấy tờ (CCCD hoặc hộ chiếu) và email không trùng với khách hàng khác, và có từ 1 đến 3 số điện thoại.</a:t>
            </a:r>
            <a:endParaRPr lang="en-US" sz="1350" dirty="0"/>
          </a:p>
        </p:txBody>
      </p:sp>
      <p:sp>
        <p:nvSpPr>
          <p:cNvPr id="16" name="bang76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76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QT12</a:t>
            </a:r>
            <a:endParaRPr lang="en-US" sz="1350" dirty="0"/>
          </a:p>
        </p:txBody>
      </p:sp>
      <p:sp>
        <p:nvSpPr>
          <p:cNvPr id="18" name="bang76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76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sở hữu 0 hoặc 1 thẻ hội viên; mỗi thẻ thuộc đúng 1 khách hàng.</a:t>
            </a:r>
            <a:endParaRPr lang="en-US" sz="1350" dirty="0"/>
          </a:p>
        </p:txBody>
      </p:sp>
      <p:sp>
        <p:nvSpPr>
          <p:cNvPr id="20" name="bang76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76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QT13</a:t>
            </a:r>
            <a:endParaRPr lang="en-US" sz="1350" dirty="0"/>
          </a:p>
        </p:txBody>
      </p:sp>
      <p:sp>
        <p:nvSpPr>
          <p:cNvPr id="22" name="bang76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76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đúng 1 hạng tại một thời điểm: Đồng, Vàng hoặc Bạch Kim. Thẻ mới cấp có hạng Đồng; hạng được xét lại theo điểm xét hạng trong 12 tháng.</a:t>
            </a:r>
            <a:endParaRPr lang="en-US" sz="1350" dirty="0"/>
          </a:p>
        </p:txBody>
      </p:sp>
      <p:sp>
        <p:nvSpPr>
          <p:cNvPr id="24" name="bang76_o4_0"/>
          <p:cNvSpPr/>
          <p:nvPr/>
        </p:nvSpPr>
        <p:spPr>
          <a:xfrm>
            <a:off x="4251960" y="3570351"/>
            <a:ext cx="685800" cy="528066"/>
          </a:xfrm>
          <a:prstGeom prst="rect">
            <a:avLst/>
          </a:prstGeom>
          <a:solidFill>
            <a:srgbClr val="F7F0E1"/>
          </a:solidFill>
          <a:ln w="9525">
            <a:solidFill>
              <a:srgbClr val="C9D3DF"/>
            </a:solidFill>
            <a:prstDash val="solid"/>
          </a:ln>
        </p:spPr>
      </p:sp>
      <p:sp>
        <p:nvSpPr>
          <p:cNvPr id="25" name="bang76_t4_0"/>
          <p:cNvSpPr txBox="1"/>
          <p:nvPr/>
        </p:nvSpPr>
        <p:spPr>
          <a:xfrm>
            <a:off x="4306824" y="3616071"/>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QT14</a:t>
            </a:r>
            <a:endParaRPr lang="en-US" sz="1350" dirty="0"/>
          </a:p>
        </p:txBody>
      </p:sp>
      <p:sp>
        <p:nvSpPr>
          <p:cNvPr id="26" name="bang76_o4_1"/>
          <p:cNvSpPr/>
          <p:nvPr/>
        </p:nvSpPr>
        <p:spPr>
          <a:xfrm>
            <a:off x="4937760" y="3570351"/>
            <a:ext cx="6796735" cy="528066"/>
          </a:xfrm>
          <a:prstGeom prst="rect">
            <a:avLst/>
          </a:prstGeom>
          <a:solidFill>
            <a:srgbClr val="F7F0E1"/>
          </a:solidFill>
          <a:ln w="9525">
            <a:solidFill>
              <a:srgbClr val="C9D3DF"/>
            </a:solidFill>
            <a:prstDash val="solid"/>
          </a:ln>
        </p:spPr>
      </p:sp>
      <p:sp>
        <p:nvSpPr>
          <p:cNvPr id="27" name="bang76_t4_1"/>
          <p:cNvSpPr txBox="1"/>
          <p:nvPr/>
        </p:nvSpPr>
        <p:spPr>
          <a:xfrm>
            <a:off x="4992624" y="3616071"/>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0 hoặc nhiều dòng lịch sử tích điểm; mỗi dòng thuộc đúng 1 thẻ và được đánh số thứ tự trong thẻ đó (thực thể yếu).</a:t>
            </a:r>
            <a:endParaRPr lang="en-US" sz="1350" dirty="0"/>
          </a:p>
        </p:txBody>
      </p:sp>
      <p:sp>
        <p:nvSpPr>
          <p:cNvPr id="28" name="bang76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76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QT15</a:t>
            </a:r>
            <a:endParaRPr lang="en-US" sz="1350" dirty="0"/>
          </a:p>
        </p:txBody>
      </p:sp>
      <p:sp>
        <p:nvSpPr>
          <p:cNvPr id="30" name="bang76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76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sinh ra tối đa 1 dòng cộng điểm; mỗi dòng gắn với 0 hoặc 1 vé (dòng đổi điểm, hết hạn điểm không gắn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C</a:t>
            </a:r>
            <a:endParaRPr lang="en-US" sz="2600" dirty="0"/>
          </a:p>
        </p:txBody>
      </p:sp>
      <p:pic>
        <p:nvPicPr>
          <p:cNvPr id="3" name="erd_C" descr="erd_C">    </p:cNvPr>
          <p:cNvPicPr>
            <a:picLocks noChangeAspect="1"/>
          </p:cNvPicPr>
          <p:nvPr/>
        </p:nvPicPr>
        <p:blipFill>
          <a:blip r:embed="rId1"/>
          <a:stretch>
            <a:fillRect/>
          </a:stretch>
        </p:blipFill>
        <p:spPr>
          <a:xfrm>
            <a:off x="2075515" y="1389888"/>
            <a:ext cx="8040665"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7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7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7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7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7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7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7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7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7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7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7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7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7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7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7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7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77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77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LK10</a:t>
            </a:r>
            <a:endParaRPr lang="en-US" sz="1300" dirty="0"/>
          </a:p>
        </p:txBody>
      </p:sp>
      <p:sp>
        <p:nvSpPr>
          <p:cNvPr id="21" name="bang77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77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Sở hữu</a:t>
            </a:r>
            <a:endParaRPr lang="en-US" sz="1300" dirty="0"/>
          </a:p>
        </p:txBody>
      </p:sp>
      <p:sp>
        <p:nvSpPr>
          <p:cNvPr id="23" name="bang77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77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77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77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27" name="bang77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77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29" name="bang77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77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77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77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77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QT12</a:t>
            </a:r>
            <a:endParaRPr lang="en-US" sz="1300" dirty="0"/>
          </a:p>
        </p:txBody>
      </p:sp>
      <p:sp>
        <p:nvSpPr>
          <p:cNvPr id="34" name="bang77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77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LK11</a:t>
            </a:r>
            <a:endParaRPr lang="en-US" sz="1300" dirty="0"/>
          </a:p>
        </p:txBody>
      </p:sp>
      <p:sp>
        <p:nvSpPr>
          <p:cNvPr id="36" name="bang77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77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Ghi nhận</a:t>
            </a:r>
            <a:endParaRPr lang="en-US" sz="1300" dirty="0"/>
          </a:p>
        </p:txBody>
      </p:sp>
      <p:sp>
        <p:nvSpPr>
          <p:cNvPr id="38" name="bang77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77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40" name="bang77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77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42" name="bang77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77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77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77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77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77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77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QT14</a:t>
            </a:r>
            <a:endParaRPr lang="en-US" sz="1300" dirty="0"/>
          </a:p>
        </p:txBody>
      </p:sp>
      <p:sp>
        <p:nvSpPr>
          <p:cNvPr id="49" name="bang77_o3_0"/>
          <p:cNvSpPr/>
          <p:nvPr/>
        </p:nvSpPr>
        <p:spPr>
          <a:xfrm>
            <a:off x="457200" y="2771140"/>
            <a:ext cx="914400" cy="512572"/>
          </a:xfrm>
          <a:prstGeom prst="rect">
            <a:avLst/>
          </a:prstGeom>
          <a:solidFill>
            <a:srgbClr val="FFFFFF"/>
          </a:solidFill>
          <a:ln w="9525">
            <a:solidFill>
              <a:srgbClr val="C9D3DF"/>
            </a:solidFill>
            <a:prstDash val="solid"/>
          </a:ln>
        </p:spPr>
      </p:sp>
      <p:sp>
        <p:nvSpPr>
          <p:cNvPr id="50" name="bang77_t3_0"/>
          <p:cNvSpPr txBox="1"/>
          <p:nvPr/>
        </p:nvSpPr>
        <p:spPr>
          <a:xfrm>
            <a:off x="512064" y="28168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LK12 (*)</a:t>
            </a:r>
            <a:endParaRPr lang="en-US" sz="1300" dirty="0"/>
          </a:p>
        </p:txBody>
      </p:sp>
      <p:sp>
        <p:nvSpPr>
          <p:cNvPr id="51" name="bang77_o3_1"/>
          <p:cNvSpPr/>
          <p:nvPr/>
        </p:nvSpPr>
        <p:spPr>
          <a:xfrm>
            <a:off x="1371600" y="2771140"/>
            <a:ext cx="1828800" cy="512572"/>
          </a:xfrm>
          <a:prstGeom prst="rect">
            <a:avLst/>
          </a:prstGeom>
          <a:solidFill>
            <a:srgbClr val="FFFFFF"/>
          </a:solidFill>
          <a:ln w="9525">
            <a:solidFill>
              <a:srgbClr val="C9D3DF"/>
            </a:solidFill>
            <a:prstDash val="solid"/>
          </a:ln>
        </p:spPr>
      </p:sp>
      <p:sp>
        <p:nvSpPr>
          <p:cNvPr id="52" name="bang77_t3_1"/>
          <p:cNvSpPr txBox="1"/>
          <p:nvPr/>
        </p:nvSpPr>
        <p:spPr>
          <a:xfrm>
            <a:off x="1426464" y="28168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Tích điểm từ</a:t>
            </a:r>
            <a:endParaRPr lang="en-US" sz="1300" dirty="0"/>
          </a:p>
        </p:txBody>
      </p:sp>
      <p:sp>
        <p:nvSpPr>
          <p:cNvPr id="53" name="bang77_o3_2"/>
          <p:cNvSpPr/>
          <p:nvPr/>
        </p:nvSpPr>
        <p:spPr>
          <a:xfrm>
            <a:off x="3200400" y="2771140"/>
            <a:ext cx="1965960" cy="512572"/>
          </a:xfrm>
          <a:prstGeom prst="rect">
            <a:avLst/>
          </a:prstGeom>
          <a:solidFill>
            <a:srgbClr val="FFFFFF"/>
          </a:solidFill>
          <a:ln w="9525">
            <a:solidFill>
              <a:srgbClr val="C9D3DF"/>
            </a:solidFill>
            <a:prstDash val="solid"/>
          </a:ln>
        </p:spPr>
      </p:sp>
      <p:sp>
        <p:nvSpPr>
          <p:cNvPr id="54" name="bang77_t3_2"/>
          <p:cNvSpPr txBox="1"/>
          <p:nvPr/>
        </p:nvSpPr>
        <p:spPr>
          <a:xfrm>
            <a:off x="3255264" y="28168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77_o3_3"/>
          <p:cNvSpPr/>
          <p:nvPr/>
        </p:nvSpPr>
        <p:spPr>
          <a:xfrm>
            <a:off x="5166360" y="2771140"/>
            <a:ext cx="2148840" cy="512572"/>
          </a:xfrm>
          <a:prstGeom prst="rect">
            <a:avLst/>
          </a:prstGeom>
          <a:solidFill>
            <a:srgbClr val="FFFFFF"/>
          </a:solidFill>
          <a:ln w="9525">
            <a:solidFill>
              <a:srgbClr val="C9D3DF"/>
            </a:solidFill>
            <a:prstDash val="solid"/>
          </a:ln>
        </p:spPr>
      </p:sp>
      <p:sp>
        <p:nvSpPr>
          <p:cNvPr id="56" name="bang77_t3_3"/>
          <p:cNvSpPr txBox="1"/>
          <p:nvPr/>
        </p:nvSpPr>
        <p:spPr>
          <a:xfrm>
            <a:off x="5221224" y="28168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57" name="bang77_o3_4"/>
          <p:cNvSpPr/>
          <p:nvPr/>
        </p:nvSpPr>
        <p:spPr>
          <a:xfrm>
            <a:off x="7315200" y="2771140"/>
            <a:ext cx="960120" cy="512572"/>
          </a:xfrm>
          <a:prstGeom prst="rect">
            <a:avLst/>
          </a:prstGeom>
          <a:solidFill>
            <a:srgbClr val="FFFFFF"/>
          </a:solidFill>
          <a:ln w="9525">
            <a:solidFill>
              <a:srgbClr val="C9D3DF"/>
            </a:solidFill>
            <a:prstDash val="solid"/>
          </a:ln>
        </p:spPr>
      </p:sp>
      <p:sp>
        <p:nvSpPr>
          <p:cNvPr id="58" name="bang77_t3_4"/>
          <p:cNvSpPr txBox="1"/>
          <p:nvPr/>
        </p:nvSpPr>
        <p:spPr>
          <a:xfrm>
            <a:off x="737006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59" name="bang77_o3_5"/>
          <p:cNvSpPr/>
          <p:nvPr/>
        </p:nvSpPr>
        <p:spPr>
          <a:xfrm>
            <a:off x="8275320" y="2771140"/>
            <a:ext cx="960120" cy="512572"/>
          </a:xfrm>
          <a:prstGeom prst="rect">
            <a:avLst/>
          </a:prstGeom>
          <a:solidFill>
            <a:srgbClr val="FFFFFF"/>
          </a:solidFill>
          <a:ln w="9525">
            <a:solidFill>
              <a:srgbClr val="C9D3DF"/>
            </a:solidFill>
            <a:prstDash val="solid"/>
          </a:ln>
        </p:spPr>
      </p:sp>
      <p:sp>
        <p:nvSpPr>
          <p:cNvPr id="60" name="bang77_t3_5"/>
          <p:cNvSpPr txBox="1"/>
          <p:nvPr/>
        </p:nvSpPr>
        <p:spPr>
          <a:xfrm>
            <a:off x="833018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77_o3_6"/>
          <p:cNvSpPr/>
          <p:nvPr/>
        </p:nvSpPr>
        <p:spPr>
          <a:xfrm>
            <a:off x="9235440" y="2771140"/>
            <a:ext cx="1828800" cy="512572"/>
          </a:xfrm>
          <a:prstGeom prst="rect">
            <a:avLst/>
          </a:prstGeom>
          <a:solidFill>
            <a:srgbClr val="FFFFFF"/>
          </a:solidFill>
          <a:ln w="9525">
            <a:solidFill>
              <a:srgbClr val="C9D3DF"/>
            </a:solidFill>
            <a:prstDash val="solid"/>
          </a:ln>
        </p:spPr>
      </p:sp>
      <p:sp>
        <p:nvSpPr>
          <p:cNvPr id="62" name="bang77_o3_7"/>
          <p:cNvSpPr/>
          <p:nvPr/>
        </p:nvSpPr>
        <p:spPr>
          <a:xfrm>
            <a:off x="11064240" y="2771140"/>
            <a:ext cx="667512" cy="512572"/>
          </a:xfrm>
          <a:prstGeom prst="rect">
            <a:avLst/>
          </a:prstGeom>
          <a:solidFill>
            <a:srgbClr val="FFFFFF"/>
          </a:solidFill>
          <a:ln w="9525">
            <a:solidFill>
              <a:srgbClr val="C9D3DF"/>
            </a:solidFill>
            <a:prstDash val="solid"/>
          </a:ln>
        </p:spPr>
      </p:sp>
      <p:sp>
        <p:nvSpPr>
          <p:cNvPr id="63" name="bang77_t3_7"/>
          <p:cNvSpPr txBox="1"/>
          <p:nvPr/>
        </p:nvSpPr>
        <p:spPr>
          <a:xfrm>
            <a:off x="11119104" y="28168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QT15</a:t>
            </a:r>
            <a:endParaRPr lang="en-US" sz="1300" dirty="0"/>
          </a:p>
        </p:txBody>
      </p:sp>
      <p:sp>
        <p:nvSpPr>
          <p:cNvPr id="64" name="txt7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Email</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QuocTich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SDT_KHACH_HANG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THE_HOI_VIEN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DiemXetHang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NgayHetHanHang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LICH_SU_TICH_DIEM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LoaiGiaoDich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NoiDung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SoThe → THE_HOI_VIEN(SoThe)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 NULL</a:t>
            </a:r>
            <a:endParaRPr lang="en-US" sz="1600" dirty="0"/>
          </a:p>
        </p:txBody>
      </p:sp>
      <p:sp>
        <p:nvSpPr>
          <p:cNvPr id="4" name="txt8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D. Nhân sự và phi hành đoàn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8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8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nhân viên theo phòng ban và cấp quản lý. Nhân viên chia thành phi công, tiếp viên và nhân viên mặt đất. Phi công có giấy phép theo loại máy bay. Mỗi chuyến bay được phân công cơ trưởng, cơ phó và tổ tiếp viên.</a:t>
            </a:r>
            <a:endParaRPr lang="en-US" sz="1300" dirty="0"/>
          </a:p>
        </p:txBody>
      </p:sp>
      <p:sp>
        <p:nvSpPr>
          <p:cNvPr id="6" name="txt8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8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NHAN_VIEN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PHI_CONG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TIEP_VIEN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PHONG_BAN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GIAY_PHEP_BAY (thực thể yếu)</a:t>
            </a:r>
            <a:endParaRPr lang="en-US" sz="1200" dirty="0"/>
          </a:p>
        </p:txBody>
      </p:sp>
      <p:sp>
        <p:nvSpPr>
          <p:cNvPr id="8" name="bang85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85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85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85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85_o1_0"/>
          <p:cNvSpPr/>
          <p:nvPr/>
        </p:nvSpPr>
        <p:spPr>
          <a:xfrm>
            <a:off x="4251960" y="1776984"/>
            <a:ext cx="685800" cy="481584"/>
          </a:xfrm>
          <a:prstGeom prst="rect">
            <a:avLst/>
          </a:prstGeom>
          <a:solidFill>
            <a:srgbClr val="FFFFFF"/>
          </a:solidFill>
          <a:ln w="9525">
            <a:solidFill>
              <a:srgbClr val="C9D3DF"/>
            </a:solidFill>
            <a:prstDash val="solid"/>
          </a:ln>
        </p:spPr>
      </p:sp>
      <p:sp>
        <p:nvSpPr>
          <p:cNvPr id="13" name="bang85_t1_0"/>
          <p:cNvSpPr txBox="1"/>
          <p:nvPr/>
        </p:nvSpPr>
        <p:spPr>
          <a:xfrm>
            <a:off x="4306824" y="182270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QT16</a:t>
            </a:r>
            <a:endParaRPr lang="en-US" sz="1200" dirty="0"/>
          </a:p>
        </p:txBody>
      </p:sp>
      <p:sp>
        <p:nvSpPr>
          <p:cNvPr id="14" name="bang85_o1_1"/>
          <p:cNvSpPr/>
          <p:nvPr/>
        </p:nvSpPr>
        <p:spPr>
          <a:xfrm>
            <a:off x="4937760" y="1776984"/>
            <a:ext cx="6796735" cy="481584"/>
          </a:xfrm>
          <a:prstGeom prst="rect">
            <a:avLst/>
          </a:prstGeom>
          <a:solidFill>
            <a:srgbClr val="FFFFFF"/>
          </a:solidFill>
          <a:ln w="9525">
            <a:solidFill>
              <a:srgbClr val="C9D3DF"/>
            </a:solidFill>
            <a:prstDash val="solid"/>
          </a:ln>
        </p:spPr>
      </p:sp>
      <p:sp>
        <p:nvSpPr>
          <p:cNvPr id="15" name="bang85_t1_1"/>
          <p:cNvSpPr txBox="1"/>
          <p:nvPr/>
        </p:nvSpPr>
        <p:spPr>
          <a:xfrm>
            <a:off x="4992624" y="182270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mã và số CCCD không trùng nhau, có 1 hoặc 2 số điện thoại.</a:t>
            </a:r>
            <a:endParaRPr lang="en-US" sz="1200" dirty="0"/>
          </a:p>
        </p:txBody>
      </p:sp>
      <p:sp>
        <p:nvSpPr>
          <p:cNvPr id="16" name="bang85_o2_0"/>
          <p:cNvSpPr/>
          <p:nvPr/>
        </p:nvSpPr>
        <p:spPr>
          <a:xfrm>
            <a:off x="4251960" y="2258568"/>
            <a:ext cx="685800" cy="481584"/>
          </a:xfrm>
          <a:prstGeom prst="rect">
            <a:avLst/>
          </a:prstGeom>
          <a:solidFill>
            <a:srgbClr val="F7F0E1"/>
          </a:solidFill>
          <a:ln w="9525">
            <a:solidFill>
              <a:srgbClr val="C9D3DF"/>
            </a:solidFill>
            <a:prstDash val="solid"/>
          </a:ln>
        </p:spPr>
      </p:sp>
      <p:sp>
        <p:nvSpPr>
          <p:cNvPr id="17" name="bang85_t2_0"/>
          <p:cNvSpPr txBox="1"/>
          <p:nvPr/>
        </p:nvSpPr>
        <p:spPr>
          <a:xfrm>
            <a:off x="4306824" y="2304288"/>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QT17</a:t>
            </a:r>
            <a:endParaRPr lang="en-US" sz="1200" dirty="0"/>
          </a:p>
        </p:txBody>
      </p:sp>
      <p:sp>
        <p:nvSpPr>
          <p:cNvPr id="18" name="bang85_o2_1"/>
          <p:cNvSpPr/>
          <p:nvPr/>
        </p:nvSpPr>
        <p:spPr>
          <a:xfrm>
            <a:off x="4937760" y="2258568"/>
            <a:ext cx="6796735" cy="481584"/>
          </a:xfrm>
          <a:prstGeom prst="rect">
            <a:avLst/>
          </a:prstGeom>
          <a:solidFill>
            <a:srgbClr val="F7F0E1"/>
          </a:solidFill>
          <a:ln w="9525">
            <a:solidFill>
              <a:srgbClr val="C9D3DF"/>
            </a:solidFill>
            <a:prstDash val="solid"/>
          </a:ln>
        </p:spPr>
      </p:sp>
      <p:sp>
        <p:nvSpPr>
          <p:cNvPr id="19" name="bang85_t2_1"/>
          <p:cNvSpPr txBox="1"/>
          <p:nvPr/>
        </p:nvSpPr>
        <p:spPr>
          <a:xfrm>
            <a:off x="4992624" y="2304288"/>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thuộc đúng 1 phòng ban; mỗi phòng ban có ít nhất 1 nhân viên.</a:t>
            </a:r>
            <a:endParaRPr lang="en-US" sz="1200" dirty="0"/>
          </a:p>
        </p:txBody>
      </p:sp>
      <p:sp>
        <p:nvSpPr>
          <p:cNvPr id="20" name="bang85_o3_0"/>
          <p:cNvSpPr/>
          <p:nvPr/>
        </p:nvSpPr>
        <p:spPr>
          <a:xfrm>
            <a:off x="4251960" y="2740152"/>
            <a:ext cx="685800" cy="481584"/>
          </a:xfrm>
          <a:prstGeom prst="rect">
            <a:avLst/>
          </a:prstGeom>
          <a:solidFill>
            <a:srgbClr val="FFFFFF"/>
          </a:solidFill>
          <a:ln w="9525">
            <a:solidFill>
              <a:srgbClr val="C9D3DF"/>
            </a:solidFill>
            <a:prstDash val="solid"/>
          </a:ln>
        </p:spPr>
      </p:sp>
      <p:sp>
        <p:nvSpPr>
          <p:cNvPr id="21" name="bang85_t3_0"/>
          <p:cNvSpPr txBox="1"/>
          <p:nvPr/>
        </p:nvSpPr>
        <p:spPr>
          <a:xfrm>
            <a:off x="4306824" y="2785872"/>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QT18</a:t>
            </a:r>
            <a:endParaRPr lang="en-US" sz="1200" dirty="0"/>
          </a:p>
        </p:txBody>
      </p:sp>
      <p:sp>
        <p:nvSpPr>
          <p:cNvPr id="22" name="bang85_o3_1"/>
          <p:cNvSpPr/>
          <p:nvPr/>
        </p:nvSpPr>
        <p:spPr>
          <a:xfrm>
            <a:off x="4937760" y="2740152"/>
            <a:ext cx="6796735" cy="481584"/>
          </a:xfrm>
          <a:prstGeom prst="rect">
            <a:avLst/>
          </a:prstGeom>
          <a:solidFill>
            <a:srgbClr val="FFFFFF"/>
          </a:solidFill>
          <a:ln w="9525">
            <a:solidFill>
              <a:srgbClr val="C9D3DF"/>
            </a:solidFill>
            <a:prstDash val="solid"/>
          </a:ln>
        </p:spPr>
      </p:sp>
      <p:sp>
        <p:nvSpPr>
          <p:cNvPr id="23" name="bang85_t3_1"/>
          <p:cNvSpPr txBox="1"/>
          <p:nvPr/>
        </p:nvSpPr>
        <p:spPr>
          <a:xfrm>
            <a:off x="4992624" y="2785872"/>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phòng ban có đúng 1 trưởng phòng là một nhân viên; mỗi nhân viên làm trưởng tối đa 1 phòng ban.</a:t>
            </a:r>
            <a:endParaRPr lang="en-US" sz="1200" dirty="0"/>
          </a:p>
        </p:txBody>
      </p:sp>
      <p:sp>
        <p:nvSpPr>
          <p:cNvPr id="24" name="bang85_o4_0"/>
          <p:cNvSpPr/>
          <p:nvPr/>
        </p:nvSpPr>
        <p:spPr>
          <a:xfrm>
            <a:off x="4251960" y="3221736"/>
            <a:ext cx="685800" cy="481584"/>
          </a:xfrm>
          <a:prstGeom prst="rect">
            <a:avLst/>
          </a:prstGeom>
          <a:solidFill>
            <a:srgbClr val="F7F0E1"/>
          </a:solidFill>
          <a:ln w="9525">
            <a:solidFill>
              <a:srgbClr val="C9D3DF"/>
            </a:solidFill>
            <a:prstDash val="solid"/>
          </a:ln>
        </p:spPr>
      </p:sp>
      <p:sp>
        <p:nvSpPr>
          <p:cNvPr id="25" name="bang85_t4_0"/>
          <p:cNvSpPr txBox="1"/>
          <p:nvPr/>
        </p:nvSpPr>
        <p:spPr>
          <a:xfrm>
            <a:off x="4306824" y="3267456"/>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QT19</a:t>
            </a:r>
            <a:endParaRPr lang="en-US" sz="1200" dirty="0"/>
          </a:p>
        </p:txBody>
      </p:sp>
      <p:sp>
        <p:nvSpPr>
          <p:cNvPr id="26" name="bang85_o4_1"/>
          <p:cNvSpPr/>
          <p:nvPr/>
        </p:nvSpPr>
        <p:spPr>
          <a:xfrm>
            <a:off x="4937760" y="3221736"/>
            <a:ext cx="6796735" cy="481584"/>
          </a:xfrm>
          <a:prstGeom prst="rect">
            <a:avLst/>
          </a:prstGeom>
          <a:solidFill>
            <a:srgbClr val="F7F0E1"/>
          </a:solidFill>
          <a:ln w="9525">
            <a:solidFill>
              <a:srgbClr val="C9D3DF"/>
            </a:solidFill>
            <a:prstDash val="solid"/>
          </a:ln>
        </p:spPr>
      </p:sp>
      <p:sp>
        <p:nvSpPr>
          <p:cNvPr id="27" name="bang85_t4_1"/>
          <p:cNvSpPr txBox="1"/>
          <p:nvPr/>
        </p:nvSpPr>
        <p:spPr>
          <a:xfrm>
            <a:off x="4992624" y="3267456"/>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0 hoặc 1 người quản lý trực tiếp; mỗi người quản lý phụ trách 0 hoặc nhiều nhân viên cấp dưới.</a:t>
            </a:r>
            <a:endParaRPr lang="en-US" sz="1200" dirty="0"/>
          </a:p>
        </p:txBody>
      </p:sp>
      <p:sp>
        <p:nvSpPr>
          <p:cNvPr id="28" name="bang85_o5_0"/>
          <p:cNvSpPr/>
          <p:nvPr/>
        </p:nvSpPr>
        <p:spPr>
          <a:xfrm>
            <a:off x="4251960" y="3703320"/>
            <a:ext cx="685800" cy="481584"/>
          </a:xfrm>
          <a:prstGeom prst="rect">
            <a:avLst/>
          </a:prstGeom>
          <a:solidFill>
            <a:srgbClr val="FFFFFF"/>
          </a:solidFill>
          <a:ln w="9525">
            <a:solidFill>
              <a:srgbClr val="C9D3DF"/>
            </a:solidFill>
            <a:prstDash val="solid"/>
          </a:ln>
        </p:spPr>
      </p:sp>
      <p:sp>
        <p:nvSpPr>
          <p:cNvPr id="29" name="bang85_t5_0"/>
          <p:cNvSpPr txBox="1"/>
          <p:nvPr/>
        </p:nvSpPr>
        <p:spPr>
          <a:xfrm>
            <a:off x="4306824" y="3749040"/>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QT20</a:t>
            </a:r>
            <a:endParaRPr lang="en-US" sz="1200" dirty="0"/>
          </a:p>
        </p:txBody>
      </p:sp>
      <p:sp>
        <p:nvSpPr>
          <p:cNvPr id="30" name="bang85_o5_1"/>
          <p:cNvSpPr/>
          <p:nvPr/>
        </p:nvSpPr>
        <p:spPr>
          <a:xfrm>
            <a:off x="4937760" y="3703320"/>
            <a:ext cx="6796735" cy="481584"/>
          </a:xfrm>
          <a:prstGeom prst="rect">
            <a:avLst/>
          </a:prstGeom>
          <a:solidFill>
            <a:srgbClr val="FFFFFF"/>
          </a:solidFill>
          <a:ln w="9525">
            <a:solidFill>
              <a:srgbClr val="C9D3DF"/>
            </a:solidFill>
            <a:prstDash val="solid"/>
          </a:ln>
        </p:spPr>
      </p:sp>
      <p:sp>
        <p:nvSpPr>
          <p:cNvPr id="31" name="bang85_t5_1"/>
          <p:cNvSpPr txBox="1"/>
          <p:nvPr/>
        </p:nvSpPr>
        <p:spPr>
          <a:xfrm>
            <a:off x="4992624" y="3749040"/>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Nhân viên có thể là phi công hoặc tiếp viên, không thể là cả hai; nhân viên mặt đất không thuộc loại nào.</a:t>
            </a:r>
            <a:endParaRPr lang="en-US" sz="1200" dirty="0"/>
          </a:p>
        </p:txBody>
      </p:sp>
      <p:sp>
        <p:nvSpPr>
          <p:cNvPr id="32" name="bang85_o6_0"/>
          <p:cNvSpPr/>
          <p:nvPr/>
        </p:nvSpPr>
        <p:spPr>
          <a:xfrm>
            <a:off x="4251960" y="4184904"/>
            <a:ext cx="685800" cy="481584"/>
          </a:xfrm>
          <a:prstGeom prst="rect">
            <a:avLst/>
          </a:prstGeom>
          <a:solidFill>
            <a:srgbClr val="F7F0E1"/>
          </a:solidFill>
          <a:ln w="9525">
            <a:solidFill>
              <a:srgbClr val="C9D3DF"/>
            </a:solidFill>
            <a:prstDash val="solid"/>
          </a:ln>
        </p:spPr>
      </p:sp>
      <p:sp>
        <p:nvSpPr>
          <p:cNvPr id="33" name="bang85_t6_0"/>
          <p:cNvSpPr txBox="1"/>
          <p:nvPr/>
        </p:nvSpPr>
        <p:spPr>
          <a:xfrm>
            <a:off x="4306824" y="423062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QT21</a:t>
            </a:r>
            <a:endParaRPr lang="en-US" sz="1200" dirty="0"/>
          </a:p>
        </p:txBody>
      </p:sp>
      <p:sp>
        <p:nvSpPr>
          <p:cNvPr id="34" name="bang85_o6_1"/>
          <p:cNvSpPr/>
          <p:nvPr/>
        </p:nvSpPr>
        <p:spPr>
          <a:xfrm>
            <a:off x="4937760" y="4184904"/>
            <a:ext cx="6796735" cy="481584"/>
          </a:xfrm>
          <a:prstGeom prst="rect">
            <a:avLst/>
          </a:prstGeom>
          <a:solidFill>
            <a:srgbClr val="F7F0E1"/>
          </a:solidFill>
          <a:ln w="9525">
            <a:solidFill>
              <a:srgbClr val="C9D3DF"/>
            </a:solidFill>
            <a:prstDash val="solid"/>
          </a:ln>
        </p:spPr>
      </p:sp>
      <p:sp>
        <p:nvSpPr>
          <p:cNvPr id="35" name="bang85_t6_1"/>
          <p:cNvSpPr txBox="1"/>
          <p:nvPr/>
        </p:nvSpPr>
        <p:spPr>
          <a:xfrm>
            <a:off x="4992624" y="423062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phi công có ít nhất 1 giấy phép bay theo loại máy bay; mỗi giấy phép thuộc đúng 1 phi công và được đánh số trong phi công đó.</a:t>
            </a:r>
            <a:endParaRPr lang="en-US" sz="1200" dirty="0"/>
          </a:p>
        </p:txBody>
      </p:sp>
      <p:sp>
        <p:nvSpPr>
          <p:cNvPr id="36" name="bang85_o7_0"/>
          <p:cNvSpPr/>
          <p:nvPr/>
        </p:nvSpPr>
        <p:spPr>
          <a:xfrm>
            <a:off x="4251960" y="4666488"/>
            <a:ext cx="685800" cy="667512"/>
          </a:xfrm>
          <a:prstGeom prst="rect">
            <a:avLst/>
          </a:prstGeom>
          <a:solidFill>
            <a:srgbClr val="FFFFFF"/>
          </a:solidFill>
          <a:ln w="9525">
            <a:solidFill>
              <a:srgbClr val="C9D3DF"/>
            </a:solidFill>
            <a:prstDash val="solid"/>
          </a:ln>
        </p:spPr>
      </p:sp>
      <p:sp>
        <p:nvSpPr>
          <p:cNvPr id="37" name="bang85_t7_0"/>
          <p:cNvSpPr txBox="1"/>
          <p:nvPr/>
        </p:nvSpPr>
        <p:spPr>
          <a:xfrm>
            <a:off x="4306824" y="4712208"/>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QT22</a:t>
            </a:r>
            <a:endParaRPr lang="en-US" sz="1200" dirty="0"/>
          </a:p>
        </p:txBody>
      </p:sp>
      <p:sp>
        <p:nvSpPr>
          <p:cNvPr id="38" name="bang85_o7_1"/>
          <p:cNvSpPr/>
          <p:nvPr/>
        </p:nvSpPr>
        <p:spPr>
          <a:xfrm>
            <a:off x="4937760" y="4666488"/>
            <a:ext cx="6796735" cy="667512"/>
          </a:xfrm>
          <a:prstGeom prst="rect">
            <a:avLst/>
          </a:prstGeom>
          <a:solidFill>
            <a:srgbClr val="FFFFFF"/>
          </a:solidFill>
          <a:ln w="9525">
            <a:solidFill>
              <a:srgbClr val="C9D3DF"/>
            </a:solidFill>
            <a:prstDash val="solid"/>
          </a:ln>
        </p:spPr>
      </p:sp>
      <p:sp>
        <p:nvSpPr>
          <p:cNvPr id="39" name="bang85_t7_1"/>
          <p:cNvSpPr txBox="1"/>
          <p:nvPr/>
        </p:nvSpPr>
        <p:spPr>
          <a:xfrm>
            <a:off x="4992624" y="4712208"/>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từ 2 đến 4 phi công, trong đó đúng 1 cơ trưởng; mỗi phi công lái 0 hoặc nhiều chuyến. Mỗi lần phân công ghi vai trò (cơ trưởng, cơ phó) và giờ bay thực tế.</a:t>
            </a:r>
            <a:endParaRPr lang="en-US" sz="1200" dirty="0"/>
          </a:p>
        </p:txBody>
      </p:sp>
      <p:sp>
        <p:nvSpPr>
          <p:cNvPr id="40" name="bang85_o8_0"/>
          <p:cNvSpPr/>
          <p:nvPr/>
        </p:nvSpPr>
        <p:spPr>
          <a:xfrm>
            <a:off x="4251960" y="5334000"/>
            <a:ext cx="685800" cy="667512"/>
          </a:xfrm>
          <a:prstGeom prst="rect">
            <a:avLst/>
          </a:prstGeom>
          <a:solidFill>
            <a:srgbClr val="F7F0E1"/>
          </a:solidFill>
          <a:ln w="9525">
            <a:solidFill>
              <a:srgbClr val="C9D3DF"/>
            </a:solidFill>
            <a:prstDash val="solid"/>
          </a:ln>
        </p:spPr>
      </p:sp>
      <p:sp>
        <p:nvSpPr>
          <p:cNvPr id="41" name="bang85_t8_0"/>
          <p:cNvSpPr txBox="1"/>
          <p:nvPr/>
        </p:nvSpPr>
        <p:spPr>
          <a:xfrm>
            <a:off x="4306824" y="5379720"/>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QT23</a:t>
            </a:r>
            <a:endParaRPr lang="en-US" sz="1200" dirty="0"/>
          </a:p>
        </p:txBody>
      </p:sp>
      <p:sp>
        <p:nvSpPr>
          <p:cNvPr id="42" name="bang85_o8_1"/>
          <p:cNvSpPr/>
          <p:nvPr/>
        </p:nvSpPr>
        <p:spPr>
          <a:xfrm>
            <a:off x="4937760" y="5334000"/>
            <a:ext cx="6796735" cy="667512"/>
          </a:xfrm>
          <a:prstGeom prst="rect">
            <a:avLst/>
          </a:prstGeom>
          <a:solidFill>
            <a:srgbClr val="F7F0E1"/>
          </a:solidFill>
          <a:ln w="9525">
            <a:solidFill>
              <a:srgbClr val="C9D3DF"/>
            </a:solidFill>
            <a:prstDash val="solid"/>
          </a:ln>
        </p:spPr>
      </p:sp>
      <p:sp>
        <p:nvSpPr>
          <p:cNvPr id="43" name="bang85_t8_1"/>
          <p:cNvSpPr txBox="1"/>
          <p:nvPr/>
        </p:nvSpPr>
        <p:spPr>
          <a:xfrm>
            <a:off x="4992624" y="5379720"/>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ít nhất 2 tiếp viên, trong đó đúng 1 tiếp viên trưởng; mỗi tiếp viên phục vụ 0 hoặc nhiều chuyến. Mỗi lần phân công ghi vai trò và khoang phục vụ.</a:t>
            </a:r>
            <a:endParaRPr lang="en-US" sz="12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D</a:t>
            </a:r>
            <a:endParaRPr lang="en-US" sz="2600" dirty="0"/>
          </a:p>
        </p:txBody>
      </p:sp>
      <p:pic>
        <p:nvPicPr>
          <p:cNvPr id="3" name="erd_D" descr="erd_D">    </p:cNvPr>
          <p:cNvPicPr>
            <a:picLocks noChangeAspect="1"/>
          </p:cNvPicPr>
          <p:nvPr/>
        </p:nvPicPr>
        <p:blipFill>
          <a:blip r:embed="rId1"/>
          <a:stretch>
            <a:fillRect/>
          </a:stretch>
        </p:blipFill>
        <p:spPr>
          <a:xfrm>
            <a:off x="1794170" y="1389888"/>
            <a:ext cx="8603356" cy="4919472"/>
          </a:xfrm>
          <a:prstGeom prst="rect">
            <a:avLst/>
          </a:prstGeom>
        </p:spPr>
      </p:pic>
      <p:sp>
        <p:nvSpPr>
          <p:cNvPr id="4" name="txt86"/>
          <p:cNvSpPr txBox="1"/>
          <p:nvPr/>
        </p:nvSpPr>
        <p:spPr>
          <a:xfrm>
            <a:off x="457200" y="1389888"/>
            <a:ext cx="4114800" cy="274320"/>
          </a:xfrm>
          <a:prstGeom prst="rect">
            <a:avLst/>
          </a:prstGeom>
          <a:noFill/>
          <a:ln/>
        </p:spPr>
        <p:txBody>
          <a:bodyPr wrap="square" lIns="0" tIns="0" rIns="0" bIns="0" rtlCol="0" anchor="ctr"/>
          <a:lstStyle/>
          <a:p>
            <a:pPr indent="0" marL="0">
              <a:buNone/>
            </a:pPr>
            <a:r>
              <a:rPr lang="en-US" sz="1100" b="1" dirty="0">
                <a:solidFill>
                  <a:srgbClr val="8A6A2F"/>
                </a:solidFill>
                <a:latin typeface="Arial" pitchFamily="34" charset="0"/>
                <a:ea typeface="Arial" pitchFamily="34" charset="-122"/>
                <a:cs typeface="Arial" pitchFamily="34" charset="-120"/>
              </a:rPr>
              <a:t>NHAN_VIEN → PHI_CONG, TIEP_VIEN {Optional, Or}</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8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8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8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8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8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8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8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8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8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8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8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8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8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8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8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8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87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87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LK13</a:t>
            </a:r>
            <a:endParaRPr lang="en-US" sz="1300" dirty="0"/>
          </a:p>
        </p:txBody>
      </p:sp>
      <p:sp>
        <p:nvSpPr>
          <p:cNvPr id="21" name="bang87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87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a:t>
            </a:r>
            <a:endParaRPr lang="en-US" sz="1300" dirty="0"/>
          </a:p>
        </p:txBody>
      </p:sp>
      <p:sp>
        <p:nvSpPr>
          <p:cNvPr id="23" name="bang87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87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25" name="bang87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87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27" name="bang87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87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29" name="bang87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87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31" name="bang87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87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87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QT17</a:t>
            </a:r>
            <a:endParaRPr lang="en-US" sz="1300" dirty="0"/>
          </a:p>
        </p:txBody>
      </p:sp>
      <p:sp>
        <p:nvSpPr>
          <p:cNvPr id="34" name="bang87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87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LK14</a:t>
            </a:r>
            <a:endParaRPr lang="en-US" sz="1300" dirty="0"/>
          </a:p>
        </p:txBody>
      </p:sp>
      <p:sp>
        <p:nvSpPr>
          <p:cNvPr id="36" name="bang87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87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Trưởng phòng</a:t>
            </a:r>
            <a:endParaRPr lang="en-US" sz="1300" dirty="0"/>
          </a:p>
        </p:txBody>
      </p:sp>
      <p:sp>
        <p:nvSpPr>
          <p:cNvPr id="38" name="bang87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87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40" name="bang87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87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42" name="bang87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87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44" name="bang87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87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87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87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87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QT18</a:t>
            </a:r>
            <a:endParaRPr lang="en-US" sz="1300" dirty="0"/>
          </a:p>
        </p:txBody>
      </p:sp>
      <p:sp>
        <p:nvSpPr>
          <p:cNvPr id="49" name="bang87_o3_0"/>
          <p:cNvSpPr/>
          <p:nvPr/>
        </p:nvSpPr>
        <p:spPr>
          <a:xfrm>
            <a:off x="457200" y="2771140"/>
            <a:ext cx="914400" cy="713994"/>
          </a:xfrm>
          <a:prstGeom prst="rect">
            <a:avLst/>
          </a:prstGeom>
          <a:solidFill>
            <a:srgbClr val="FFFFFF"/>
          </a:solidFill>
          <a:ln w="9525">
            <a:solidFill>
              <a:srgbClr val="C9D3DF"/>
            </a:solidFill>
            <a:prstDash val="solid"/>
          </a:ln>
        </p:spPr>
      </p:sp>
      <p:sp>
        <p:nvSpPr>
          <p:cNvPr id="50" name="bang87_t3_0"/>
          <p:cNvSpPr txBox="1"/>
          <p:nvPr/>
        </p:nvSpPr>
        <p:spPr>
          <a:xfrm>
            <a:off x="512064" y="28168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LK15</a:t>
            </a:r>
            <a:endParaRPr lang="en-US" sz="1300" dirty="0"/>
          </a:p>
        </p:txBody>
      </p:sp>
      <p:sp>
        <p:nvSpPr>
          <p:cNvPr id="51" name="bang87_o3_1"/>
          <p:cNvSpPr/>
          <p:nvPr/>
        </p:nvSpPr>
        <p:spPr>
          <a:xfrm>
            <a:off x="1371600" y="2771140"/>
            <a:ext cx="1828800" cy="713994"/>
          </a:xfrm>
          <a:prstGeom prst="rect">
            <a:avLst/>
          </a:prstGeom>
          <a:solidFill>
            <a:srgbClr val="FFFFFF"/>
          </a:solidFill>
          <a:ln w="9525">
            <a:solidFill>
              <a:srgbClr val="C9D3DF"/>
            </a:solidFill>
            <a:prstDash val="solid"/>
          </a:ln>
        </p:spPr>
      </p:sp>
      <p:sp>
        <p:nvSpPr>
          <p:cNvPr id="52" name="bang87_t3_1"/>
          <p:cNvSpPr txBox="1"/>
          <p:nvPr/>
        </p:nvSpPr>
        <p:spPr>
          <a:xfrm>
            <a:off x="1426464" y="28168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(người quản lý / cấp dưới)</a:t>
            </a:r>
            <a:endParaRPr lang="en-US" sz="1300" dirty="0"/>
          </a:p>
        </p:txBody>
      </p:sp>
      <p:sp>
        <p:nvSpPr>
          <p:cNvPr id="53" name="bang87_o3_2"/>
          <p:cNvSpPr/>
          <p:nvPr/>
        </p:nvSpPr>
        <p:spPr>
          <a:xfrm>
            <a:off x="3200400" y="2771140"/>
            <a:ext cx="1965960" cy="713994"/>
          </a:xfrm>
          <a:prstGeom prst="rect">
            <a:avLst/>
          </a:prstGeom>
          <a:solidFill>
            <a:srgbClr val="FFFFFF"/>
          </a:solidFill>
          <a:ln w="9525">
            <a:solidFill>
              <a:srgbClr val="C9D3DF"/>
            </a:solidFill>
            <a:prstDash val="solid"/>
          </a:ln>
        </p:spPr>
      </p:sp>
      <p:sp>
        <p:nvSpPr>
          <p:cNvPr id="54" name="bang87_t3_2"/>
          <p:cNvSpPr txBox="1"/>
          <p:nvPr/>
        </p:nvSpPr>
        <p:spPr>
          <a:xfrm>
            <a:off x="3255264" y="28168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5" name="bang87_o3_3"/>
          <p:cNvSpPr/>
          <p:nvPr/>
        </p:nvSpPr>
        <p:spPr>
          <a:xfrm>
            <a:off x="5166360" y="2771140"/>
            <a:ext cx="2148840" cy="713994"/>
          </a:xfrm>
          <a:prstGeom prst="rect">
            <a:avLst/>
          </a:prstGeom>
          <a:solidFill>
            <a:srgbClr val="FFFFFF"/>
          </a:solidFill>
          <a:ln w="9525">
            <a:solidFill>
              <a:srgbClr val="C9D3DF"/>
            </a:solidFill>
            <a:prstDash val="solid"/>
          </a:ln>
        </p:spPr>
      </p:sp>
      <p:sp>
        <p:nvSpPr>
          <p:cNvPr id="56" name="bang87_t3_3"/>
          <p:cNvSpPr txBox="1"/>
          <p:nvPr/>
        </p:nvSpPr>
        <p:spPr>
          <a:xfrm>
            <a:off x="5221224" y="28168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7" name="bang87_o3_4"/>
          <p:cNvSpPr/>
          <p:nvPr/>
        </p:nvSpPr>
        <p:spPr>
          <a:xfrm>
            <a:off x="7315200" y="2771140"/>
            <a:ext cx="960120" cy="713994"/>
          </a:xfrm>
          <a:prstGeom prst="rect">
            <a:avLst/>
          </a:prstGeom>
          <a:solidFill>
            <a:srgbClr val="FFFFFF"/>
          </a:solidFill>
          <a:ln w="9525">
            <a:solidFill>
              <a:srgbClr val="C9D3DF"/>
            </a:solidFill>
            <a:prstDash val="solid"/>
          </a:ln>
        </p:spPr>
      </p:sp>
      <p:sp>
        <p:nvSpPr>
          <p:cNvPr id="58" name="bang87_t3_4"/>
          <p:cNvSpPr txBox="1"/>
          <p:nvPr/>
        </p:nvSpPr>
        <p:spPr>
          <a:xfrm>
            <a:off x="737006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87_o3_5"/>
          <p:cNvSpPr/>
          <p:nvPr/>
        </p:nvSpPr>
        <p:spPr>
          <a:xfrm>
            <a:off x="8275320" y="2771140"/>
            <a:ext cx="960120" cy="713994"/>
          </a:xfrm>
          <a:prstGeom prst="rect">
            <a:avLst/>
          </a:prstGeom>
          <a:solidFill>
            <a:srgbClr val="FFFFFF"/>
          </a:solidFill>
          <a:ln w="9525">
            <a:solidFill>
              <a:srgbClr val="C9D3DF"/>
            </a:solidFill>
            <a:prstDash val="solid"/>
          </a:ln>
        </p:spPr>
      </p:sp>
      <p:sp>
        <p:nvSpPr>
          <p:cNvPr id="60" name="bang87_t3_5"/>
          <p:cNvSpPr txBox="1"/>
          <p:nvPr/>
        </p:nvSpPr>
        <p:spPr>
          <a:xfrm>
            <a:off x="833018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87_o3_6"/>
          <p:cNvSpPr/>
          <p:nvPr/>
        </p:nvSpPr>
        <p:spPr>
          <a:xfrm>
            <a:off x="9235440" y="2771140"/>
            <a:ext cx="1828800" cy="713994"/>
          </a:xfrm>
          <a:prstGeom prst="rect">
            <a:avLst/>
          </a:prstGeom>
          <a:solidFill>
            <a:srgbClr val="FFFFFF"/>
          </a:solidFill>
          <a:ln w="9525">
            <a:solidFill>
              <a:srgbClr val="C9D3DF"/>
            </a:solidFill>
            <a:prstDash val="solid"/>
          </a:ln>
        </p:spPr>
      </p:sp>
      <p:sp>
        <p:nvSpPr>
          <p:cNvPr id="62" name="bang87_o3_7"/>
          <p:cNvSpPr/>
          <p:nvPr/>
        </p:nvSpPr>
        <p:spPr>
          <a:xfrm>
            <a:off x="11064240" y="2771140"/>
            <a:ext cx="667512" cy="713994"/>
          </a:xfrm>
          <a:prstGeom prst="rect">
            <a:avLst/>
          </a:prstGeom>
          <a:solidFill>
            <a:srgbClr val="FFFFFF"/>
          </a:solidFill>
          <a:ln w="9525">
            <a:solidFill>
              <a:srgbClr val="C9D3DF"/>
            </a:solidFill>
            <a:prstDash val="solid"/>
          </a:ln>
        </p:spPr>
      </p:sp>
      <p:sp>
        <p:nvSpPr>
          <p:cNvPr id="63" name="bang87_t3_7"/>
          <p:cNvSpPr txBox="1"/>
          <p:nvPr/>
        </p:nvSpPr>
        <p:spPr>
          <a:xfrm>
            <a:off x="11119104" y="28168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QT19</a:t>
            </a:r>
            <a:endParaRPr lang="en-US" sz="1300" dirty="0"/>
          </a:p>
        </p:txBody>
      </p:sp>
      <p:sp>
        <p:nvSpPr>
          <p:cNvPr id="64" name="bang87_o4_0"/>
          <p:cNvSpPr/>
          <p:nvPr/>
        </p:nvSpPr>
        <p:spPr>
          <a:xfrm>
            <a:off x="457200" y="3485134"/>
            <a:ext cx="914400" cy="311150"/>
          </a:xfrm>
          <a:prstGeom prst="rect">
            <a:avLst/>
          </a:prstGeom>
          <a:solidFill>
            <a:srgbClr val="F7F0E1"/>
          </a:solidFill>
          <a:ln w="9525">
            <a:solidFill>
              <a:srgbClr val="C9D3DF"/>
            </a:solidFill>
            <a:prstDash val="solid"/>
          </a:ln>
        </p:spPr>
      </p:sp>
      <p:sp>
        <p:nvSpPr>
          <p:cNvPr id="65" name="bang87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LK16</a:t>
            </a:r>
            <a:endParaRPr lang="en-US" sz="1300" dirty="0"/>
          </a:p>
        </p:txBody>
      </p:sp>
      <p:sp>
        <p:nvSpPr>
          <p:cNvPr id="66" name="bang87_o4_1"/>
          <p:cNvSpPr/>
          <p:nvPr/>
        </p:nvSpPr>
        <p:spPr>
          <a:xfrm>
            <a:off x="1371600" y="3485134"/>
            <a:ext cx="1828800" cy="311150"/>
          </a:xfrm>
          <a:prstGeom prst="rect">
            <a:avLst/>
          </a:prstGeom>
          <a:solidFill>
            <a:srgbClr val="F7F0E1"/>
          </a:solidFill>
          <a:ln w="9525">
            <a:solidFill>
              <a:srgbClr val="C9D3DF"/>
            </a:solidFill>
            <a:prstDash val="solid"/>
          </a:ln>
        </p:spPr>
      </p:sp>
      <p:sp>
        <p:nvSpPr>
          <p:cNvPr id="67" name="bang87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Được cấp</a:t>
            </a:r>
            <a:endParaRPr lang="en-US" sz="1300" dirty="0"/>
          </a:p>
        </p:txBody>
      </p:sp>
      <p:sp>
        <p:nvSpPr>
          <p:cNvPr id="68" name="bang87_o4_2"/>
          <p:cNvSpPr/>
          <p:nvPr/>
        </p:nvSpPr>
        <p:spPr>
          <a:xfrm>
            <a:off x="3200400" y="3485134"/>
            <a:ext cx="1965960" cy="311150"/>
          </a:xfrm>
          <a:prstGeom prst="rect">
            <a:avLst/>
          </a:prstGeom>
          <a:solidFill>
            <a:srgbClr val="F7F0E1"/>
          </a:solidFill>
          <a:ln w="9525">
            <a:solidFill>
              <a:srgbClr val="C9D3DF"/>
            </a:solidFill>
            <a:prstDash val="solid"/>
          </a:ln>
        </p:spPr>
      </p:sp>
      <p:sp>
        <p:nvSpPr>
          <p:cNvPr id="69" name="bang87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70" name="bang87_o4_3"/>
          <p:cNvSpPr/>
          <p:nvPr/>
        </p:nvSpPr>
        <p:spPr>
          <a:xfrm>
            <a:off x="5166360" y="3485134"/>
            <a:ext cx="2148840" cy="311150"/>
          </a:xfrm>
          <a:prstGeom prst="rect">
            <a:avLst/>
          </a:prstGeom>
          <a:solidFill>
            <a:srgbClr val="F7F0E1"/>
          </a:solidFill>
          <a:ln w="9525">
            <a:solidFill>
              <a:srgbClr val="C9D3DF"/>
            </a:solidFill>
            <a:prstDash val="solid"/>
          </a:ln>
        </p:spPr>
      </p:sp>
      <p:sp>
        <p:nvSpPr>
          <p:cNvPr id="71" name="bang87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GIAY_PHEP_BAY</a:t>
            </a:r>
            <a:endParaRPr lang="en-US" sz="1300" dirty="0"/>
          </a:p>
        </p:txBody>
      </p:sp>
      <p:sp>
        <p:nvSpPr>
          <p:cNvPr id="72" name="bang87_o4_4"/>
          <p:cNvSpPr/>
          <p:nvPr/>
        </p:nvSpPr>
        <p:spPr>
          <a:xfrm>
            <a:off x="7315200" y="3485134"/>
            <a:ext cx="960120" cy="311150"/>
          </a:xfrm>
          <a:prstGeom prst="rect">
            <a:avLst/>
          </a:prstGeom>
          <a:solidFill>
            <a:srgbClr val="F7F0E1"/>
          </a:solidFill>
          <a:ln w="9525">
            <a:solidFill>
              <a:srgbClr val="C9D3DF"/>
            </a:solidFill>
            <a:prstDash val="solid"/>
          </a:ln>
        </p:spPr>
      </p:sp>
      <p:sp>
        <p:nvSpPr>
          <p:cNvPr id="73" name="bang87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87_o4_5"/>
          <p:cNvSpPr/>
          <p:nvPr/>
        </p:nvSpPr>
        <p:spPr>
          <a:xfrm>
            <a:off x="8275320" y="3485134"/>
            <a:ext cx="960120" cy="311150"/>
          </a:xfrm>
          <a:prstGeom prst="rect">
            <a:avLst/>
          </a:prstGeom>
          <a:solidFill>
            <a:srgbClr val="F7F0E1"/>
          </a:solidFill>
          <a:ln w="9525">
            <a:solidFill>
              <a:srgbClr val="C9D3DF"/>
            </a:solidFill>
            <a:prstDash val="solid"/>
          </a:ln>
        </p:spPr>
      </p:sp>
      <p:sp>
        <p:nvSpPr>
          <p:cNvPr id="75" name="bang87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87_o4_6"/>
          <p:cNvSpPr/>
          <p:nvPr/>
        </p:nvSpPr>
        <p:spPr>
          <a:xfrm>
            <a:off x="9235440" y="3485134"/>
            <a:ext cx="1828800" cy="311150"/>
          </a:xfrm>
          <a:prstGeom prst="rect">
            <a:avLst/>
          </a:prstGeom>
          <a:solidFill>
            <a:srgbClr val="F7F0E1"/>
          </a:solidFill>
          <a:ln w="9525">
            <a:solidFill>
              <a:srgbClr val="C9D3DF"/>
            </a:solidFill>
            <a:prstDash val="solid"/>
          </a:ln>
        </p:spPr>
      </p:sp>
      <p:sp>
        <p:nvSpPr>
          <p:cNvPr id="77" name="bang87_o4_7"/>
          <p:cNvSpPr/>
          <p:nvPr/>
        </p:nvSpPr>
        <p:spPr>
          <a:xfrm>
            <a:off x="11064240" y="3485134"/>
            <a:ext cx="667512" cy="311150"/>
          </a:xfrm>
          <a:prstGeom prst="rect">
            <a:avLst/>
          </a:prstGeom>
          <a:solidFill>
            <a:srgbClr val="F7F0E1"/>
          </a:solidFill>
          <a:ln w="9525">
            <a:solidFill>
              <a:srgbClr val="C9D3DF"/>
            </a:solidFill>
            <a:prstDash val="solid"/>
          </a:ln>
        </p:spPr>
      </p:sp>
      <p:sp>
        <p:nvSpPr>
          <p:cNvPr id="78" name="bang87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QT21</a:t>
            </a:r>
            <a:endParaRPr lang="en-US" sz="1300" dirty="0"/>
          </a:p>
        </p:txBody>
      </p:sp>
      <p:sp>
        <p:nvSpPr>
          <p:cNvPr id="79" name="bang87_o5_0"/>
          <p:cNvSpPr/>
          <p:nvPr/>
        </p:nvSpPr>
        <p:spPr>
          <a:xfrm>
            <a:off x="457200" y="3796284"/>
            <a:ext cx="914400" cy="713994"/>
          </a:xfrm>
          <a:prstGeom prst="rect">
            <a:avLst/>
          </a:prstGeom>
          <a:solidFill>
            <a:srgbClr val="FFFFFF"/>
          </a:solidFill>
          <a:ln w="9525">
            <a:solidFill>
              <a:srgbClr val="C9D3DF"/>
            </a:solidFill>
            <a:prstDash val="solid"/>
          </a:ln>
        </p:spPr>
      </p:sp>
      <p:sp>
        <p:nvSpPr>
          <p:cNvPr id="80" name="bang87_t5_0"/>
          <p:cNvSpPr txBox="1"/>
          <p:nvPr/>
        </p:nvSpPr>
        <p:spPr>
          <a:xfrm>
            <a:off x="512064" y="3842004"/>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LK17 (*)</a:t>
            </a:r>
            <a:endParaRPr lang="en-US" sz="1300" dirty="0"/>
          </a:p>
        </p:txBody>
      </p:sp>
      <p:sp>
        <p:nvSpPr>
          <p:cNvPr id="81" name="bang87_o5_1"/>
          <p:cNvSpPr/>
          <p:nvPr/>
        </p:nvSpPr>
        <p:spPr>
          <a:xfrm>
            <a:off x="1371600" y="3796284"/>
            <a:ext cx="1828800" cy="713994"/>
          </a:xfrm>
          <a:prstGeom prst="rect">
            <a:avLst/>
          </a:prstGeom>
          <a:solidFill>
            <a:srgbClr val="FFFFFF"/>
          </a:solidFill>
          <a:ln w="9525">
            <a:solidFill>
              <a:srgbClr val="C9D3DF"/>
            </a:solidFill>
            <a:prstDash val="solid"/>
          </a:ln>
        </p:spPr>
      </p:sp>
      <p:sp>
        <p:nvSpPr>
          <p:cNvPr id="82" name="bang87_t5_1"/>
          <p:cNvSpPr txBox="1"/>
          <p:nvPr/>
        </p:nvSpPr>
        <p:spPr>
          <a:xfrm>
            <a:off x="142646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Lái</a:t>
            </a:r>
            <a:endParaRPr lang="en-US" sz="1300" dirty="0"/>
          </a:p>
        </p:txBody>
      </p:sp>
      <p:sp>
        <p:nvSpPr>
          <p:cNvPr id="83" name="bang87_o5_2"/>
          <p:cNvSpPr/>
          <p:nvPr/>
        </p:nvSpPr>
        <p:spPr>
          <a:xfrm>
            <a:off x="3200400" y="3796284"/>
            <a:ext cx="1965960" cy="713994"/>
          </a:xfrm>
          <a:prstGeom prst="rect">
            <a:avLst/>
          </a:prstGeom>
          <a:solidFill>
            <a:srgbClr val="FFFFFF"/>
          </a:solidFill>
          <a:ln w="9525">
            <a:solidFill>
              <a:srgbClr val="C9D3DF"/>
            </a:solidFill>
            <a:prstDash val="solid"/>
          </a:ln>
        </p:spPr>
      </p:sp>
      <p:sp>
        <p:nvSpPr>
          <p:cNvPr id="84" name="bang87_t5_2"/>
          <p:cNvSpPr txBox="1"/>
          <p:nvPr/>
        </p:nvSpPr>
        <p:spPr>
          <a:xfrm>
            <a:off x="3255264" y="3842004"/>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85" name="bang87_o5_3"/>
          <p:cNvSpPr/>
          <p:nvPr/>
        </p:nvSpPr>
        <p:spPr>
          <a:xfrm>
            <a:off x="5166360" y="3796284"/>
            <a:ext cx="2148840" cy="713994"/>
          </a:xfrm>
          <a:prstGeom prst="rect">
            <a:avLst/>
          </a:prstGeom>
          <a:solidFill>
            <a:srgbClr val="FFFFFF"/>
          </a:solidFill>
          <a:ln w="9525">
            <a:solidFill>
              <a:srgbClr val="C9D3DF"/>
            </a:solidFill>
            <a:prstDash val="solid"/>
          </a:ln>
        </p:spPr>
      </p:sp>
      <p:sp>
        <p:nvSpPr>
          <p:cNvPr id="86" name="bang87_t5_3"/>
          <p:cNvSpPr txBox="1"/>
          <p:nvPr/>
        </p:nvSpPr>
        <p:spPr>
          <a:xfrm>
            <a:off x="5221224" y="3842004"/>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87" name="bang87_o5_4"/>
          <p:cNvSpPr/>
          <p:nvPr/>
        </p:nvSpPr>
        <p:spPr>
          <a:xfrm>
            <a:off x="7315200" y="3796284"/>
            <a:ext cx="960120" cy="713994"/>
          </a:xfrm>
          <a:prstGeom prst="rect">
            <a:avLst/>
          </a:prstGeom>
          <a:solidFill>
            <a:srgbClr val="FFFFFF"/>
          </a:solidFill>
          <a:ln w="9525">
            <a:solidFill>
              <a:srgbClr val="C9D3DF"/>
            </a:solidFill>
            <a:prstDash val="solid"/>
          </a:ln>
        </p:spPr>
      </p:sp>
      <p:sp>
        <p:nvSpPr>
          <p:cNvPr id="88" name="bang87_t5_4"/>
          <p:cNvSpPr txBox="1"/>
          <p:nvPr/>
        </p:nvSpPr>
        <p:spPr>
          <a:xfrm>
            <a:off x="737006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89" name="bang87_o5_5"/>
          <p:cNvSpPr/>
          <p:nvPr/>
        </p:nvSpPr>
        <p:spPr>
          <a:xfrm>
            <a:off x="8275320" y="3796284"/>
            <a:ext cx="960120" cy="713994"/>
          </a:xfrm>
          <a:prstGeom prst="rect">
            <a:avLst/>
          </a:prstGeom>
          <a:solidFill>
            <a:srgbClr val="FFFFFF"/>
          </a:solidFill>
          <a:ln w="9525">
            <a:solidFill>
              <a:srgbClr val="C9D3DF"/>
            </a:solidFill>
            <a:prstDash val="solid"/>
          </a:ln>
        </p:spPr>
      </p:sp>
      <p:sp>
        <p:nvSpPr>
          <p:cNvPr id="90" name="bang87_t5_5"/>
          <p:cNvSpPr txBox="1"/>
          <p:nvPr/>
        </p:nvSpPr>
        <p:spPr>
          <a:xfrm>
            <a:off x="833018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2..4</a:t>
            </a:r>
            <a:endParaRPr lang="en-US" sz="1300" dirty="0"/>
          </a:p>
        </p:txBody>
      </p:sp>
      <p:sp>
        <p:nvSpPr>
          <p:cNvPr id="91" name="bang87_o5_6"/>
          <p:cNvSpPr/>
          <p:nvPr/>
        </p:nvSpPr>
        <p:spPr>
          <a:xfrm>
            <a:off x="9235440" y="3796284"/>
            <a:ext cx="1828800" cy="713994"/>
          </a:xfrm>
          <a:prstGeom prst="rect">
            <a:avLst/>
          </a:prstGeom>
          <a:solidFill>
            <a:srgbClr val="FFFFFF"/>
          </a:solidFill>
          <a:ln w="9525">
            <a:solidFill>
              <a:srgbClr val="C9D3DF"/>
            </a:solidFill>
            <a:prstDash val="solid"/>
          </a:ln>
        </p:spPr>
      </p:sp>
      <p:sp>
        <p:nvSpPr>
          <p:cNvPr id="92" name="bang87_t5_6"/>
          <p:cNvSpPr txBox="1"/>
          <p:nvPr/>
        </p:nvSpPr>
        <p:spPr>
          <a:xfrm>
            <a:off x="929030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PHAN_CONG_LAI: VaiTro, GioBayThucTe</a:t>
            </a:r>
            <a:endParaRPr lang="en-US" sz="1300" dirty="0"/>
          </a:p>
        </p:txBody>
      </p:sp>
      <p:sp>
        <p:nvSpPr>
          <p:cNvPr id="93" name="bang87_o5_7"/>
          <p:cNvSpPr/>
          <p:nvPr/>
        </p:nvSpPr>
        <p:spPr>
          <a:xfrm>
            <a:off x="11064240" y="3796284"/>
            <a:ext cx="667512" cy="713994"/>
          </a:xfrm>
          <a:prstGeom prst="rect">
            <a:avLst/>
          </a:prstGeom>
          <a:solidFill>
            <a:srgbClr val="FFFFFF"/>
          </a:solidFill>
          <a:ln w="9525">
            <a:solidFill>
              <a:srgbClr val="C9D3DF"/>
            </a:solidFill>
            <a:prstDash val="solid"/>
          </a:ln>
        </p:spPr>
      </p:sp>
      <p:sp>
        <p:nvSpPr>
          <p:cNvPr id="94" name="bang87_t5_7"/>
          <p:cNvSpPr txBox="1"/>
          <p:nvPr/>
        </p:nvSpPr>
        <p:spPr>
          <a:xfrm>
            <a:off x="11119104" y="3842004"/>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QT22</a:t>
            </a:r>
            <a:endParaRPr lang="en-US" sz="1300" dirty="0"/>
          </a:p>
        </p:txBody>
      </p:sp>
      <p:sp>
        <p:nvSpPr>
          <p:cNvPr id="95" name="bang87_o6_0"/>
          <p:cNvSpPr/>
          <p:nvPr/>
        </p:nvSpPr>
        <p:spPr>
          <a:xfrm>
            <a:off x="457200" y="4510278"/>
            <a:ext cx="914400" cy="512572"/>
          </a:xfrm>
          <a:prstGeom prst="rect">
            <a:avLst/>
          </a:prstGeom>
          <a:solidFill>
            <a:srgbClr val="F7F0E1"/>
          </a:solidFill>
          <a:ln w="9525">
            <a:solidFill>
              <a:srgbClr val="C9D3DF"/>
            </a:solidFill>
            <a:prstDash val="solid"/>
          </a:ln>
        </p:spPr>
      </p:sp>
      <p:sp>
        <p:nvSpPr>
          <p:cNvPr id="96" name="bang87_t6_0"/>
          <p:cNvSpPr txBox="1"/>
          <p:nvPr/>
        </p:nvSpPr>
        <p:spPr>
          <a:xfrm>
            <a:off x="512064" y="4555998"/>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LK18 (*)</a:t>
            </a:r>
            <a:endParaRPr lang="en-US" sz="1300" dirty="0"/>
          </a:p>
        </p:txBody>
      </p:sp>
      <p:sp>
        <p:nvSpPr>
          <p:cNvPr id="97" name="bang87_o6_1"/>
          <p:cNvSpPr/>
          <p:nvPr/>
        </p:nvSpPr>
        <p:spPr>
          <a:xfrm>
            <a:off x="1371600" y="4510278"/>
            <a:ext cx="1828800" cy="512572"/>
          </a:xfrm>
          <a:prstGeom prst="rect">
            <a:avLst/>
          </a:prstGeom>
          <a:solidFill>
            <a:srgbClr val="F7F0E1"/>
          </a:solidFill>
          <a:ln w="9525">
            <a:solidFill>
              <a:srgbClr val="C9D3DF"/>
            </a:solidFill>
            <a:prstDash val="solid"/>
          </a:ln>
        </p:spPr>
      </p:sp>
      <p:sp>
        <p:nvSpPr>
          <p:cNvPr id="98" name="bang87_t6_1"/>
          <p:cNvSpPr txBox="1"/>
          <p:nvPr/>
        </p:nvSpPr>
        <p:spPr>
          <a:xfrm>
            <a:off x="142646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Phục vụ</a:t>
            </a:r>
            <a:endParaRPr lang="en-US" sz="1300" dirty="0"/>
          </a:p>
        </p:txBody>
      </p:sp>
      <p:sp>
        <p:nvSpPr>
          <p:cNvPr id="99" name="bang87_o6_2"/>
          <p:cNvSpPr/>
          <p:nvPr/>
        </p:nvSpPr>
        <p:spPr>
          <a:xfrm>
            <a:off x="3200400" y="4510278"/>
            <a:ext cx="1965960" cy="512572"/>
          </a:xfrm>
          <a:prstGeom prst="rect">
            <a:avLst/>
          </a:prstGeom>
          <a:solidFill>
            <a:srgbClr val="F7F0E1"/>
          </a:solidFill>
          <a:ln w="9525">
            <a:solidFill>
              <a:srgbClr val="C9D3DF"/>
            </a:solidFill>
            <a:prstDash val="solid"/>
          </a:ln>
        </p:spPr>
      </p:sp>
      <p:sp>
        <p:nvSpPr>
          <p:cNvPr id="100" name="bang87_t6_2"/>
          <p:cNvSpPr txBox="1"/>
          <p:nvPr/>
        </p:nvSpPr>
        <p:spPr>
          <a:xfrm>
            <a:off x="3255264" y="4555998"/>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TIEP_VIEN</a:t>
            </a:r>
            <a:endParaRPr lang="en-US" sz="1300" dirty="0"/>
          </a:p>
        </p:txBody>
      </p:sp>
      <p:sp>
        <p:nvSpPr>
          <p:cNvPr id="101" name="bang87_o6_3"/>
          <p:cNvSpPr/>
          <p:nvPr/>
        </p:nvSpPr>
        <p:spPr>
          <a:xfrm>
            <a:off x="5166360" y="4510278"/>
            <a:ext cx="2148840" cy="512572"/>
          </a:xfrm>
          <a:prstGeom prst="rect">
            <a:avLst/>
          </a:prstGeom>
          <a:solidFill>
            <a:srgbClr val="F7F0E1"/>
          </a:solidFill>
          <a:ln w="9525">
            <a:solidFill>
              <a:srgbClr val="C9D3DF"/>
            </a:solidFill>
            <a:prstDash val="solid"/>
          </a:ln>
        </p:spPr>
      </p:sp>
      <p:sp>
        <p:nvSpPr>
          <p:cNvPr id="102" name="bang87_t6_3"/>
          <p:cNvSpPr txBox="1"/>
          <p:nvPr/>
        </p:nvSpPr>
        <p:spPr>
          <a:xfrm>
            <a:off x="5221224" y="4555998"/>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103" name="bang87_o6_4"/>
          <p:cNvSpPr/>
          <p:nvPr/>
        </p:nvSpPr>
        <p:spPr>
          <a:xfrm>
            <a:off x="7315200" y="4510278"/>
            <a:ext cx="960120" cy="512572"/>
          </a:xfrm>
          <a:prstGeom prst="rect">
            <a:avLst/>
          </a:prstGeom>
          <a:solidFill>
            <a:srgbClr val="F7F0E1"/>
          </a:solidFill>
          <a:ln w="9525">
            <a:solidFill>
              <a:srgbClr val="C9D3DF"/>
            </a:solidFill>
            <a:prstDash val="solid"/>
          </a:ln>
        </p:spPr>
      </p:sp>
      <p:sp>
        <p:nvSpPr>
          <p:cNvPr id="104" name="bang87_t6_4"/>
          <p:cNvSpPr txBox="1"/>
          <p:nvPr/>
        </p:nvSpPr>
        <p:spPr>
          <a:xfrm>
            <a:off x="737006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105" name="bang87_o6_5"/>
          <p:cNvSpPr/>
          <p:nvPr/>
        </p:nvSpPr>
        <p:spPr>
          <a:xfrm>
            <a:off x="8275320" y="4510278"/>
            <a:ext cx="960120" cy="512572"/>
          </a:xfrm>
          <a:prstGeom prst="rect">
            <a:avLst/>
          </a:prstGeom>
          <a:solidFill>
            <a:srgbClr val="F7F0E1"/>
          </a:solidFill>
          <a:ln w="9525">
            <a:solidFill>
              <a:srgbClr val="C9D3DF"/>
            </a:solidFill>
            <a:prstDash val="solid"/>
          </a:ln>
        </p:spPr>
      </p:sp>
      <p:sp>
        <p:nvSpPr>
          <p:cNvPr id="106" name="bang87_t6_5"/>
          <p:cNvSpPr txBox="1"/>
          <p:nvPr/>
        </p:nvSpPr>
        <p:spPr>
          <a:xfrm>
            <a:off x="833018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a:t>
            </a:r>
            <a:endParaRPr lang="en-US" sz="1300" dirty="0"/>
          </a:p>
        </p:txBody>
      </p:sp>
      <p:sp>
        <p:nvSpPr>
          <p:cNvPr id="107" name="bang87_o6_6"/>
          <p:cNvSpPr/>
          <p:nvPr/>
        </p:nvSpPr>
        <p:spPr>
          <a:xfrm>
            <a:off x="9235440" y="4510278"/>
            <a:ext cx="1828800" cy="512572"/>
          </a:xfrm>
          <a:prstGeom prst="rect">
            <a:avLst/>
          </a:prstGeom>
          <a:solidFill>
            <a:srgbClr val="F7F0E1"/>
          </a:solidFill>
          <a:ln w="9525">
            <a:solidFill>
              <a:srgbClr val="C9D3DF"/>
            </a:solidFill>
            <a:prstDash val="solid"/>
          </a:ln>
        </p:spPr>
      </p:sp>
      <p:sp>
        <p:nvSpPr>
          <p:cNvPr id="108" name="bang87_t6_6"/>
          <p:cNvSpPr txBox="1"/>
          <p:nvPr/>
        </p:nvSpPr>
        <p:spPr>
          <a:xfrm>
            <a:off x="929030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PHAN_CONG_PV: VaiTro, KhoangPhucVu</a:t>
            </a:r>
            <a:endParaRPr lang="en-US" sz="1300" dirty="0"/>
          </a:p>
        </p:txBody>
      </p:sp>
      <p:sp>
        <p:nvSpPr>
          <p:cNvPr id="109" name="bang87_o6_7"/>
          <p:cNvSpPr/>
          <p:nvPr/>
        </p:nvSpPr>
        <p:spPr>
          <a:xfrm>
            <a:off x="11064240" y="4510278"/>
            <a:ext cx="667512" cy="512572"/>
          </a:xfrm>
          <a:prstGeom prst="rect">
            <a:avLst/>
          </a:prstGeom>
          <a:solidFill>
            <a:srgbClr val="F7F0E1"/>
          </a:solidFill>
          <a:ln w="9525">
            <a:solidFill>
              <a:srgbClr val="C9D3DF"/>
            </a:solidFill>
            <a:prstDash val="solid"/>
          </a:ln>
        </p:spPr>
      </p:sp>
      <p:sp>
        <p:nvSpPr>
          <p:cNvPr id="110" name="bang87_t6_7"/>
          <p:cNvSpPr txBox="1"/>
          <p:nvPr/>
        </p:nvSpPr>
        <p:spPr>
          <a:xfrm>
            <a:off x="11119104" y="4555998"/>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QT23</a:t>
            </a:r>
            <a:endParaRPr lang="en-US" sz="1300" dirty="0"/>
          </a:p>
        </p:txBody>
      </p:sp>
      <p:sp>
        <p:nvSpPr>
          <p:cNvPr id="111" name="txt8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89"/>
          <p:cNvSpPr txBox="1"/>
          <p:nvPr/>
        </p:nvSpPr>
        <p:spPr>
          <a:xfrm>
            <a:off x="457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PHONG_BAN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DiaDiem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MaTruongPhong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MaTruongPhong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SoCCCD</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Ho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NgayVaoLam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LuongCoBan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MaNguoiQuanLy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MaPB → PHONG_BAN(MaPB)</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MaNguoiQuanLy → NHAN_VIEN(MaNV), NULL</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SDT_NHAN_VIEN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PHI_CONG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SoGioBay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CapBac</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TIEP_VIEN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ChucDanh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p:txBody>
      </p:sp>
      <p:sp>
        <p:nvSpPr>
          <p:cNvPr id="4" name="txt90"/>
          <p:cNvSpPr txBox="1"/>
          <p:nvPr/>
        </p:nvSpPr>
        <p:spPr>
          <a:xfrm>
            <a:off x="6172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NGOAI_NGU_TV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NgoaiNgu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GIAY_PHEP_BAY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SoGiayPhep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NgayHetHan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PHAN_CONG_LAI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GioBayThucTe</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PHAN_CONG_PV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KhoangPhucVu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p:txBody>
      </p:sp>
      <p:sp>
        <p:nvSpPr>
          <p:cNvPr id="5" name="txt9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E. Hành lý và dịch vụ bổ sung</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9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9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hành lý ký gửi của từng vé (số thẻ, trọng lượng, kích thước, phí quá cước) và danh mục dịch vụ bổ sung như suất ăn, chọn chỗ trước, hành lý trả trước. Mỗi lần khách mua dịch vụ cho một vé tạo một chi tiết dịch vụ.</a:t>
            </a:r>
            <a:endParaRPr lang="en-US" sz="1300" dirty="0"/>
          </a:p>
        </p:txBody>
      </p:sp>
      <p:sp>
        <p:nvSpPr>
          <p:cNvPr id="6" name="txt9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9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HANH_LY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DICH_VU_BO_SUNG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CHI_TIET_DICH_VU</a:t>
            </a:r>
            <a:endParaRPr lang="en-US" sz="1200" dirty="0"/>
          </a:p>
        </p:txBody>
      </p:sp>
      <p:sp>
        <p:nvSpPr>
          <p:cNvPr id="8" name="bang96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96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96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96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96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96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QT24</a:t>
            </a:r>
            <a:endParaRPr lang="en-US" sz="1350" dirty="0"/>
          </a:p>
        </p:txBody>
      </p:sp>
      <p:sp>
        <p:nvSpPr>
          <p:cNvPr id="14" name="bang96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96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có 0 hoặc nhiều kiện hành lý ký gửi; mỗi kiện thuộc đúng 1 vé và có số thẻ hành lý không trùng.</a:t>
            </a:r>
            <a:endParaRPr lang="en-US" sz="1350" dirty="0"/>
          </a:p>
        </p:txBody>
      </p:sp>
      <p:sp>
        <p:nvSpPr>
          <p:cNvPr id="16" name="bang96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96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QT25</a:t>
            </a:r>
            <a:endParaRPr lang="en-US" sz="1350" dirty="0"/>
          </a:p>
        </p:txBody>
      </p:sp>
      <p:sp>
        <p:nvSpPr>
          <p:cNvPr id="18" name="bang96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96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Kiện hành lý vượt tiêu chuẩn của hạng vé phải trả phí quá cước; kiện trong tiêu chuẩn thì phí quá cước để trống.</a:t>
            </a:r>
            <a:endParaRPr lang="en-US" sz="1350" dirty="0"/>
          </a:p>
        </p:txBody>
      </p:sp>
      <p:sp>
        <p:nvSpPr>
          <p:cNvPr id="20" name="bang96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96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QT26</a:t>
            </a:r>
            <a:endParaRPr lang="en-US" sz="1350" dirty="0"/>
          </a:p>
        </p:txBody>
      </p:sp>
      <p:sp>
        <p:nvSpPr>
          <p:cNvPr id="22" name="bang96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96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đăng ký 0 hoặc nhiều chi tiết dịch vụ (suất ăn, chọn chỗ trước, hành lý trả trước...); mỗi chi tiết thuộc đúng 1 vé.</a:t>
            </a:r>
            <a:endParaRPr lang="en-US" sz="1350" dirty="0"/>
          </a:p>
        </p:txBody>
      </p:sp>
      <p:sp>
        <p:nvSpPr>
          <p:cNvPr id="24" name="bang96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96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QT27</a:t>
            </a:r>
            <a:endParaRPr lang="en-US" sz="1350" dirty="0"/>
          </a:p>
        </p:txBody>
      </p:sp>
      <p:sp>
        <p:nvSpPr>
          <p:cNvPr id="26" name="bang96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96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ứng với đúng 1 dịch vụ bổ sung; mỗi dịch vụ có 0 hoặc nhiều chi tiết. Đơn giá áp dụng lưu tại lúc mua; thành tiền bằng số lượng nhân đơn giá áp dụng.</a:t>
            </a:r>
            <a:endParaRPr lang="en-US" sz="1350" dirty="0"/>
          </a:p>
        </p:txBody>
      </p:sp>
      <p:sp>
        <p:nvSpPr>
          <p:cNvPr id="28" name="bang96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96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QT28</a:t>
            </a:r>
            <a:endParaRPr lang="en-US" sz="1350" dirty="0"/>
          </a:p>
        </p:txBody>
      </p:sp>
      <p:sp>
        <p:nvSpPr>
          <p:cNvPr id="30" name="bang96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96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được tính vào 0 hoặc 1 hóa đơn (chưa thanh toán thì chưa có); mỗi hóa đơn có 0 hoặc nhiều chi tiết dịch vụ.</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E</a:t>
            </a:r>
            <a:endParaRPr lang="en-US" sz="2600" dirty="0"/>
          </a:p>
        </p:txBody>
      </p:sp>
      <p:pic>
        <p:nvPicPr>
          <p:cNvPr id="3" name="erd_E" descr="erd_E">    </p:cNvPr>
          <p:cNvPicPr>
            <a:picLocks noChangeAspect="1"/>
          </p:cNvPicPr>
          <p:nvPr/>
        </p:nvPicPr>
        <p:blipFill>
          <a:blip r:embed="rId1"/>
          <a:stretch>
            <a:fillRect/>
          </a:stretch>
        </p:blipFill>
        <p:spPr>
          <a:xfrm>
            <a:off x="2151313" y="1389888"/>
            <a:ext cx="7889069"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9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9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9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9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9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9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9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9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9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9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9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9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9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9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9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9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97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97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LK19 (*)</a:t>
            </a:r>
            <a:endParaRPr lang="en-US" sz="1300" dirty="0"/>
          </a:p>
        </p:txBody>
      </p:sp>
      <p:sp>
        <p:nvSpPr>
          <p:cNvPr id="21" name="bang97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97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Ký gửi theo</a:t>
            </a:r>
            <a:endParaRPr lang="en-US" sz="1300" dirty="0"/>
          </a:p>
        </p:txBody>
      </p:sp>
      <p:sp>
        <p:nvSpPr>
          <p:cNvPr id="23" name="bang97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97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25" name="bang97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97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HANH_LY</a:t>
            </a:r>
            <a:endParaRPr lang="en-US" sz="1300" dirty="0"/>
          </a:p>
        </p:txBody>
      </p:sp>
      <p:sp>
        <p:nvSpPr>
          <p:cNvPr id="27" name="bang97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97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97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97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97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97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97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QT24</a:t>
            </a:r>
            <a:endParaRPr lang="en-US" sz="1300" dirty="0"/>
          </a:p>
        </p:txBody>
      </p:sp>
      <p:sp>
        <p:nvSpPr>
          <p:cNvPr id="34" name="bang97_o2_0"/>
          <p:cNvSpPr/>
          <p:nvPr/>
        </p:nvSpPr>
        <p:spPr>
          <a:xfrm>
            <a:off x="457200" y="2661412"/>
            <a:ext cx="914400" cy="512572"/>
          </a:xfrm>
          <a:prstGeom prst="rect">
            <a:avLst/>
          </a:prstGeom>
          <a:solidFill>
            <a:srgbClr val="F7F0E1"/>
          </a:solidFill>
          <a:ln w="9525">
            <a:solidFill>
              <a:srgbClr val="C9D3DF"/>
            </a:solidFill>
            <a:prstDash val="solid"/>
          </a:ln>
        </p:spPr>
      </p:sp>
      <p:sp>
        <p:nvSpPr>
          <p:cNvPr id="35" name="bang97_t2_0"/>
          <p:cNvSpPr txBox="1"/>
          <p:nvPr/>
        </p:nvSpPr>
        <p:spPr>
          <a:xfrm>
            <a:off x="512064" y="27071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LK20 (*)</a:t>
            </a:r>
            <a:endParaRPr lang="en-US" sz="1300" dirty="0"/>
          </a:p>
        </p:txBody>
      </p:sp>
      <p:sp>
        <p:nvSpPr>
          <p:cNvPr id="36" name="bang97_o2_1"/>
          <p:cNvSpPr/>
          <p:nvPr/>
        </p:nvSpPr>
        <p:spPr>
          <a:xfrm>
            <a:off x="1371600" y="2661412"/>
            <a:ext cx="1828800" cy="512572"/>
          </a:xfrm>
          <a:prstGeom prst="rect">
            <a:avLst/>
          </a:prstGeom>
          <a:solidFill>
            <a:srgbClr val="F7F0E1"/>
          </a:solidFill>
          <a:ln w="9525">
            <a:solidFill>
              <a:srgbClr val="C9D3DF"/>
            </a:solidFill>
            <a:prstDash val="solid"/>
          </a:ln>
        </p:spPr>
      </p:sp>
      <p:sp>
        <p:nvSpPr>
          <p:cNvPr id="37" name="bang97_t2_1"/>
          <p:cNvSpPr txBox="1"/>
          <p:nvPr/>
        </p:nvSpPr>
        <p:spPr>
          <a:xfrm>
            <a:off x="1426464" y="27071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Đăng ký</a:t>
            </a:r>
            <a:endParaRPr lang="en-US" sz="1300" dirty="0"/>
          </a:p>
        </p:txBody>
      </p:sp>
      <p:sp>
        <p:nvSpPr>
          <p:cNvPr id="38" name="bang97_o2_2"/>
          <p:cNvSpPr/>
          <p:nvPr/>
        </p:nvSpPr>
        <p:spPr>
          <a:xfrm>
            <a:off x="3200400" y="2661412"/>
            <a:ext cx="1965960" cy="512572"/>
          </a:xfrm>
          <a:prstGeom prst="rect">
            <a:avLst/>
          </a:prstGeom>
          <a:solidFill>
            <a:srgbClr val="F7F0E1"/>
          </a:solidFill>
          <a:ln w="9525">
            <a:solidFill>
              <a:srgbClr val="C9D3DF"/>
            </a:solidFill>
            <a:prstDash val="solid"/>
          </a:ln>
        </p:spPr>
      </p:sp>
      <p:sp>
        <p:nvSpPr>
          <p:cNvPr id="39" name="bang97_t2_2"/>
          <p:cNvSpPr txBox="1"/>
          <p:nvPr/>
        </p:nvSpPr>
        <p:spPr>
          <a:xfrm>
            <a:off x="3255264" y="27071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0" name="bang97_o2_3"/>
          <p:cNvSpPr/>
          <p:nvPr/>
        </p:nvSpPr>
        <p:spPr>
          <a:xfrm>
            <a:off x="5166360" y="2661412"/>
            <a:ext cx="2148840" cy="512572"/>
          </a:xfrm>
          <a:prstGeom prst="rect">
            <a:avLst/>
          </a:prstGeom>
          <a:solidFill>
            <a:srgbClr val="F7F0E1"/>
          </a:solidFill>
          <a:ln w="9525">
            <a:solidFill>
              <a:srgbClr val="C9D3DF"/>
            </a:solidFill>
            <a:prstDash val="solid"/>
          </a:ln>
        </p:spPr>
      </p:sp>
      <p:sp>
        <p:nvSpPr>
          <p:cNvPr id="41" name="bang97_t2_3"/>
          <p:cNvSpPr txBox="1"/>
          <p:nvPr/>
        </p:nvSpPr>
        <p:spPr>
          <a:xfrm>
            <a:off x="5221224" y="27071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42" name="bang97_o2_4"/>
          <p:cNvSpPr/>
          <p:nvPr/>
        </p:nvSpPr>
        <p:spPr>
          <a:xfrm>
            <a:off x="7315200" y="2661412"/>
            <a:ext cx="960120" cy="512572"/>
          </a:xfrm>
          <a:prstGeom prst="rect">
            <a:avLst/>
          </a:prstGeom>
          <a:solidFill>
            <a:srgbClr val="F7F0E1"/>
          </a:solidFill>
          <a:ln w="9525">
            <a:solidFill>
              <a:srgbClr val="C9D3DF"/>
            </a:solidFill>
            <a:prstDash val="solid"/>
          </a:ln>
        </p:spPr>
      </p:sp>
      <p:sp>
        <p:nvSpPr>
          <p:cNvPr id="43" name="bang97_t2_4"/>
          <p:cNvSpPr txBox="1"/>
          <p:nvPr/>
        </p:nvSpPr>
        <p:spPr>
          <a:xfrm>
            <a:off x="737006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97_o2_5"/>
          <p:cNvSpPr/>
          <p:nvPr/>
        </p:nvSpPr>
        <p:spPr>
          <a:xfrm>
            <a:off x="8275320" y="2661412"/>
            <a:ext cx="960120" cy="512572"/>
          </a:xfrm>
          <a:prstGeom prst="rect">
            <a:avLst/>
          </a:prstGeom>
          <a:solidFill>
            <a:srgbClr val="F7F0E1"/>
          </a:solidFill>
          <a:ln w="9525">
            <a:solidFill>
              <a:srgbClr val="C9D3DF"/>
            </a:solidFill>
            <a:prstDash val="solid"/>
          </a:ln>
        </p:spPr>
      </p:sp>
      <p:sp>
        <p:nvSpPr>
          <p:cNvPr id="45" name="bang97_t2_5"/>
          <p:cNvSpPr txBox="1"/>
          <p:nvPr/>
        </p:nvSpPr>
        <p:spPr>
          <a:xfrm>
            <a:off x="833018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97_o2_6"/>
          <p:cNvSpPr/>
          <p:nvPr/>
        </p:nvSpPr>
        <p:spPr>
          <a:xfrm>
            <a:off x="9235440" y="2661412"/>
            <a:ext cx="1828800" cy="512572"/>
          </a:xfrm>
          <a:prstGeom prst="rect">
            <a:avLst/>
          </a:prstGeom>
          <a:solidFill>
            <a:srgbClr val="F7F0E1"/>
          </a:solidFill>
          <a:ln w="9525">
            <a:solidFill>
              <a:srgbClr val="C9D3DF"/>
            </a:solidFill>
            <a:prstDash val="solid"/>
          </a:ln>
        </p:spPr>
      </p:sp>
      <p:sp>
        <p:nvSpPr>
          <p:cNvPr id="47" name="bang97_o2_7"/>
          <p:cNvSpPr/>
          <p:nvPr/>
        </p:nvSpPr>
        <p:spPr>
          <a:xfrm>
            <a:off x="11064240" y="2661412"/>
            <a:ext cx="667512" cy="512572"/>
          </a:xfrm>
          <a:prstGeom prst="rect">
            <a:avLst/>
          </a:prstGeom>
          <a:solidFill>
            <a:srgbClr val="F7F0E1"/>
          </a:solidFill>
          <a:ln w="9525">
            <a:solidFill>
              <a:srgbClr val="C9D3DF"/>
            </a:solidFill>
            <a:prstDash val="solid"/>
          </a:ln>
        </p:spPr>
      </p:sp>
      <p:sp>
        <p:nvSpPr>
          <p:cNvPr id="48" name="bang97_t2_7"/>
          <p:cNvSpPr txBox="1"/>
          <p:nvPr/>
        </p:nvSpPr>
        <p:spPr>
          <a:xfrm>
            <a:off x="11119104" y="27071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QT26</a:t>
            </a:r>
            <a:endParaRPr lang="en-US" sz="1300" dirty="0"/>
          </a:p>
        </p:txBody>
      </p:sp>
      <p:sp>
        <p:nvSpPr>
          <p:cNvPr id="49" name="bang97_o3_0"/>
          <p:cNvSpPr/>
          <p:nvPr/>
        </p:nvSpPr>
        <p:spPr>
          <a:xfrm>
            <a:off x="457200" y="3173984"/>
            <a:ext cx="914400" cy="311150"/>
          </a:xfrm>
          <a:prstGeom prst="rect">
            <a:avLst/>
          </a:prstGeom>
          <a:solidFill>
            <a:srgbClr val="FFFFFF"/>
          </a:solidFill>
          <a:ln w="9525">
            <a:solidFill>
              <a:srgbClr val="C9D3DF"/>
            </a:solidFill>
            <a:prstDash val="solid"/>
          </a:ln>
        </p:spPr>
      </p:sp>
      <p:sp>
        <p:nvSpPr>
          <p:cNvPr id="50" name="bang97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LK21</a:t>
            </a:r>
            <a:endParaRPr lang="en-US" sz="1300" dirty="0"/>
          </a:p>
        </p:txBody>
      </p:sp>
      <p:sp>
        <p:nvSpPr>
          <p:cNvPr id="51" name="bang97_o3_1"/>
          <p:cNvSpPr/>
          <p:nvPr/>
        </p:nvSpPr>
        <p:spPr>
          <a:xfrm>
            <a:off x="1371600" y="3173984"/>
            <a:ext cx="1828800" cy="311150"/>
          </a:xfrm>
          <a:prstGeom prst="rect">
            <a:avLst/>
          </a:prstGeom>
          <a:solidFill>
            <a:srgbClr val="FFFFFF"/>
          </a:solidFill>
          <a:ln w="9525">
            <a:solidFill>
              <a:srgbClr val="C9D3DF"/>
            </a:solidFill>
            <a:prstDash val="solid"/>
          </a:ln>
        </p:spPr>
      </p:sp>
      <p:sp>
        <p:nvSpPr>
          <p:cNvPr id="52" name="bang97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 dịch vụ</a:t>
            </a:r>
            <a:endParaRPr lang="en-US" sz="1300" dirty="0"/>
          </a:p>
        </p:txBody>
      </p:sp>
      <p:sp>
        <p:nvSpPr>
          <p:cNvPr id="53" name="bang97_o3_2"/>
          <p:cNvSpPr/>
          <p:nvPr/>
        </p:nvSpPr>
        <p:spPr>
          <a:xfrm>
            <a:off x="3200400" y="3173984"/>
            <a:ext cx="1965960" cy="311150"/>
          </a:xfrm>
          <a:prstGeom prst="rect">
            <a:avLst/>
          </a:prstGeom>
          <a:solidFill>
            <a:srgbClr val="FFFFFF"/>
          </a:solidFill>
          <a:ln w="9525">
            <a:solidFill>
              <a:srgbClr val="C9D3DF"/>
            </a:solidFill>
            <a:prstDash val="solid"/>
          </a:ln>
        </p:spPr>
      </p:sp>
      <p:sp>
        <p:nvSpPr>
          <p:cNvPr id="54" name="bang97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DICH_VU_BO_SUNG</a:t>
            </a:r>
            <a:endParaRPr lang="en-US" sz="1300" dirty="0"/>
          </a:p>
        </p:txBody>
      </p:sp>
      <p:sp>
        <p:nvSpPr>
          <p:cNvPr id="55" name="bang97_o3_3"/>
          <p:cNvSpPr/>
          <p:nvPr/>
        </p:nvSpPr>
        <p:spPr>
          <a:xfrm>
            <a:off x="5166360" y="3173984"/>
            <a:ext cx="2148840" cy="311150"/>
          </a:xfrm>
          <a:prstGeom prst="rect">
            <a:avLst/>
          </a:prstGeom>
          <a:solidFill>
            <a:srgbClr val="FFFFFF"/>
          </a:solidFill>
          <a:ln w="9525">
            <a:solidFill>
              <a:srgbClr val="C9D3DF"/>
            </a:solidFill>
            <a:prstDash val="solid"/>
          </a:ln>
        </p:spPr>
      </p:sp>
      <p:sp>
        <p:nvSpPr>
          <p:cNvPr id="56" name="bang97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57" name="bang97_o3_4"/>
          <p:cNvSpPr/>
          <p:nvPr/>
        </p:nvSpPr>
        <p:spPr>
          <a:xfrm>
            <a:off x="7315200" y="3173984"/>
            <a:ext cx="960120" cy="311150"/>
          </a:xfrm>
          <a:prstGeom prst="rect">
            <a:avLst/>
          </a:prstGeom>
          <a:solidFill>
            <a:srgbClr val="FFFFFF"/>
          </a:solidFill>
          <a:ln w="9525">
            <a:solidFill>
              <a:srgbClr val="C9D3DF"/>
            </a:solidFill>
            <a:prstDash val="solid"/>
          </a:ln>
        </p:spPr>
      </p:sp>
      <p:sp>
        <p:nvSpPr>
          <p:cNvPr id="58" name="bang97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97_o3_5"/>
          <p:cNvSpPr/>
          <p:nvPr/>
        </p:nvSpPr>
        <p:spPr>
          <a:xfrm>
            <a:off x="8275320" y="3173984"/>
            <a:ext cx="960120" cy="311150"/>
          </a:xfrm>
          <a:prstGeom prst="rect">
            <a:avLst/>
          </a:prstGeom>
          <a:solidFill>
            <a:srgbClr val="FFFFFF"/>
          </a:solidFill>
          <a:ln w="9525">
            <a:solidFill>
              <a:srgbClr val="C9D3DF"/>
            </a:solidFill>
            <a:prstDash val="solid"/>
          </a:ln>
        </p:spPr>
      </p:sp>
      <p:sp>
        <p:nvSpPr>
          <p:cNvPr id="60" name="bang97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1" name="bang97_o3_6"/>
          <p:cNvSpPr/>
          <p:nvPr/>
        </p:nvSpPr>
        <p:spPr>
          <a:xfrm>
            <a:off x="9235440" y="3173984"/>
            <a:ext cx="1828800" cy="311150"/>
          </a:xfrm>
          <a:prstGeom prst="rect">
            <a:avLst/>
          </a:prstGeom>
          <a:solidFill>
            <a:srgbClr val="FFFFFF"/>
          </a:solidFill>
          <a:ln w="9525">
            <a:solidFill>
              <a:srgbClr val="C9D3DF"/>
            </a:solidFill>
            <a:prstDash val="solid"/>
          </a:ln>
        </p:spPr>
      </p:sp>
      <p:sp>
        <p:nvSpPr>
          <p:cNvPr id="62" name="bang97_o3_7"/>
          <p:cNvSpPr/>
          <p:nvPr/>
        </p:nvSpPr>
        <p:spPr>
          <a:xfrm>
            <a:off x="11064240" y="3173984"/>
            <a:ext cx="667512" cy="311150"/>
          </a:xfrm>
          <a:prstGeom prst="rect">
            <a:avLst/>
          </a:prstGeom>
          <a:solidFill>
            <a:srgbClr val="FFFFFF"/>
          </a:solidFill>
          <a:ln w="9525">
            <a:solidFill>
              <a:srgbClr val="C9D3DF"/>
            </a:solidFill>
            <a:prstDash val="solid"/>
          </a:ln>
        </p:spPr>
      </p:sp>
      <p:sp>
        <p:nvSpPr>
          <p:cNvPr id="63" name="bang97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QT27</a:t>
            </a:r>
            <a:endParaRPr lang="en-US" sz="1300" dirty="0"/>
          </a:p>
        </p:txBody>
      </p:sp>
      <p:sp>
        <p:nvSpPr>
          <p:cNvPr id="64" name="bang97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97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LK22 (*)</a:t>
            </a:r>
            <a:endParaRPr lang="en-US" sz="1300" dirty="0"/>
          </a:p>
        </p:txBody>
      </p:sp>
      <p:sp>
        <p:nvSpPr>
          <p:cNvPr id="66" name="bang97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97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Tính vào</a:t>
            </a:r>
            <a:endParaRPr lang="en-US" sz="1300" dirty="0"/>
          </a:p>
        </p:txBody>
      </p:sp>
      <p:sp>
        <p:nvSpPr>
          <p:cNvPr id="68" name="bang97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97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0" name="bang97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97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72" name="bang97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97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97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97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97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97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97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QT28</a:t>
            </a:r>
            <a:endParaRPr lang="en-US" sz="1300" dirty="0"/>
          </a:p>
        </p:txBody>
      </p:sp>
      <p:sp>
        <p:nvSpPr>
          <p:cNvPr id="79" name="txt9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9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HANH_LY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TrongLuong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Rong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PhiQuaCuoc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DICH_VU_BO_SUNG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DonViTinh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CHI_TIET_DICH_VU</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MaCTDV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DonGiaApDung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MaDV → DICH_VU_BO_SUNG(MaDV)</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 NULL</a:t>
            </a:r>
            <a:endParaRPr lang="en-US" sz="1600" dirty="0"/>
          </a:p>
        </p:txBody>
      </p:sp>
      <p:sp>
        <p:nvSpPr>
          <p:cNvPr id="4" name="txt10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F. Thanh toán và hóa đơn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10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10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hóa đơn điện tử lập cho đặt chỗ, các giao dịch thanh toán bằng thẻ hoặc chuyển khoản, và mã khuyến mãi (giảm theo phần trăm hoặc số tiền, có hạn dùng và số lượt).</a:t>
            </a:r>
            <a:endParaRPr lang="en-US" sz="1300" dirty="0"/>
          </a:p>
        </p:txBody>
      </p:sp>
      <p:sp>
        <p:nvSpPr>
          <p:cNvPr id="6" name="txt10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10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HOA_DON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GIAO_DICH_THANH_TOAN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MA_KHUYEN_MAI</a:t>
            </a:r>
            <a:endParaRPr lang="en-US" sz="1200" dirty="0"/>
          </a:p>
        </p:txBody>
      </p:sp>
      <p:sp>
        <p:nvSpPr>
          <p:cNvPr id="8" name="bang105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105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105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105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105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105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QT29</a:t>
            </a:r>
            <a:endParaRPr lang="en-US" sz="1350" dirty="0"/>
          </a:p>
        </p:txBody>
      </p:sp>
      <p:sp>
        <p:nvSpPr>
          <p:cNvPr id="14" name="bang105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105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có cặp (ký hiệu, số hóa đơn) không trùng; tổng thanh toán bằng tiền trước thuế trừ số tiền giảm rồi cộng thuế VAT.</a:t>
            </a:r>
            <a:endParaRPr lang="en-US" sz="1350" dirty="0"/>
          </a:p>
        </p:txBody>
      </p:sp>
      <p:sp>
        <p:nvSpPr>
          <p:cNvPr id="16" name="bang105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105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QT30</a:t>
            </a:r>
            <a:endParaRPr lang="en-US" sz="1350" dirty="0"/>
          </a:p>
        </p:txBody>
      </p:sp>
      <p:sp>
        <p:nvSpPr>
          <p:cNvPr id="18" name="bang105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105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lập cho đúng 1 đặt chỗ; mỗi đặt chỗ có 0 hoặc nhiều hóa đơn (vé, mua thêm dịch vụ, đổi vé).</a:t>
            </a:r>
            <a:endParaRPr lang="en-US" sz="1350" dirty="0"/>
          </a:p>
        </p:txBody>
      </p:sp>
      <p:sp>
        <p:nvSpPr>
          <p:cNvPr id="20" name="bang105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105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QT31</a:t>
            </a:r>
            <a:endParaRPr lang="en-US" sz="1350" dirty="0"/>
          </a:p>
        </p:txBody>
      </p:sp>
      <p:sp>
        <p:nvSpPr>
          <p:cNvPr id="22" name="bang105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105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được thanh toán qua 0 hoặc nhiều giao dịch (giao dịch lỗi thì thử lại); mỗi giao dịch thuộc đúng 1 hóa đơn, phương thức là thẻ hoặc chuyển khoản.</a:t>
            </a:r>
            <a:endParaRPr lang="en-US" sz="1350" dirty="0"/>
          </a:p>
        </p:txBody>
      </p:sp>
      <p:sp>
        <p:nvSpPr>
          <p:cNvPr id="24" name="bang105_o4_0"/>
          <p:cNvSpPr/>
          <p:nvPr/>
        </p:nvSpPr>
        <p:spPr>
          <a:xfrm>
            <a:off x="4251960" y="3570351"/>
            <a:ext cx="685800" cy="737235"/>
          </a:xfrm>
          <a:prstGeom prst="rect">
            <a:avLst/>
          </a:prstGeom>
          <a:solidFill>
            <a:srgbClr val="F7F0E1"/>
          </a:solidFill>
          <a:ln w="9525">
            <a:solidFill>
              <a:srgbClr val="C9D3DF"/>
            </a:solidFill>
            <a:prstDash val="solid"/>
          </a:ln>
        </p:spPr>
      </p:sp>
      <p:sp>
        <p:nvSpPr>
          <p:cNvPr id="25" name="bang105_t4_0"/>
          <p:cNvSpPr txBox="1"/>
          <p:nvPr/>
        </p:nvSpPr>
        <p:spPr>
          <a:xfrm>
            <a:off x="4306824" y="3616071"/>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QT32</a:t>
            </a:r>
            <a:endParaRPr lang="en-US" sz="1350" dirty="0"/>
          </a:p>
        </p:txBody>
      </p:sp>
      <p:sp>
        <p:nvSpPr>
          <p:cNvPr id="26" name="bang105_o4_1"/>
          <p:cNvSpPr/>
          <p:nvPr/>
        </p:nvSpPr>
        <p:spPr>
          <a:xfrm>
            <a:off x="4937760" y="3570351"/>
            <a:ext cx="6796735" cy="737235"/>
          </a:xfrm>
          <a:prstGeom prst="rect">
            <a:avLst/>
          </a:prstGeom>
          <a:solidFill>
            <a:srgbClr val="F7F0E1"/>
          </a:solidFill>
          <a:ln w="9525">
            <a:solidFill>
              <a:srgbClr val="C9D3DF"/>
            </a:solidFill>
            <a:prstDash val="solid"/>
          </a:ln>
        </p:spPr>
      </p:sp>
      <p:sp>
        <p:nvSpPr>
          <p:cNvPr id="27" name="bang105_t4_1"/>
          <p:cNvSpPr txBox="1"/>
          <p:nvPr/>
        </p:nvSpPr>
        <p:spPr>
          <a:xfrm>
            <a:off x="4992624" y="3616071"/>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áp dụng 0 hoặc 1 mã khuyến mãi; mỗi mã dùng cho 0 hoặc nhiều hóa đơn, nhưng không quá số lượt tối đa và chỉ trong thời hạn hiệu lực.</a:t>
            </a:r>
            <a:endParaRPr lang="en-US" sz="1350" dirty="0"/>
          </a:p>
        </p:txBody>
      </p:sp>
      <p:sp>
        <p:nvSpPr>
          <p:cNvPr id="28" name="bang105_o5_0"/>
          <p:cNvSpPr/>
          <p:nvPr/>
        </p:nvSpPr>
        <p:spPr>
          <a:xfrm>
            <a:off x="4251960" y="4307586"/>
            <a:ext cx="685800" cy="528066"/>
          </a:xfrm>
          <a:prstGeom prst="rect">
            <a:avLst/>
          </a:prstGeom>
          <a:solidFill>
            <a:srgbClr val="FFFFFF"/>
          </a:solidFill>
          <a:ln w="9525">
            <a:solidFill>
              <a:srgbClr val="C9D3DF"/>
            </a:solidFill>
            <a:prstDash val="solid"/>
          </a:ln>
        </p:spPr>
      </p:sp>
      <p:sp>
        <p:nvSpPr>
          <p:cNvPr id="29" name="bang105_t5_0"/>
          <p:cNvSpPr txBox="1"/>
          <p:nvPr/>
        </p:nvSpPr>
        <p:spPr>
          <a:xfrm>
            <a:off x="4306824" y="435330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QT33</a:t>
            </a:r>
            <a:endParaRPr lang="en-US" sz="1350" dirty="0"/>
          </a:p>
        </p:txBody>
      </p:sp>
      <p:sp>
        <p:nvSpPr>
          <p:cNvPr id="30" name="bang105_o5_1"/>
          <p:cNvSpPr/>
          <p:nvPr/>
        </p:nvSpPr>
        <p:spPr>
          <a:xfrm>
            <a:off x="4937760" y="4307586"/>
            <a:ext cx="6796735" cy="528066"/>
          </a:xfrm>
          <a:prstGeom prst="rect">
            <a:avLst/>
          </a:prstGeom>
          <a:solidFill>
            <a:srgbClr val="FFFFFF"/>
          </a:solidFill>
          <a:ln w="9525">
            <a:solidFill>
              <a:srgbClr val="C9D3DF"/>
            </a:solidFill>
            <a:prstDash val="solid"/>
          </a:ln>
        </p:spPr>
      </p:sp>
      <p:sp>
        <p:nvSpPr>
          <p:cNvPr id="31" name="bang105_t5_1"/>
          <p:cNvSpPr txBox="1"/>
          <p:nvPr/>
        </p:nvSpPr>
        <p:spPr>
          <a:xfrm>
            <a:off x="4992624" y="435330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do 0 hoặc 1 nhân viên lập (đặt trực tuyến thì hệ thống tự lập); mỗi nhân viên lập 0 hoặc nhiều hóa đơn.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F</a:t>
            </a:r>
            <a:endParaRPr lang="en-US" sz="2600" dirty="0"/>
          </a:p>
        </p:txBody>
      </p:sp>
      <p:pic>
        <p:nvPicPr>
          <p:cNvPr id="3" name="erd_F" descr="erd_F">    </p:cNvPr>
          <p:cNvPicPr>
            <a:picLocks noChangeAspect="1"/>
          </p:cNvPicPr>
          <p:nvPr/>
        </p:nvPicPr>
        <p:blipFill>
          <a:blip r:embed="rId1"/>
          <a:stretch>
            <a:fillRect/>
          </a:stretch>
        </p:blipFill>
        <p:spPr>
          <a:xfrm>
            <a:off x="3416987" y="1389888"/>
            <a:ext cx="5357722"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106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106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106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106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106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106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106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106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106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106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106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106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106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106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106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106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106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106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LK23 (*)</a:t>
            </a:r>
            <a:endParaRPr lang="en-US" sz="1300" dirty="0"/>
          </a:p>
        </p:txBody>
      </p:sp>
      <p:sp>
        <p:nvSpPr>
          <p:cNvPr id="21" name="bang106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106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Lập cho</a:t>
            </a:r>
            <a:endParaRPr lang="en-US" sz="1300" dirty="0"/>
          </a:p>
        </p:txBody>
      </p:sp>
      <p:sp>
        <p:nvSpPr>
          <p:cNvPr id="23" name="bang106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106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5" name="bang106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106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27" name="bang106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106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106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106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106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106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106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QT30</a:t>
            </a:r>
            <a:endParaRPr lang="en-US" sz="1300" dirty="0"/>
          </a:p>
        </p:txBody>
      </p:sp>
      <p:sp>
        <p:nvSpPr>
          <p:cNvPr id="34" name="bang106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106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LK24</a:t>
            </a:r>
            <a:endParaRPr lang="en-US" sz="1300" dirty="0"/>
          </a:p>
        </p:txBody>
      </p:sp>
      <p:sp>
        <p:nvSpPr>
          <p:cNvPr id="36" name="bang106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106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Thanh toán qua</a:t>
            </a:r>
            <a:endParaRPr lang="en-US" sz="1300" dirty="0"/>
          </a:p>
        </p:txBody>
      </p:sp>
      <p:sp>
        <p:nvSpPr>
          <p:cNvPr id="38" name="bang106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106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40" name="bang106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106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GIAO_DICH_THANH_TOAN</a:t>
            </a:r>
            <a:endParaRPr lang="en-US" sz="1300" dirty="0"/>
          </a:p>
        </p:txBody>
      </p:sp>
      <p:sp>
        <p:nvSpPr>
          <p:cNvPr id="42" name="bang106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106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106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106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106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106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106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QT31</a:t>
            </a:r>
            <a:endParaRPr lang="en-US" sz="1300" dirty="0"/>
          </a:p>
        </p:txBody>
      </p:sp>
      <p:sp>
        <p:nvSpPr>
          <p:cNvPr id="49" name="bang106_o3_0"/>
          <p:cNvSpPr/>
          <p:nvPr/>
        </p:nvSpPr>
        <p:spPr>
          <a:xfrm>
            <a:off x="457200" y="2972562"/>
            <a:ext cx="914400" cy="311150"/>
          </a:xfrm>
          <a:prstGeom prst="rect">
            <a:avLst/>
          </a:prstGeom>
          <a:solidFill>
            <a:srgbClr val="FFFFFF"/>
          </a:solidFill>
          <a:ln w="9525">
            <a:solidFill>
              <a:srgbClr val="C9D3DF"/>
            </a:solidFill>
            <a:prstDash val="solid"/>
          </a:ln>
        </p:spPr>
      </p:sp>
      <p:sp>
        <p:nvSpPr>
          <p:cNvPr id="50" name="bang106_t3_0"/>
          <p:cNvSpPr txBox="1"/>
          <p:nvPr/>
        </p:nvSpPr>
        <p:spPr>
          <a:xfrm>
            <a:off x="512064" y="301828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LK25</a:t>
            </a:r>
            <a:endParaRPr lang="en-US" sz="1300" dirty="0"/>
          </a:p>
        </p:txBody>
      </p:sp>
      <p:sp>
        <p:nvSpPr>
          <p:cNvPr id="51" name="bang106_o3_1"/>
          <p:cNvSpPr/>
          <p:nvPr/>
        </p:nvSpPr>
        <p:spPr>
          <a:xfrm>
            <a:off x="1371600" y="2972562"/>
            <a:ext cx="1828800" cy="311150"/>
          </a:xfrm>
          <a:prstGeom prst="rect">
            <a:avLst/>
          </a:prstGeom>
          <a:solidFill>
            <a:srgbClr val="FFFFFF"/>
          </a:solidFill>
          <a:ln w="9525">
            <a:solidFill>
              <a:srgbClr val="C9D3DF"/>
            </a:solidFill>
            <a:prstDash val="solid"/>
          </a:ln>
        </p:spPr>
      </p:sp>
      <p:sp>
        <p:nvSpPr>
          <p:cNvPr id="52" name="bang106_t3_1"/>
          <p:cNvSpPr txBox="1"/>
          <p:nvPr/>
        </p:nvSpPr>
        <p:spPr>
          <a:xfrm>
            <a:off x="1426464" y="301828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Áp dụng</a:t>
            </a:r>
            <a:endParaRPr lang="en-US" sz="1300" dirty="0"/>
          </a:p>
        </p:txBody>
      </p:sp>
      <p:sp>
        <p:nvSpPr>
          <p:cNvPr id="53" name="bang106_o3_2"/>
          <p:cNvSpPr/>
          <p:nvPr/>
        </p:nvSpPr>
        <p:spPr>
          <a:xfrm>
            <a:off x="3200400" y="2972562"/>
            <a:ext cx="1965960" cy="311150"/>
          </a:xfrm>
          <a:prstGeom prst="rect">
            <a:avLst/>
          </a:prstGeom>
          <a:solidFill>
            <a:srgbClr val="FFFFFF"/>
          </a:solidFill>
          <a:ln w="9525">
            <a:solidFill>
              <a:srgbClr val="C9D3DF"/>
            </a:solidFill>
            <a:prstDash val="solid"/>
          </a:ln>
        </p:spPr>
      </p:sp>
      <p:sp>
        <p:nvSpPr>
          <p:cNvPr id="54" name="bang106_t3_2"/>
          <p:cNvSpPr txBox="1"/>
          <p:nvPr/>
        </p:nvSpPr>
        <p:spPr>
          <a:xfrm>
            <a:off x="3255264" y="301828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MA_KHUYEN_MAI</a:t>
            </a:r>
            <a:endParaRPr lang="en-US" sz="1300" dirty="0"/>
          </a:p>
        </p:txBody>
      </p:sp>
      <p:sp>
        <p:nvSpPr>
          <p:cNvPr id="55" name="bang106_o3_3"/>
          <p:cNvSpPr/>
          <p:nvPr/>
        </p:nvSpPr>
        <p:spPr>
          <a:xfrm>
            <a:off x="5166360" y="2972562"/>
            <a:ext cx="2148840" cy="311150"/>
          </a:xfrm>
          <a:prstGeom prst="rect">
            <a:avLst/>
          </a:prstGeom>
          <a:solidFill>
            <a:srgbClr val="FFFFFF"/>
          </a:solidFill>
          <a:ln w="9525">
            <a:solidFill>
              <a:srgbClr val="C9D3DF"/>
            </a:solidFill>
            <a:prstDash val="solid"/>
          </a:ln>
        </p:spPr>
      </p:sp>
      <p:sp>
        <p:nvSpPr>
          <p:cNvPr id="56" name="bang106_t3_3"/>
          <p:cNvSpPr txBox="1"/>
          <p:nvPr/>
        </p:nvSpPr>
        <p:spPr>
          <a:xfrm>
            <a:off x="5221224" y="301828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57" name="bang106_o3_4"/>
          <p:cNvSpPr/>
          <p:nvPr/>
        </p:nvSpPr>
        <p:spPr>
          <a:xfrm>
            <a:off x="7315200" y="2972562"/>
            <a:ext cx="960120" cy="311150"/>
          </a:xfrm>
          <a:prstGeom prst="rect">
            <a:avLst/>
          </a:prstGeom>
          <a:solidFill>
            <a:srgbClr val="FFFFFF"/>
          </a:solidFill>
          <a:ln w="9525">
            <a:solidFill>
              <a:srgbClr val="C9D3DF"/>
            </a:solidFill>
            <a:prstDash val="solid"/>
          </a:ln>
        </p:spPr>
      </p:sp>
      <p:sp>
        <p:nvSpPr>
          <p:cNvPr id="58" name="bang106_t3_4"/>
          <p:cNvSpPr txBox="1"/>
          <p:nvPr/>
        </p:nvSpPr>
        <p:spPr>
          <a:xfrm>
            <a:off x="737006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106_o3_5"/>
          <p:cNvSpPr/>
          <p:nvPr/>
        </p:nvSpPr>
        <p:spPr>
          <a:xfrm>
            <a:off x="8275320" y="2972562"/>
            <a:ext cx="960120" cy="311150"/>
          </a:xfrm>
          <a:prstGeom prst="rect">
            <a:avLst/>
          </a:prstGeom>
          <a:solidFill>
            <a:srgbClr val="FFFFFF"/>
          </a:solidFill>
          <a:ln w="9525">
            <a:solidFill>
              <a:srgbClr val="C9D3DF"/>
            </a:solidFill>
            <a:prstDash val="solid"/>
          </a:ln>
        </p:spPr>
      </p:sp>
      <p:sp>
        <p:nvSpPr>
          <p:cNvPr id="60" name="bang106_t3_5"/>
          <p:cNvSpPr txBox="1"/>
          <p:nvPr/>
        </p:nvSpPr>
        <p:spPr>
          <a:xfrm>
            <a:off x="833018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106_o3_6"/>
          <p:cNvSpPr/>
          <p:nvPr/>
        </p:nvSpPr>
        <p:spPr>
          <a:xfrm>
            <a:off x="9235440" y="2972562"/>
            <a:ext cx="1828800" cy="311150"/>
          </a:xfrm>
          <a:prstGeom prst="rect">
            <a:avLst/>
          </a:prstGeom>
          <a:solidFill>
            <a:srgbClr val="FFFFFF"/>
          </a:solidFill>
          <a:ln w="9525">
            <a:solidFill>
              <a:srgbClr val="C9D3DF"/>
            </a:solidFill>
            <a:prstDash val="solid"/>
          </a:ln>
        </p:spPr>
      </p:sp>
      <p:sp>
        <p:nvSpPr>
          <p:cNvPr id="62" name="bang106_o3_7"/>
          <p:cNvSpPr/>
          <p:nvPr/>
        </p:nvSpPr>
        <p:spPr>
          <a:xfrm>
            <a:off x="11064240" y="2972562"/>
            <a:ext cx="667512" cy="311150"/>
          </a:xfrm>
          <a:prstGeom prst="rect">
            <a:avLst/>
          </a:prstGeom>
          <a:solidFill>
            <a:srgbClr val="FFFFFF"/>
          </a:solidFill>
          <a:ln w="9525">
            <a:solidFill>
              <a:srgbClr val="C9D3DF"/>
            </a:solidFill>
            <a:prstDash val="solid"/>
          </a:ln>
        </p:spPr>
      </p:sp>
      <p:sp>
        <p:nvSpPr>
          <p:cNvPr id="63" name="bang106_t3_7"/>
          <p:cNvSpPr txBox="1"/>
          <p:nvPr/>
        </p:nvSpPr>
        <p:spPr>
          <a:xfrm>
            <a:off x="11119104" y="301828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QT32</a:t>
            </a:r>
            <a:endParaRPr lang="en-US" sz="1300" dirty="0"/>
          </a:p>
        </p:txBody>
      </p:sp>
      <p:sp>
        <p:nvSpPr>
          <p:cNvPr id="64" name="bang106_o4_0"/>
          <p:cNvSpPr/>
          <p:nvPr/>
        </p:nvSpPr>
        <p:spPr>
          <a:xfrm>
            <a:off x="457200" y="3283712"/>
            <a:ext cx="914400" cy="512572"/>
          </a:xfrm>
          <a:prstGeom prst="rect">
            <a:avLst/>
          </a:prstGeom>
          <a:solidFill>
            <a:srgbClr val="F7F0E1"/>
          </a:solidFill>
          <a:ln w="9525">
            <a:solidFill>
              <a:srgbClr val="C9D3DF"/>
            </a:solidFill>
            <a:prstDash val="solid"/>
          </a:ln>
        </p:spPr>
      </p:sp>
      <p:sp>
        <p:nvSpPr>
          <p:cNvPr id="65" name="bang106_t4_0"/>
          <p:cNvSpPr txBox="1"/>
          <p:nvPr/>
        </p:nvSpPr>
        <p:spPr>
          <a:xfrm>
            <a:off x="512064" y="33294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LK26 (*)</a:t>
            </a:r>
            <a:endParaRPr lang="en-US" sz="1300" dirty="0"/>
          </a:p>
        </p:txBody>
      </p:sp>
      <p:sp>
        <p:nvSpPr>
          <p:cNvPr id="66" name="bang106_o4_1"/>
          <p:cNvSpPr/>
          <p:nvPr/>
        </p:nvSpPr>
        <p:spPr>
          <a:xfrm>
            <a:off x="1371600" y="3283712"/>
            <a:ext cx="1828800" cy="512572"/>
          </a:xfrm>
          <a:prstGeom prst="rect">
            <a:avLst/>
          </a:prstGeom>
          <a:solidFill>
            <a:srgbClr val="F7F0E1"/>
          </a:solidFill>
          <a:ln w="9525">
            <a:solidFill>
              <a:srgbClr val="C9D3DF"/>
            </a:solidFill>
            <a:prstDash val="solid"/>
          </a:ln>
        </p:spPr>
      </p:sp>
      <p:sp>
        <p:nvSpPr>
          <p:cNvPr id="67" name="bang106_t4_1"/>
          <p:cNvSpPr txBox="1"/>
          <p:nvPr/>
        </p:nvSpPr>
        <p:spPr>
          <a:xfrm>
            <a:off x="1426464" y="33294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Xuất hóa đơn</a:t>
            </a:r>
            <a:endParaRPr lang="en-US" sz="1300" dirty="0"/>
          </a:p>
        </p:txBody>
      </p:sp>
      <p:sp>
        <p:nvSpPr>
          <p:cNvPr id="68" name="bang106_o4_2"/>
          <p:cNvSpPr/>
          <p:nvPr/>
        </p:nvSpPr>
        <p:spPr>
          <a:xfrm>
            <a:off x="3200400" y="3283712"/>
            <a:ext cx="1965960" cy="512572"/>
          </a:xfrm>
          <a:prstGeom prst="rect">
            <a:avLst/>
          </a:prstGeom>
          <a:solidFill>
            <a:srgbClr val="F7F0E1"/>
          </a:solidFill>
          <a:ln w="9525">
            <a:solidFill>
              <a:srgbClr val="C9D3DF"/>
            </a:solidFill>
            <a:prstDash val="solid"/>
          </a:ln>
        </p:spPr>
      </p:sp>
      <p:sp>
        <p:nvSpPr>
          <p:cNvPr id="69" name="bang106_t4_2"/>
          <p:cNvSpPr txBox="1"/>
          <p:nvPr/>
        </p:nvSpPr>
        <p:spPr>
          <a:xfrm>
            <a:off x="3255264" y="33294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70" name="bang106_o4_3"/>
          <p:cNvSpPr/>
          <p:nvPr/>
        </p:nvSpPr>
        <p:spPr>
          <a:xfrm>
            <a:off x="5166360" y="3283712"/>
            <a:ext cx="2148840" cy="512572"/>
          </a:xfrm>
          <a:prstGeom prst="rect">
            <a:avLst/>
          </a:prstGeom>
          <a:solidFill>
            <a:srgbClr val="F7F0E1"/>
          </a:solidFill>
          <a:ln w="9525">
            <a:solidFill>
              <a:srgbClr val="C9D3DF"/>
            </a:solidFill>
            <a:prstDash val="solid"/>
          </a:ln>
        </p:spPr>
      </p:sp>
      <p:sp>
        <p:nvSpPr>
          <p:cNvPr id="71" name="bang106_t4_3"/>
          <p:cNvSpPr txBox="1"/>
          <p:nvPr/>
        </p:nvSpPr>
        <p:spPr>
          <a:xfrm>
            <a:off x="5221224" y="33294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2" name="bang106_o4_4"/>
          <p:cNvSpPr/>
          <p:nvPr/>
        </p:nvSpPr>
        <p:spPr>
          <a:xfrm>
            <a:off x="7315200" y="3283712"/>
            <a:ext cx="960120" cy="512572"/>
          </a:xfrm>
          <a:prstGeom prst="rect">
            <a:avLst/>
          </a:prstGeom>
          <a:solidFill>
            <a:srgbClr val="F7F0E1"/>
          </a:solidFill>
          <a:ln w="9525">
            <a:solidFill>
              <a:srgbClr val="C9D3DF"/>
            </a:solidFill>
            <a:prstDash val="solid"/>
          </a:ln>
        </p:spPr>
      </p:sp>
      <p:sp>
        <p:nvSpPr>
          <p:cNvPr id="73" name="bang106_t4_4"/>
          <p:cNvSpPr txBox="1"/>
          <p:nvPr/>
        </p:nvSpPr>
        <p:spPr>
          <a:xfrm>
            <a:off x="737006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106_o4_5"/>
          <p:cNvSpPr/>
          <p:nvPr/>
        </p:nvSpPr>
        <p:spPr>
          <a:xfrm>
            <a:off x="8275320" y="3283712"/>
            <a:ext cx="960120" cy="512572"/>
          </a:xfrm>
          <a:prstGeom prst="rect">
            <a:avLst/>
          </a:prstGeom>
          <a:solidFill>
            <a:srgbClr val="F7F0E1"/>
          </a:solidFill>
          <a:ln w="9525">
            <a:solidFill>
              <a:srgbClr val="C9D3DF"/>
            </a:solidFill>
            <a:prstDash val="solid"/>
          </a:ln>
        </p:spPr>
      </p:sp>
      <p:sp>
        <p:nvSpPr>
          <p:cNvPr id="75" name="bang106_t4_5"/>
          <p:cNvSpPr txBox="1"/>
          <p:nvPr/>
        </p:nvSpPr>
        <p:spPr>
          <a:xfrm>
            <a:off x="833018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106_o4_6"/>
          <p:cNvSpPr/>
          <p:nvPr/>
        </p:nvSpPr>
        <p:spPr>
          <a:xfrm>
            <a:off x="9235440" y="3283712"/>
            <a:ext cx="1828800" cy="512572"/>
          </a:xfrm>
          <a:prstGeom prst="rect">
            <a:avLst/>
          </a:prstGeom>
          <a:solidFill>
            <a:srgbClr val="F7F0E1"/>
          </a:solidFill>
          <a:ln w="9525">
            <a:solidFill>
              <a:srgbClr val="C9D3DF"/>
            </a:solidFill>
            <a:prstDash val="solid"/>
          </a:ln>
        </p:spPr>
      </p:sp>
      <p:sp>
        <p:nvSpPr>
          <p:cNvPr id="77" name="bang106_o4_7"/>
          <p:cNvSpPr/>
          <p:nvPr/>
        </p:nvSpPr>
        <p:spPr>
          <a:xfrm>
            <a:off x="11064240" y="3283712"/>
            <a:ext cx="667512" cy="512572"/>
          </a:xfrm>
          <a:prstGeom prst="rect">
            <a:avLst/>
          </a:prstGeom>
          <a:solidFill>
            <a:srgbClr val="F7F0E1"/>
          </a:solidFill>
          <a:ln w="9525">
            <a:solidFill>
              <a:srgbClr val="C9D3DF"/>
            </a:solidFill>
            <a:prstDash val="solid"/>
          </a:ln>
        </p:spPr>
      </p:sp>
      <p:sp>
        <p:nvSpPr>
          <p:cNvPr id="78" name="bang106_t4_7"/>
          <p:cNvSpPr txBox="1"/>
          <p:nvPr/>
        </p:nvSpPr>
        <p:spPr>
          <a:xfrm>
            <a:off x="11119104" y="33294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QT33</a:t>
            </a:r>
            <a:endParaRPr lang="en-US" sz="1300" dirty="0"/>
          </a:p>
        </p:txBody>
      </p:sp>
      <p:sp>
        <p:nvSpPr>
          <p:cNvPr id="79" name="txt107"/>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108"/>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MA_KHUYEN_MAI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KieuGiam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GiaTriGiam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GiamToiDa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NgayBatDau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NgayKetThuc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SoLuotToiDa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HOA_DON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KyHieu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NgayLap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TenNguoiMua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MaSoThue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DiaChiMua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ThueSuatVAT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MaNV</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MaKM → MA_KHUYEN_MAI(MaKM), NULL</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MaNV → NHAN_VIEN(MaNV), NULL</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GIAO_DICH_THANH_TOAN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MaGD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MaThamChieu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PhuongThuc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SoTheCuoi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KetQua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a:t>
            </a:r>
            <a:endParaRPr lang="en-US" sz="1600" dirty="0"/>
          </a:p>
        </p:txBody>
      </p:sp>
      <p:sp>
        <p:nvSpPr>
          <p:cNvPr id="4" name="txt10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(1/2)</a:t>
            </a:r>
            <a:endParaRPr lang="en-US" sz="2600" dirty="0"/>
          </a:p>
        </p:txBody>
      </p:sp>
      <p:sp>
        <p:nvSpPr>
          <p:cNvPr id="3" name="txt110"/>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A. Chuyến bay và lịch trình (Thành)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SAN_BAY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MaICAO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ThanhPho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MuiGio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DUONG_BAY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KhoangCach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ThoiGianBayChuan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NamSanXuat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SoGheThuongGia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SoGhePhoThong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TinhTrang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CHUYEN_BAY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SoHieuCB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GioHaCanhDK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B. Đặt chỗ và vé máy bay (Vy)</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DAT_CHO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NgayGioDat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KenhDat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HanThanhToan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GHE_NGOI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ViTriGhe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LaGheLoiThoat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VE_MAY_BAY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HoTenHK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LoaiHanhKhach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ThueVaPhi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NgayXuatVe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C. Khách hàng và hội viên (Danh)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Email</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QuocTich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THE_HOI_VIEN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DiemXetHang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LICH_SU_TICH_DIEM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LoaiGiaoDich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NoiDung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7"/>
          <p:cNvSpPr/>
          <p:nvPr>
            <p:ph idx="107"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(2/2)</a:t>
            </a:r>
            <a:endParaRPr lang="en-US" sz="2600" dirty="0"/>
          </a:p>
        </p:txBody>
      </p:sp>
      <p:sp>
        <p:nvSpPr>
          <p:cNvPr id="3" name="txt111"/>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D. Nhân sự và phi hành đoàn (Kiên)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PHONG_BAN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MaTruongPhong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SoCCCD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NgayVaoLam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LuongCoBan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MaNguoiQuanLy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PHI_CONG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SoGioBay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CapBac</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TIEP_VIEN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ChucDanh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NGOAI_NGU_TV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NgoaiNgu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GIAY_PHEP_BAY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SoGiayPhep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PHAN_CONG_LAI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GioBayThucTe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PHAN_CONG_PV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KhoangPhucVu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E. Hành lý và dịch vụ bổ sung (Phong (NT))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HANH_LY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TrongLuong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Rong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PhiQuaCuoc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DICH_VU_BO_SUNG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DonViTinh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CHI_TIET_DICH_VU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MaCTDV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DonGiaApDung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F. Thanh toán và hóa đơn (Trọng Nhân)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MA_KHUYEN_MAI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KieuGiam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GiaTriGiam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GiamToiDa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NgayBatDau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NgayKetThuc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SoLuotToiDa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HOA_DON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KyHieu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NgayLap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TenNguoiMua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MaSoThue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DiaChiMua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ThueSuatVAT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GIAO_DICH_THANH_TOAN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MaGD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MaThamChieu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PhuongThuc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SoTheCuoi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KetQua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Học viện Hàng không Việt Nam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lần 1 - Hệ thống quản lý bán vé và đặt chỗ chuyến bay</dc:title>
  <dc:subject>PptxGenJS Presentation</dc:subject>
  <dc:creator>PptxGenJS</dc:creator>
  <cp:lastModifiedBy>PptxGenJS</cp:lastModifiedBy>
  <cp:revision>1</cp:revision>
  <dcterms:created xsi:type="dcterms:W3CDTF">2026-10-09T08:57:29Z</dcterms:created>
  <dcterms:modified xsi:type="dcterms:W3CDTF">2026-10-09T08:57:29Z</dcterms:modified>
</cp:coreProperties>
</file>